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Lst>
  <p:notesMasterIdLst>
    <p:notesMasterId r:id="rId47"/>
  </p:notesMasterIdLst>
  <p:sldIdLst>
    <p:sldId id="256" r:id="rId3"/>
    <p:sldId id="257" r:id="rId4"/>
    <p:sldId id="258" r:id="rId5"/>
    <p:sldId id="259" r:id="rId6"/>
    <p:sldId id="260" r:id="rId7"/>
    <p:sldId id="261" r:id="rId8"/>
    <p:sldId id="262" r:id="rId9"/>
    <p:sldId id="263" r:id="rId10"/>
    <p:sldId id="264" r:id="rId11"/>
    <p:sldId id="265" r:id="rId12"/>
    <p:sldId id="296" r:id="rId13"/>
    <p:sldId id="297" r:id="rId14"/>
    <p:sldId id="266" r:id="rId15"/>
    <p:sldId id="267" r:id="rId16"/>
    <p:sldId id="298"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4" r:id="rId33"/>
    <p:sldId id="283" r:id="rId34"/>
    <p:sldId id="286" r:id="rId35"/>
    <p:sldId id="285" r:id="rId36"/>
    <p:sldId id="287" r:id="rId37"/>
    <p:sldId id="288" r:id="rId38"/>
    <p:sldId id="289" r:id="rId39"/>
    <p:sldId id="290" r:id="rId40"/>
    <p:sldId id="291" r:id="rId41"/>
    <p:sldId id="292" r:id="rId42"/>
    <p:sldId id="293" r:id="rId43"/>
    <p:sldId id="294" r:id="rId44"/>
    <p:sldId id="299" r:id="rId45"/>
    <p:sldId id="295" r:id="rId46"/>
  </p:sldIdLst>
  <p:sldSz cx="12192000" cy="6858000"/>
  <p:notesSz cx="6858000" cy="9144000"/>
  <p:embeddedFontLst>
    <p:embeddedFont>
      <p:font typeface="Calibri" panose="020F0502020204030204" pitchFamily="34" charset="0"/>
      <p:regular r:id="rId48"/>
      <p:bold r:id="rId49"/>
      <p:italic r:id="rId50"/>
      <p:boldItalic r:id="rId51"/>
    </p:embeddedFont>
    <p:embeddedFont>
      <p:font typeface="Play" panose="020B0604020202020204" charset="0"/>
      <p:regular r:id="rId52"/>
      <p:bold r:id="rId5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4" roundtripDataSignature="AMtx7mhV+cGjuxLQVsgszqOAGzTGIUHZt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8BA7591-0128-602D-3198-04BF9E985B8F}" v="24" dt="2024-07-26T21:45:17.481"/>
  </p1510:revLst>
</p1510:revInfo>
</file>

<file path=ppt/tableStyles.xml><?xml version="1.0" encoding="utf-8"?>
<a:tblStyleLst xmlns:a="http://schemas.openxmlformats.org/drawingml/2006/main" def="{267EEA3C-0EC6-4C09-844C-E520B854697A}">
  <a:tblStyle styleId="{267EEA3C-0EC6-4C09-844C-E520B854697A}" styleName="Table_0">
    <a:wholeTbl>
      <a:tcTxStyle b="off" i="off">
        <a:font>
          <a:latin typeface="Aptos"/>
          <a:ea typeface="Aptos"/>
          <a:cs typeface="Aptos"/>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E9EC"/>
          </a:solidFill>
        </a:fill>
      </a:tcStyle>
    </a:wholeTbl>
    <a:band1H>
      <a:tcTxStyle/>
      <a:tcStyle>
        <a:tcBdr/>
        <a:fill>
          <a:solidFill>
            <a:srgbClr val="CAD1D8"/>
          </a:solidFill>
        </a:fill>
      </a:tcStyle>
    </a:band1H>
    <a:band2H>
      <a:tcTxStyle/>
      <a:tcStyle>
        <a:tcBdr/>
      </a:tcStyle>
    </a:band2H>
    <a:band1V>
      <a:tcTxStyle/>
      <a:tcStyle>
        <a:tcBdr/>
        <a:fill>
          <a:solidFill>
            <a:srgbClr val="CAD1D8"/>
          </a:solidFill>
        </a:fill>
      </a:tcStyle>
    </a:band1V>
    <a:band2V>
      <a:tcTxStyle/>
      <a:tcStyle>
        <a:tcBdr/>
      </a:tcStyle>
    </a:band2V>
    <a:lastCol>
      <a:tcTxStyle b="on" i="off">
        <a:font>
          <a:latin typeface="Aptos"/>
          <a:ea typeface="Aptos"/>
          <a:cs typeface="Aptos"/>
        </a:font>
        <a:schemeClr val="lt1"/>
      </a:tcTxStyle>
      <a:tcStyle>
        <a:tcBdr/>
        <a:fill>
          <a:solidFill>
            <a:schemeClr val="accent1"/>
          </a:solidFill>
        </a:fill>
      </a:tcStyle>
    </a:lastCol>
    <a:firstCol>
      <a:tcTxStyle b="on" i="off">
        <a:font>
          <a:latin typeface="Aptos"/>
          <a:ea typeface="Aptos"/>
          <a:cs typeface="Aptos"/>
        </a:font>
        <a:schemeClr val="lt1"/>
      </a:tcTxStyle>
      <a:tcStyle>
        <a:tcBdr/>
        <a:fill>
          <a:solidFill>
            <a:schemeClr val="accent1"/>
          </a:solidFill>
        </a:fill>
      </a:tcStyle>
    </a:firstCol>
    <a:lastRow>
      <a:tcTxStyle b="on" i="off">
        <a:font>
          <a:latin typeface="Aptos"/>
          <a:ea typeface="Aptos"/>
          <a:cs typeface="Aptos"/>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ptos"/>
          <a:ea typeface="Aptos"/>
          <a:cs typeface="Aptos"/>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5348" autoAdjust="0"/>
  </p:normalViewPr>
  <p:slideViewPr>
    <p:cSldViewPr snapToGrid="0">
      <p:cViewPr varScale="1">
        <p:scale>
          <a:sx n="46" d="100"/>
          <a:sy n="46" d="100"/>
        </p:scale>
        <p:origin x="162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notesMaster" Target="notesMasters/notesMaster1.xml"/><Relationship Id="rId50" Type="http://schemas.openxmlformats.org/officeDocument/2006/relationships/font" Target="fonts/font3.fntdata"/><Relationship Id="rId55"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font" Target="fonts/font6.fntdata"/><Relationship Id="rId58" Type="http://schemas.openxmlformats.org/officeDocument/2006/relationships/tableStyles" Target="tableStyles.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font" Target="fonts/font1.fntdata"/><Relationship Id="rId56"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font" Target="fonts/font4.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microsoft.com/office/2015/10/relationships/revisionInfo" Target="revisionInfo.xml"/><Relationship Id="rId20" Type="http://schemas.openxmlformats.org/officeDocument/2006/relationships/slide" Target="slides/slide18.xml"/><Relationship Id="rId41" Type="http://schemas.openxmlformats.org/officeDocument/2006/relationships/slide" Target="slides/slide39.xml"/><Relationship Id="rId54"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2.fntdata"/><Relationship Id="rId57" Type="http://schemas.openxmlformats.org/officeDocument/2006/relationships/theme" Target="theme/theme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3" Type="http://schemas.openxmlformats.org/officeDocument/2006/relationships/hyperlink" Target="https://www.youtube.com/watch?v=lc_psTVlGF8" TargetMode="External"/><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07916"/>
              </a:lnSpc>
              <a:spcBef>
                <a:spcPts val="0"/>
              </a:spcBef>
              <a:spcAft>
                <a:spcPts val="0"/>
              </a:spcAft>
              <a:buClr>
                <a:schemeClr val="dk1"/>
              </a:buClr>
              <a:buSzPts val="1100"/>
              <a:buFont typeface="Arial"/>
              <a:buNone/>
            </a:pPr>
            <a:r>
              <a:rPr lang="es-ES" sz="2000" b="1" u="sng">
                <a:solidFill>
                  <a:schemeClr val="dk1"/>
                </a:solidFill>
                <a:latin typeface="Calibri"/>
                <a:ea typeface="Calibri"/>
                <a:cs typeface="Calibri"/>
                <a:sym typeface="Calibri"/>
              </a:rPr>
              <a:t>Presentación de cívica, derechos de los trabajadores:</a:t>
            </a:r>
            <a:endParaRPr sz="2000" b="1" u="sng">
              <a:solidFill>
                <a:schemeClr val="dk1"/>
              </a:solidFill>
              <a:latin typeface="Calibri"/>
              <a:ea typeface="Calibri"/>
              <a:cs typeface="Calibri"/>
              <a:sym typeface="Calibri"/>
            </a:endParaRPr>
          </a:p>
          <a:p>
            <a:pPr marL="0" lvl="0" indent="0" algn="l" rtl="0">
              <a:lnSpc>
                <a:spcPct val="107916"/>
              </a:lnSpc>
              <a:spcBef>
                <a:spcPts val="800"/>
              </a:spcBef>
              <a:spcAft>
                <a:spcPts val="0"/>
              </a:spcAft>
              <a:buClr>
                <a:schemeClr val="dk1"/>
              </a:buClr>
              <a:buSzPts val="1100"/>
              <a:buFont typeface="Arial"/>
              <a:buNone/>
            </a:pPr>
            <a:r>
              <a:rPr lang="es-ES" sz="1000" b="1" u="sng">
                <a:solidFill>
                  <a:schemeClr val="dk1"/>
                </a:solidFill>
                <a:latin typeface="Calibri"/>
                <a:ea typeface="Calibri"/>
                <a:cs typeface="Calibri"/>
                <a:sym typeface="Calibri"/>
              </a:rPr>
              <a:t>Índice:</a:t>
            </a:r>
            <a:endParaRPr sz="1000" b="1" u="sng">
              <a:solidFill>
                <a:schemeClr val="dk1"/>
              </a:solidFill>
              <a:latin typeface="Calibri"/>
              <a:ea typeface="Calibri"/>
              <a:cs typeface="Calibri"/>
              <a:sym typeface="Calibri"/>
            </a:endParaRPr>
          </a:p>
          <a:p>
            <a:pPr marL="457200" lvl="0" indent="-292100" algn="l" rtl="0">
              <a:lnSpc>
                <a:spcPct val="107916"/>
              </a:lnSpc>
              <a:spcBef>
                <a:spcPts val="800"/>
              </a:spcBef>
              <a:spcAft>
                <a:spcPts val="0"/>
              </a:spcAft>
              <a:buClr>
                <a:schemeClr val="dk1"/>
              </a:buClr>
              <a:buSzPts val="1000"/>
              <a:buFont typeface="Calibri"/>
              <a:buChar char="●"/>
            </a:pPr>
            <a:r>
              <a:rPr lang="es-ES" sz="1000">
                <a:solidFill>
                  <a:schemeClr val="dk1"/>
                </a:solidFill>
                <a:latin typeface="Calibri"/>
                <a:ea typeface="Calibri"/>
                <a:cs typeface="Calibri"/>
                <a:sym typeface="Calibri"/>
              </a:rPr>
              <a:t>¿Qué tipo de derecho es?</a:t>
            </a:r>
            <a:endParaRPr sz="1000">
              <a:solidFill>
                <a:schemeClr val="dk1"/>
              </a:solidFill>
              <a:latin typeface="Calibri"/>
              <a:ea typeface="Calibri"/>
              <a:cs typeface="Calibri"/>
              <a:sym typeface="Calibri"/>
            </a:endParaRPr>
          </a:p>
          <a:p>
            <a:pPr marL="457200" lvl="0" indent="-292100" algn="l" rtl="0">
              <a:lnSpc>
                <a:spcPct val="107916"/>
              </a:lnSpc>
              <a:spcBef>
                <a:spcPts val="0"/>
              </a:spcBef>
              <a:spcAft>
                <a:spcPts val="0"/>
              </a:spcAft>
              <a:buClr>
                <a:schemeClr val="dk1"/>
              </a:buClr>
              <a:buSzPts val="1000"/>
              <a:buFont typeface="Calibri"/>
              <a:buChar char="●"/>
            </a:pPr>
            <a:r>
              <a:rPr lang="es-ES" sz="1000">
                <a:solidFill>
                  <a:schemeClr val="dk1"/>
                </a:solidFill>
                <a:latin typeface="Calibri"/>
                <a:ea typeface="Calibri"/>
                <a:cs typeface="Calibri"/>
                <a:sym typeface="Calibri"/>
              </a:rPr>
              <a:t>¿Quiénes son trabajadores?</a:t>
            </a:r>
            <a:endParaRPr sz="1000">
              <a:solidFill>
                <a:schemeClr val="dk1"/>
              </a:solidFill>
              <a:latin typeface="Calibri"/>
              <a:ea typeface="Calibri"/>
              <a:cs typeface="Calibri"/>
              <a:sym typeface="Calibri"/>
            </a:endParaRPr>
          </a:p>
          <a:p>
            <a:pPr marL="457200" lvl="0" indent="-292100" algn="l" rtl="0">
              <a:lnSpc>
                <a:spcPct val="107916"/>
              </a:lnSpc>
              <a:spcBef>
                <a:spcPts val="0"/>
              </a:spcBef>
              <a:spcAft>
                <a:spcPts val="0"/>
              </a:spcAft>
              <a:buClr>
                <a:schemeClr val="dk1"/>
              </a:buClr>
              <a:buSzPts val="1000"/>
              <a:buFont typeface="Calibri"/>
              <a:buChar char="●"/>
            </a:pPr>
            <a:r>
              <a:rPr lang="es-ES" sz="1000">
                <a:solidFill>
                  <a:schemeClr val="dk1"/>
                </a:solidFill>
                <a:latin typeface="Calibri"/>
                <a:ea typeface="Calibri"/>
                <a:cs typeface="Calibri"/>
                <a:sym typeface="Calibri"/>
              </a:rPr>
              <a:t>¿Qué es trabajar?</a:t>
            </a:r>
            <a:endParaRPr sz="1000">
              <a:solidFill>
                <a:schemeClr val="dk1"/>
              </a:solidFill>
              <a:latin typeface="Calibri"/>
              <a:ea typeface="Calibri"/>
              <a:cs typeface="Calibri"/>
              <a:sym typeface="Calibri"/>
            </a:endParaRPr>
          </a:p>
          <a:p>
            <a:pPr marL="457200" lvl="0" indent="-292100" algn="l" rtl="0">
              <a:lnSpc>
                <a:spcPct val="107916"/>
              </a:lnSpc>
              <a:spcBef>
                <a:spcPts val="0"/>
              </a:spcBef>
              <a:spcAft>
                <a:spcPts val="0"/>
              </a:spcAft>
              <a:buClr>
                <a:schemeClr val="dk1"/>
              </a:buClr>
              <a:buSzPts val="1000"/>
              <a:buFont typeface="Calibri"/>
              <a:buChar char="●"/>
            </a:pPr>
            <a:r>
              <a:rPr lang="es-ES" sz="1000">
                <a:solidFill>
                  <a:schemeClr val="dk1"/>
                </a:solidFill>
                <a:latin typeface="Calibri"/>
                <a:ea typeface="Calibri"/>
                <a:cs typeface="Calibri"/>
                <a:sym typeface="Calibri"/>
              </a:rPr>
              <a:t>¿Qué hace el trabajo?</a:t>
            </a:r>
            <a:endParaRPr sz="1000">
              <a:solidFill>
                <a:schemeClr val="dk1"/>
              </a:solidFill>
              <a:latin typeface="Calibri"/>
              <a:ea typeface="Calibri"/>
              <a:cs typeface="Calibri"/>
              <a:sym typeface="Calibri"/>
            </a:endParaRPr>
          </a:p>
          <a:p>
            <a:pPr marL="457200" lvl="0" indent="-292100" algn="l" rtl="0">
              <a:lnSpc>
                <a:spcPct val="107916"/>
              </a:lnSpc>
              <a:spcBef>
                <a:spcPts val="0"/>
              </a:spcBef>
              <a:spcAft>
                <a:spcPts val="0"/>
              </a:spcAft>
              <a:buClr>
                <a:schemeClr val="dk1"/>
              </a:buClr>
              <a:buSzPts val="1000"/>
              <a:buFont typeface="Calibri"/>
              <a:buChar char="●"/>
            </a:pPr>
            <a:r>
              <a:rPr lang="es-ES" sz="1000">
                <a:solidFill>
                  <a:schemeClr val="dk1"/>
                </a:solidFill>
                <a:latin typeface="Calibri"/>
                <a:ea typeface="Calibri"/>
                <a:cs typeface="Calibri"/>
                <a:sym typeface="Calibri"/>
              </a:rPr>
              <a:t>Artículo 14 bis derechos, derechos:</a:t>
            </a:r>
            <a:endParaRPr sz="1000">
              <a:solidFill>
                <a:schemeClr val="dk1"/>
              </a:solidFill>
              <a:latin typeface="Calibri"/>
              <a:ea typeface="Calibri"/>
              <a:cs typeface="Calibri"/>
              <a:sym typeface="Calibri"/>
            </a:endParaRPr>
          </a:p>
          <a:p>
            <a:pPr marL="457200" lvl="0" indent="-292100" algn="l" rtl="0">
              <a:lnSpc>
                <a:spcPct val="107916"/>
              </a:lnSpc>
              <a:spcBef>
                <a:spcPts val="0"/>
              </a:spcBef>
              <a:spcAft>
                <a:spcPts val="0"/>
              </a:spcAft>
              <a:buClr>
                <a:schemeClr val="dk1"/>
              </a:buClr>
              <a:buSzPts val="1000"/>
              <a:buFont typeface="Calibri"/>
              <a:buChar char="●"/>
            </a:pPr>
            <a:r>
              <a:rPr lang="es-ES" sz="1000">
                <a:solidFill>
                  <a:schemeClr val="dk1"/>
                </a:solidFill>
                <a:latin typeface="Calibri"/>
                <a:ea typeface="Calibri"/>
                <a:cs typeface="Calibri"/>
                <a:sym typeface="Calibri"/>
              </a:rPr>
              <a:t>Condiciones dignas y equitativas de labor</a:t>
            </a:r>
            <a:endParaRPr sz="1000">
              <a:solidFill>
                <a:schemeClr val="dk1"/>
              </a:solidFill>
              <a:latin typeface="Calibri"/>
              <a:ea typeface="Calibri"/>
              <a:cs typeface="Calibri"/>
              <a:sym typeface="Calibri"/>
            </a:endParaRPr>
          </a:p>
          <a:p>
            <a:pPr marL="457200" lvl="0" indent="-292100" algn="l" rtl="0">
              <a:lnSpc>
                <a:spcPct val="107916"/>
              </a:lnSpc>
              <a:spcBef>
                <a:spcPts val="0"/>
              </a:spcBef>
              <a:spcAft>
                <a:spcPts val="0"/>
              </a:spcAft>
              <a:buClr>
                <a:schemeClr val="dk1"/>
              </a:buClr>
              <a:buSzPts val="1000"/>
              <a:buFont typeface="Calibri"/>
              <a:buChar char="●"/>
            </a:pPr>
            <a:r>
              <a:rPr lang="es-ES" sz="1000">
                <a:solidFill>
                  <a:schemeClr val="dk1"/>
                </a:solidFill>
                <a:latin typeface="Calibri"/>
                <a:ea typeface="Calibri"/>
                <a:cs typeface="Calibri"/>
                <a:sym typeface="Calibri"/>
              </a:rPr>
              <a:t>Jornada de trabajo limitada</a:t>
            </a:r>
            <a:endParaRPr sz="1000">
              <a:solidFill>
                <a:schemeClr val="dk1"/>
              </a:solidFill>
              <a:latin typeface="Calibri"/>
              <a:ea typeface="Calibri"/>
              <a:cs typeface="Calibri"/>
              <a:sym typeface="Calibri"/>
            </a:endParaRPr>
          </a:p>
          <a:p>
            <a:pPr marL="457200" lvl="0" indent="-292100" algn="l" rtl="0">
              <a:lnSpc>
                <a:spcPct val="107916"/>
              </a:lnSpc>
              <a:spcBef>
                <a:spcPts val="0"/>
              </a:spcBef>
              <a:spcAft>
                <a:spcPts val="0"/>
              </a:spcAft>
              <a:buClr>
                <a:schemeClr val="dk1"/>
              </a:buClr>
              <a:buSzPts val="1000"/>
              <a:buFont typeface="Calibri"/>
              <a:buChar char="●"/>
            </a:pPr>
            <a:r>
              <a:rPr lang="es-ES" sz="1000">
                <a:solidFill>
                  <a:schemeClr val="dk1"/>
                </a:solidFill>
                <a:latin typeface="Calibri"/>
                <a:ea typeface="Calibri"/>
                <a:cs typeface="Calibri"/>
                <a:sym typeface="Calibri"/>
              </a:rPr>
              <a:t>Descanso y vacaciones pagas</a:t>
            </a:r>
            <a:endParaRPr sz="1000">
              <a:solidFill>
                <a:schemeClr val="dk1"/>
              </a:solidFill>
              <a:latin typeface="Calibri"/>
              <a:ea typeface="Calibri"/>
              <a:cs typeface="Calibri"/>
              <a:sym typeface="Calibri"/>
            </a:endParaRPr>
          </a:p>
          <a:p>
            <a:pPr marL="457200" lvl="0" indent="-292100" algn="l" rtl="0">
              <a:lnSpc>
                <a:spcPct val="107916"/>
              </a:lnSpc>
              <a:spcBef>
                <a:spcPts val="0"/>
              </a:spcBef>
              <a:spcAft>
                <a:spcPts val="0"/>
              </a:spcAft>
              <a:buClr>
                <a:schemeClr val="dk1"/>
              </a:buClr>
              <a:buSzPts val="1000"/>
              <a:buFont typeface="Calibri"/>
              <a:buChar char="●"/>
            </a:pPr>
            <a:r>
              <a:rPr lang="es-ES" sz="1000">
                <a:solidFill>
                  <a:schemeClr val="dk1"/>
                </a:solidFill>
                <a:latin typeface="Calibri"/>
                <a:ea typeface="Calibri"/>
                <a:cs typeface="Calibri"/>
                <a:sym typeface="Calibri"/>
              </a:rPr>
              <a:t>Retribución justa (económico y constitucionalidad)</a:t>
            </a:r>
            <a:endParaRPr sz="1000">
              <a:solidFill>
                <a:schemeClr val="dk1"/>
              </a:solidFill>
              <a:latin typeface="Calibri"/>
              <a:ea typeface="Calibri"/>
              <a:cs typeface="Calibri"/>
              <a:sym typeface="Calibri"/>
            </a:endParaRPr>
          </a:p>
          <a:p>
            <a:pPr marL="457200" lvl="0" indent="-292100" algn="l" rtl="0">
              <a:lnSpc>
                <a:spcPct val="107916"/>
              </a:lnSpc>
              <a:spcBef>
                <a:spcPts val="0"/>
              </a:spcBef>
              <a:spcAft>
                <a:spcPts val="0"/>
              </a:spcAft>
              <a:buClr>
                <a:schemeClr val="dk1"/>
              </a:buClr>
              <a:buSzPts val="1000"/>
              <a:buFont typeface="Calibri"/>
              <a:buChar char="●"/>
            </a:pPr>
            <a:r>
              <a:rPr lang="es-ES" sz="1000">
                <a:solidFill>
                  <a:schemeClr val="dk1"/>
                </a:solidFill>
                <a:latin typeface="Calibri"/>
                <a:ea typeface="Calibri"/>
                <a:cs typeface="Calibri"/>
                <a:sym typeface="Calibri"/>
              </a:rPr>
              <a:t>Salario mínimo, vital y móvil</a:t>
            </a:r>
            <a:endParaRPr sz="1000">
              <a:solidFill>
                <a:schemeClr val="dk1"/>
              </a:solidFill>
              <a:latin typeface="Calibri"/>
              <a:ea typeface="Calibri"/>
              <a:cs typeface="Calibri"/>
              <a:sym typeface="Calibri"/>
            </a:endParaRPr>
          </a:p>
          <a:p>
            <a:pPr marL="457200" lvl="0" indent="-292100" algn="l" rtl="0">
              <a:lnSpc>
                <a:spcPct val="107916"/>
              </a:lnSpc>
              <a:spcBef>
                <a:spcPts val="0"/>
              </a:spcBef>
              <a:spcAft>
                <a:spcPts val="0"/>
              </a:spcAft>
              <a:buClr>
                <a:schemeClr val="dk1"/>
              </a:buClr>
              <a:buSzPts val="1000"/>
              <a:buFont typeface="Calibri"/>
              <a:buChar char="●"/>
            </a:pPr>
            <a:r>
              <a:rPr lang="es-ES" sz="1000">
                <a:solidFill>
                  <a:schemeClr val="dk1"/>
                </a:solidFill>
                <a:latin typeface="Calibri"/>
                <a:ea typeface="Calibri"/>
                <a:cs typeface="Calibri"/>
                <a:sym typeface="Calibri"/>
              </a:rPr>
              <a:t>Igual remuneración por igual tarea</a:t>
            </a:r>
            <a:endParaRPr sz="1000">
              <a:solidFill>
                <a:schemeClr val="dk1"/>
              </a:solidFill>
              <a:latin typeface="Calibri"/>
              <a:ea typeface="Calibri"/>
              <a:cs typeface="Calibri"/>
              <a:sym typeface="Calibri"/>
            </a:endParaRPr>
          </a:p>
          <a:p>
            <a:pPr marL="457200" lvl="0" indent="-292100" algn="l" rtl="0">
              <a:lnSpc>
                <a:spcPct val="107916"/>
              </a:lnSpc>
              <a:spcBef>
                <a:spcPts val="0"/>
              </a:spcBef>
              <a:spcAft>
                <a:spcPts val="0"/>
              </a:spcAft>
              <a:buClr>
                <a:schemeClr val="dk1"/>
              </a:buClr>
              <a:buSzPts val="1000"/>
              <a:buFont typeface="Calibri"/>
              <a:buChar char="●"/>
            </a:pPr>
            <a:r>
              <a:rPr lang="es-ES" sz="1000">
                <a:solidFill>
                  <a:schemeClr val="dk1"/>
                </a:solidFill>
                <a:latin typeface="Calibri"/>
                <a:ea typeface="Calibri"/>
                <a:cs typeface="Calibri"/>
                <a:sym typeface="Calibri"/>
              </a:rPr>
              <a:t>Participación en las ganancias de las empresas, con control de la producción y colaboración en la dirección.</a:t>
            </a:r>
            <a:endParaRPr sz="1000">
              <a:solidFill>
                <a:schemeClr val="dk1"/>
              </a:solidFill>
              <a:latin typeface="Calibri"/>
              <a:ea typeface="Calibri"/>
              <a:cs typeface="Calibri"/>
              <a:sym typeface="Calibri"/>
            </a:endParaRPr>
          </a:p>
          <a:p>
            <a:pPr marL="457200" lvl="0" indent="-292100" algn="l" rtl="0">
              <a:lnSpc>
                <a:spcPct val="107916"/>
              </a:lnSpc>
              <a:spcBef>
                <a:spcPts val="0"/>
              </a:spcBef>
              <a:spcAft>
                <a:spcPts val="0"/>
              </a:spcAft>
              <a:buClr>
                <a:schemeClr val="dk1"/>
              </a:buClr>
              <a:buSzPts val="1000"/>
              <a:buFont typeface="Calibri"/>
              <a:buChar char="●"/>
            </a:pPr>
            <a:r>
              <a:rPr lang="es-ES" sz="1000">
                <a:solidFill>
                  <a:schemeClr val="dk1"/>
                </a:solidFill>
                <a:latin typeface="Calibri"/>
                <a:ea typeface="Calibri"/>
                <a:cs typeface="Calibri"/>
                <a:sym typeface="Calibri"/>
              </a:rPr>
              <a:t>Protección contra el despido arbitrario</a:t>
            </a:r>
            <a:endParaRPr sz="1000">
              <a:solidFill>
                <a:schemeClr val="dk1"/>
              </a:solidFill>
              <a:latin typeface="Calibri"/>
              <a:ea typeface="Calibri"/>
              <a:cs typeface="Calibri"/>
              <a:sym typeface="Calibri"/>
            </a:endParaRPr>
          </a:p>
          <a:p>
            <a:pPr marL="457200" lvl="0" indent="-292100" algn="l" rtl="0">
              <a:lnSpc>
                <a:spcPct val="107916"/>
              </a:lnSpc>
              <a:spcBef>
                <a:spcPts val="0"/>
              </a:spcBef>
              <a:spcAft>
                <a:spcPts val="0"/>
              </a:spcAft>
              <a:buClr>
                <a:schemeClr val="dk1"/>
              </a:buClr>
              <a:buSzPts val="1000"/>
              <a:buFont typeface="Calibri"/>
              <a:buChar char="●"/>
            </a:pPr>
            <a:r>
              <a:rPr lang="es-ES" sz="1000">
                <a:solidFill>
                  <a:schemeClr val="dk1"/>
                </a:solidFill>
                <a:latin typeface="Calibri"/>
                <a:ea typeface="Calibri"/>
                <a:cs typeface="Calibri"/>
                <a:sym typeface="Calibri"/>
              </a:rPr>
              <a:t>Estabilidad del empleo público</a:t>
            </a:r>
            <a:endParaRPr sz="1000">
              <a:solidFill>
                <a:schemeClr val="dk1"/>
              </a:solidFill>
              <a:latin typeface="Calibri"/>
              <a:ea typeface="Calibri"/>
              <a:cs typeface="Calibri"/>
              <a:sym typeface="Calibri"/>
            </a:endParaRPr>
          </a:p>
          <a:p>
            <a:pPr marL="457200" lvl="0" indent="-292100" algn="l" rtl="0">
              <a:lnSpc>
                <a:spcPct val="107916"/>
              </a:lnSpc>
              <a:spcBef>
                <a:spcPts val="0"/>
              </a:spcBef>
              <a:spcAft>
                <a:spcPts val="0"/>
              </a:spcAft>
              <a:buClr>
                <a:schemeClr val="dk1"/>
              </a:buClr>
              <a:buSzPts val="1000"/>
              <a:buFont typeface="Calibri"/>
              <a:buChar char="●"/>
            </a:pPr>
            <a:r>
              <a:rPr lang="es-ES" sz="1000">
                <a:solidFill>
                  <a:schemeClr val="dk1"/>
                </a:solidFill>
                <a:latin typeface="Calibri"/>
                <a:ea typeface="Calibri"/>
                <a:cs typeface="Calibri"/>
                <a:sym typeface="Calibri"/>
              </a:rPr>
              <a:t>Organización sindical libre y democrática, reconocida por la simple inscripción en un registro especial</a:t>
            </a:r>
            <a:endParaRPr sz="1000">
              <a:solidFill>
                <a:schemeClr val="dk1"/>
              </a:solidFill>
              <a:latin typeface="Calibri"/>
              <a:ea typeface="Calibri"/>
              <a:cs typeface="Calibri"/>
              <a:sym typeface="Calibri"/>
            </a:endParaRPr>
          </a:p>
          <a:p>
            <a:pPr marL="0" lvl="0" indent="0" algn="l" rtl="0">
              <a:spcBef>
                <a:spcPts val="800"/>
              </a:spcBef>
              <a:spcAft>
                <a:spcPts val="0"/>
              </a:spcAft>
              <a:buNone/>
            </a:pPr>
            <a:endParaRPr/>
          </a:p>
        </p:txBody>
      </p:sp>
      <p:sp>
        <p:nvSpPr>
          <p:cNvPr id="94" name="Google Shape;94;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07916"/>
              </a:lnSpc>
              <a:spcBef>
                <a:spcPts val="0"/>
              </a:spcBef>
              <a:spcAft>
                <a:spcPts val="0"/>
              </a:spcAft>
              <a:buClr>
                <a:schemeClr val="dk1"/>
              </a:buClr>
              <a:buSzPts val="1100"/>
              <a:buFont typeface="Arial"/>
              <a:buNone/>
            </a:pPr>
            <a:r>
              <a:rPr lang="es-ES" sz="1000" b="1" u="sng">
                <a:solidFill>
                  <a:schemeClr val="dk1"/>
                </a:solidFill>
                <a:latin typeface="Calibri"/>
                <a:ea typeface="Calibri"/>
                <a:cs typeface="Calibri"/>
                <a:sym typeface="Calibri"/>
              </a:rPr>
              <a:t>¿Qué tipo de derecho es?:</a:t>
            </a:r>
            <a:endParaRPr sz="1000">
              <a:solidFill>
                <a:schemeClr val="dk1"/>
              </a:solidFill>
              <a:latin typeface="Calibri"/>
              <a:ea typeface="Calibri"/>
              <a:cs typeface="Calibri"/>
              <a:sym typeface="Calibri"/>
            </a:endParaRPr>
          </a:p>
          <a:p>
            <a:pPr marL="0" lvl="0" indent="0" algn="l" rtl="0">
              <a:lnSpc>
                <a:spcPct val="107916"/>
              </a:lnSpc>
              <a:spcBef>
                <a:spcPts val="800"/>
              </a:spcBef>
              <a:spcAft>
                <a:spcPts val="0"/>
              </a:spcAft>
              <a:buClr>
                <a:schemeClr val="dk1"/>
              </a:buClr>
              <a:buSzPts val="1100"/>
              <a:buFont typeface="Arial"/>
              <a:buNone/>
            </a:pPr>
            <a:r>
              <a:rPr lang="es-ES" sz="1000">
                <a:solidFill>
                  <a:schemeClr val="dk1"/>
                </a:solidFill>
                <a:latin typeface="Calibri"/>
                <a:ea typeface="Calibri"/>
                <a:cs typeface="Calibri"/>
                <a:sym typeface="Calibri"/>
              </a:rPr>
              <a:t>Son derechos subjetivos individuales positivos sociales. Quiere decir que son de una persona en particular y que necesitan del estado para su correcto funcionamiento y están relacionados con la sociedad. Aunque dependiendo de la ocasión puede ser social o civil.</a:t>
            </a:r>
            <a:endParaRPr sz="1000">
              <a:solidFill>
                <a:schemeClr val="dk1"/>
              </a:solidFill>
              <a:latin typeface="Calibri"/>
              <a:ea typeface="Calibri"/>
              <a:cs typeface="Calibri"/>
              <a:sym typeface="Calibri"/>
            </a:endParaRPr>
          </a:p>
          <a:p>
            <a:pPr marL="0" lvl="0" indent="0" algn="l" rtl="0">
              <a:spcBef>
                <a:spcPts val="800"/>
              </a:spcBef>
              <a:spcAft>
                <a:spcPts val="0"/>
              </a:spcAft>
              <a:buNone/>
            </a:pPr>
            <a:endParaRPr/>
          </a:p>
        </p:txBody>
      </p:sp>
      <p:sp>
        <p:nvSpPr>
          <p:cNvPr id="103" name="Google Shape;10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07916"/>
              </a:lnSpc>
              <a:spcBef>
                <a:spcPts val="0"/>
              </a:spcBef>
              <a:spcAft>
                <a:spcPts val="0"/>
              </a:spcAft>
              <a:buClr>
                <a:schemeClr val="dk1"/>
              </a:buClr>
              <a:buSzPts val="1100"/>
              <a:buFont typeface="Arial"/>
              <a:buNone/>
            </a:pPr>
            <a:r>
              <a:rPr lang="es-ES" sz="1000" b="1" u="sng">
                <a:solidFill>
                  <a:schemeClr val="dk1"/>
                </a:solidFill>
                <a:latin typeface="Calibri"/>
                <a:ea typeface="Calibri"/>
                <a:cs typeface="Calibri"/>
                <a:sym typeface="Calibri"/>
              </a:rPr>
              <a:t>¿Quiénes son trabajadores?:</a:t>
            </a:r>
            <a:endParaRPr sz="1000">
              <a:solidFill>
                <a:schemeClr val="dk1"/>
              </a:solidFill>
              <a:latin typeface="Calibri"/>
              <a:ea typeface="Calibri"/>
              <a:cs typeface="Calibri"/>
              <a:sym typeface="Calibri"/>
            </a:endParaRPr>
          </a:p>
          <a:p>
            <a:pPr marL="0" lvl="0" indent="0" algn="l" rtl="0">
              <a:lnSpc>
                <a:spcPct val="107916"/>
              </a:lnSpc>
              <a:spcBef>
                <a:spcPts val="800"/>
              </a:spcBef>
              <a:spcAft>
                <a:spcPts val="0"/>
              </a:spcAft>
              <a:buClr>
                <a:schemeClr val="dk1"/>
              </a:buClr>
              <a:buSzPts val="1100"/>
              <a:buFont typeface="Arial"/>
              <a:buNone/>
            </a:pPr>
            <a:r>
              <a:rPr lang="es-ES" sz="1000">
                <a:solidFill>
                  <a:schemeClr val="dk1"/>
                </a:solidFill>
                <a:latin typeface="Calibri"/>
                <a:ea typeface="Calibri"/>
                <a:cs typeface="Calibri"/>
                <a:sym typeface="Calibri"/>
              </a:rPr>
              <a:t>Bueno, aquel que vende sus conocimientos o fuerza a alguien (el empleador) a cambio de algo.</a:t>
            </a:r>
            <a:endParaRPr sz="1000">
              <a:solidFill>
                <a:schemeClr val="dk1"/>
              </a:solidFill>
              <a:latin typeface="Calibri"/>
              <a:ea typeface="Calibri"/>
              <a:cs typeface="Calibri"/>
              <a:sym typeface="Calibri"/>
            </a:endParaRPr>
          </a:p>
          <a:p>
            <a:pPr marL="0" lvl="0" indent="0" algn="l" rtl="0">
              <a:spcBef>
                <a:spcPts val="800"/>
              </a:spcBef>
              <a:spcAft>
                <a:spcPts val="0"/>
              </a:spcAft>
              <a:buNone/>
            </a:pPr>
            <a:endParaRPr/>
          </a:p>
        </p:txBody>
      </p:sp>
      <p:sp>
        <p:nvSpPr>
          <p:cNvPr id="111" name="Google Shape;11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07916"/>
              </a:lnSpc>
              <a:spcBef>
                <a:spcPts val="0"/>
              </a:spcBef>
              <a:spcAft>
                <a:spcPts val="0"/>
              </a:spcAft>
              <a:buClr>
                <a:schemeClr val="dk1"/>
              </a:buClr>
              <a:buSzPts val="1100"/>
              <a:buFont typeface="Arial"/>
              <a:buNone/>
            </a:pPr>
            <a:r>
              <a:rPr lang="es-ES" sz="1000" b="1" u="sng">
                <a:solidFill>
                  <a:schemeClr val="dk1"/>
                </a:solidFill>
                <a:latin typeface="Calibri"/>
                <a:ea typeface="Calibri"/>
                <a:cs typeface="Calibri"/>
                <a:sym typeface="Calibri"/>
              </a:rPr>
              <a:t>¿Qué es trabajar?:</a:t>
            </a:r>
            <a:endParaRPr sz="1000">
              <a:solidFill>
                <a:schemeClr val="dk1"/>
              </a:solidFill>
              <a:latin typeface="Calibri"/>
              <a:ea typeface="Calibri"/>
              <a:cs typeface="Calibri"/>
              <a:sym typeface="Calibri"/>
            </a:endParaRPr>
          </a:p>
          <a:p>
            <a:pPr marL="0" lvl="0" indent="0" algn="l" rtl="0">
              <a:lnSpc>
                <a:spcPct val="107916"/>
              </a:lnSpc>
              <a:spcBef>
                <a:spcPts val="800"/>
              </a:spcBef>
              <a:spcAft>
                <a:spcPts val="0"/>
              </a:spcAft>
              <a:buClr>
                <a:schemeClr val="dk1"/>
              </a:buClr>
              <a:buSzPts val="1100"/>
              <a:buFont typeface="Arial"/>
              <a:buNone/>
            </a:pPr>
            <a:r>
              <a:rPr lang="es-ES" sz="1000">
                <a:solidFill>
                  <a:schemeClr val="dk1"/>
                </a:solidFill>
                <a:latin typeface="Calibri"/>
                <a:ea typeface="Calibri"/>
                <a:cs typeface="Calibri"/>
                <a:sym typeface="Calibri"/>
              </a:rPr>
              <a:t>Entonces trabajar es tener una actividad remunerada de alguna forma.</a:t>
            </a:r>
            <a:endParaRPr sz="1000">
              <a:solidFill>
                <a:schemeClr val="dk1"/>
              </a:solidFill>
              <a:latin typeface="Calibri"/>
              <a:ea typeface="Calibri"/>
              <a:cs typeface="Calibri"/>
              <a:sym typeface="Calibri"/>
            </a:endParaRPr>
          </a:p>
          <a:p>
            <a:pPr marL="0" lvl="0" indent="0" algn="l" rtl="0">
              <a:spcBef>
                <a:spcPts val="800"/>
              </a:spcBef>
              <a:spcAft>
                <a:spcPts val="0"/>
              </a:spcAft>
              <a:buNone/>
            </a:pPr>
            <a:endParaRPr/>
          </a:p>
        </p:txBody>
      </p:sp>
      <p:sp>
        <p:nvSpPr>
          <p:cNvPr id="118" name="Google Shape;118;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07916"/>
              </a:lnSpc>
              <a:spcBef>
                <a:spcPts val="0"/>
              </a:spcBef>
              <a:spcAft>
                <a:spcPts val="0"/>
              </a:spcAft>
              <a:buClr>
                <a:schemeClr val="dk1"/>
              </a:buClr>
              <a:buSzPts val="1100"/>
              <a:buFont typeface="Arial"/>
              <a:buNone/>
            </a:pPr>
            <a:r>
              <a:rPr lang="es-ES" sz="1000" b="1" u="sng">
                <a:solidFill>
                  <a:schemeClr val="dk1"/>
                </a:solidFill>
                <a:latin typeface="Calibri"/>
                <a:ea typeface="Calibri"/>
                <a:cs typeface="Calibri"/>
                <a:sym typeface="Calibri"/>
              </a:rPr>
              <a:t>¿Qué hace el trabajo?:</a:t>
            </a:r>
            <a:endParaRPr sz="1000" b="1" u="sng">
              <a:solidFill>
                <a:schemeClr val="dk1"/>
              </a:solidFill>
              <a:latin typeface="Calibri"/>
              <a:ea typeface="Calibri"/>
              <a:cs typeface="Calibri"/>
              <a:sym typeface="Calibri"/>
            </a:endParaRPr>
          </a:p>
          <a:p>
            <a:pPr marL="0" lvl="0" indent="0" algn="l" rtl="0">
              <a:lnSpc>
                <a:spcPct val="107916"/>
              </a:lnSpc>
              <a:spcBef>
                <a:spcPts val="800"/>
              </a:spcBef>
              <a:spcAft>
                <a:spcPts val="0"/>
              </a:spcAft>
              <a:buClr>
                <a:schemeClr val="dk1"/>
              </a:buClr>
              <a:buSzPts val="1100"/>
              <a:buFont typeface="Arial"/>
              <a:buNone/>
            </a:pPr>
            <a:r>
              <a:rPr lang="es-ES" sz="1000">
                <a:solidFill>
                  <a:schemeClr val="dk1"/>
                </a:solidFill>
                <a:latin typeface="Calibri"/>
                <a:ea typeface="Calibri"/>
                <a:cs typeface="Calibri"/>
                <a:sym typeface="Calibri"/>
              </a:rPr>
              <a:t>El trabajo dignifica a las personas, les da algo que hacer y las hace independientes. Pueden vivir de sí mismas y tal vez sea uno de los pasos más importantes para llegar a la adultes y maduración intelectual.</a:t>
            </a:r>
            <a:endParaRPr sz="1000">
              <a:solidFill>
                <a:schemeClr val="dk1"/>
              </a:solidFill>
              <a:latin typeface="Calibri"/>
              <a:ea typeface="Calibri"/>
              <a:cs typeface="Calibri"/>
              <a:sym typeface="Calibri"/>
            </a:endParaRPr>
          </a:p>
          <a:p>
            <a:pPr marL="0" lvl="0" indent="0" algn="l" rtl="0">
              <a:spcBef>
                <a:spcPts val="800"/>
              </a:spcBef>
              <a:spcAft>
                <a:spcPts val="0"/>
              </a:spcAft>
              <a:buNone/>
            </a:pPr>
            <a:endParaRPr/>
          </a:p>
        </p:txBody>
      </p:sp>
      <p:sp>
        <p:nvSpPr>
          <p:cNvPr id="123" name="Google Shape;123;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07916"/>
              </a:lnSpc>
              <a:spcBef>
                <a:spcPts val="0"/>
              </a:spcBef>
              <a:spcAft>
                <a:spcPts val="0"/>
              </a:spcAft>
              <a:buClr>
                <a:schemeClr val="dk1"/>
              </a:buClr>
              <a:buSzPts val="1100"/>
              <a:buFont typeface="Arial"/>
              <a:buNone/>
            </a:pPr>
            <a:r>
              <a:rPr lang="es-ES" sz="1000" b="1" u="sng" dirty="0">
                <a:solidFill>
                  <a:schemeClr val="dk1"/>
                </a:solidFill>
                <a:latin typeface="Calibri"/>
                <a:ea typeface="Calibri"/>
                <a:cs typeface="Calibri"/>
                <a:sym typeface="Calibri"/>
              </a:rPr>
              <a:t>Artículo 14 bis derechos:</a:t>
            </a:r>
            <a:endParaRPr sz="1000" b="1" u="sng" dirty="0">
              <a:solidFill>
                <a:schemeClr val="dk1"/>
              </a:solidFill>
              <a:latin typeface="Calibri"/>
              <a:ea typeface="Calibri"/>
              <a:cs typeface="Calibri"/>
              <a:sym typeface="Calibri"/>
            </a:endParaRPr>
          </a:p>
          <a:p>
            <a:pPr marL="0" lvl="0" indent="0" algn="l" rtl="0">
              <a:lnSpc>
                <a:spcPct val="107916"/>
              </a:lnSpc>
              <a:spcBef>
                <a:spcPts val="800"/>
              </a:spcBef>
              <a:spcAft>
                <a:spcPts val="0"/>
              </a:spcAft>
              <a:buClr>
                <a:schemeClr val="dk1"/>
              </a:buClr>
              <a:buSzPts val="1100"/>
              <a:buFont typeface="Arial"/>
              <a:buNone/>
            </a:pPr>
            <a:r>
              <a:rPr lang="es-ES" sz="1000" dirty="0">
                <a:solidFill>
                  <a:schemeClr val="dk1"/>
                </a:solidFill>
                <a:latin typeface="Calibri"/>
                <a:ea typeface="Calibri"/>
                <a:cs typeface="Calibri"/>
                <a:sym typeface="Calibri"/>
              </a:rPr>
              <a:t>Bueno ahora hablando propiamente del derecho, para eso los invito a leer el artículo 14 y luego el 14 bis. Tengamos en cuenta que los derechos y obligaciones de los </a:t>
            </a:r>
            <a:r>
              <a:rPr lang="es-ES" sz="1000" dirty="0" err="1">
                <a:solidFill>
                  <a:schemeClr val="dk1"/>
                </a:solidFill>
                <a:latin typeface="Calibri"/>
                <a:ea typeface="Calibri"/>
                <a:cs typeface="Calibri"/>
                <a:sym typeface="Calibri"/>
              </a:rPr>
              <a:t>trabjadores</a:t>
            </a:r>
            <a:r>
              <a:rPr lang="es-ES" sz="1000" dirty="0">
                <a:solidFill>
                  <a:schemeClr val="dk1"/>
                </a:solidFill>
                <a:latin typeface="Calibri"/>
                <a:ea typeface="Calibri"/>
                <a:cs typeface="Calibri"/>
                <a:sym typeface="Calibri"/>
              </a:rPr>
              <a:t> también se contemplan en varias leyes, como la ley de contratos de trabajo, la de jornadas y el código civil y comercial de la </a:t>
            </a:r>
            <a:r>
              <a:rPr lang="es-ES" sz="1000" dirty="0" err="1">
                <a:solidFill>
                  <a:schemeClr val="dk1"/>
                </a:solidFill>
                <a:latin typeface="Calibri"/>
                <a:ea typeface="Calibri"/>
                <a:cs typeface="Calibri"/>
                <a:sym typeface="Calibri"/>
              </a:rPr>
              <a:t>nacion</a:t>
            </a:r>
            <a:r>
              <a:rPr lang="es-ES" sz="1000" dirty="0">
                <a:solidFill>
                  <a:schemeClr val="dk1"/>
                </a:solidFill>
                <a:latin typeface="Calibri"/>
                <a:ea typeface="Calibri"/>
                <a:cs typeface="Calibri"/>
                <a:sym typeface="Calibri"/>
              </a:rPr>
              <a:t>:</a:t>
            </a:r>
            <a:endParaRPr sz="1000" dirty="0">
              <a:solidFill>
                <a:schemeClr val="dk1"/>
              </a:solidFill>
              <a:latin typeface="Calibri"/>
              <a:ea typeface="Calibri"/>
              <a:cs typeface="Calibri"/>
              <a:sym typeface="Calibri"/>
            </a:endParaRPr>
          </a:p>
          <a:p>
            <a:pPr marL="0" lvl="0" indent="0" algn="l" rtl="0">
              <a:spcBef>
                <a:spcPts val="800"/>
              </a:spcBef>
              <a:spcAft>
                <a:spcPts val="0"/>
              </a:spcAft>
              <a:buClr>
                <a:schemeClr val="dk1"/>
              </a:buClr>
              <a:buSzPts val="1100"/>
              <a:buFont typeface="Arial"/>
              <a:buNone/>
            </a:pPr>
            <a:r>
              <a:rPr lang="es-ES" sz="1000" dirty="0">
                <a:solidFill>
                  <a:schemeClr val="dk1"/>
                </a:solidFill>
                <a:latin typeface="Calibri"/>
                <a:ea typeface="Calibri"/>
                <a:cs typeface="Calibri"/>
                <a:sym typeface="Calibri"/>
              </a:rPr>
              <a:t>Artículo 14.- Todos los habitantes de la Nación gozan de los siguientes derechos conforme a las leyes que reglamenten su ejercicio; a saber: de trabajar y ejercer toda industria lícita; de navegar y comerciar; de peticionar a las autoridades; de entrar, permanecer, transitar y salir del territorio argentino; de publicar sus ideas por la prensa sin censura previa; de usar y disponer de su propiedad; de asociarse con fines útiles; de profesar libremente su culto; de enseñar y aprender.</a:t>
            </a:r>
            <a:endParaRPr sz="1000" dirty="0">
              <a:solidFill>
                <a:schemeClr val="dk1"/>
              </a:solidFill>
              <a:latin typeface="Calibri"/>
              <a:ea typeface="Calibri"/>
              <a:cs typeface="Calibri"/>
              <a:sym typeface="Calibri"/>
            </a:endParaRPr>
          </a:p>
          <a:p>
            <a:pPr marL="0" lvl="0" indent="0" algn="l" rtl="0">
              <a:spcBef>
                <a:spcPts val="1800"/>
              </a:spcBef>
              <a:spcAft>
                <a:spcPts val="0"/>
              </a:spcAft>
              <a:buNone/>
            </a:pPr>
            <a:endParaRPr dirty="0"/>
          </a:p>
        </p:txBody>
      </p:sp>
      <p:sp>
        <p:nvSpPr>
          <p:cNvPr id="131" name="Google Shape;131;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ES" sz="1000">
                <a:solidFill>
                  <a:schemeClr val="dk1"/>
                </a:solidFill>
                <a:latin typeface="Calibri"/>
                <a:ea typeface="Calibri"/>
                <a:cs typeface="Calibri"/>
                <a:sym typeface="Calibri"/>
              </a:rPr>
              <a:t>Artículo 14 bis.- El trabajo en sus diversas formas gozará de la protección de las leyes, las que asegurarán al trabajador: condiciones dignas y equitativas de labor, jornada limitada; descanso y vacaciones pagados; retribución justa; salario mínimo vital móvil; igual remuneración por igual tarea; participación en las ganancias de las empresas, con control de la producción y colaboración en la dirección; protección contra el despido arbitrario; estabilidad del empleado público; organización sindical libre y democrática, reconocida por la simple inscripción en un registro especial.</a:t>
            </a:r>
            <a:endParaRPr sz="1000">
              <a:solidFill>
                <a:schemeClr val="dk1"/>
              </a:solidFill>
              <a:latin typeface="Calibri"/>
              <a:ea typeface="Calibri"/>
              <a:cs typeface="Calibri"/>
              <a:sym typeface="Calibri"/>
            </a:endParaRPr>
          </a:p>
          <a:p>
            <a:pPr marL="0" lvl="0" indent="0" algn="l" rtl="0">
              <a:spcBef>
                <a:spcPts val="1800"/>
              </a:spcBef>
              <a:spcAft>
                <a:spcPts val="0"/>
              </a:spcAft>
              <a:buNone/>
            </a:pPr>
            <a:endParaRPr/>
          </a:p>
        </p:txBody>
      </p:sp>
      <p:sp>
        <p:nvSpPr>
          <p:cNvPr id="136" name="Google Shape;136;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ES" sz="1000">
                <a:solidFill>
                  <a:schemeClr val="dk1"/>
                </a:solidFill>
                <a:latin typeface="Calibri"/>
                <a:ea typeface="Calibri"/>
                <a:cs typeface="Calibri"/>
                <a:sym typeface="Calibri"/>
              </a:rPr>
              <a:t>Queda garantizado a los gremios: concertar convenios colectivos de trabajo; recurrir a la conciliación y al arbitraje; el derecho de huelga. Los representantes gremiales gozarán de las garantías necesarias para el cumplimiento de su gestión sindical y las relacionadas con la estabilidad de su empleo.</a:t>
            </a:r>
            <a:endParaRPr sz="1000">
              <a:solidFill>
                <a:schemeClr val="dk1"/>
              </a:solidFill>
              <a:latin typeface="Calibri"/>
              <a:ea typeface="Calibri"/>
              <a:cs typeface="Calibri"/>
              <a:sym typeface="Calibri"/>
            </a:endParaRPr>
          </a:p>
          <a:p>
            <a:pPr marL="0" lvl="0" indent="0" algn="l" rtl="0">
              <a:spcBef>
                <a:spcPts val="1800"/>
              </a:spcBef>
              <a:spcAft>
                <a:spcPts val="1800"/>
              </a:spcAft>
              <a:buClr>
                <a:schemeClr val="dk1"/>
              </a:buClr>
              <a:buSzPts val="1100"/>
              <a:buFont typeface="Arial"/>
              <a:buNone/>
            </a:pPr>
            <a:r>
              <a:rPr lang="es-ES" sz="1000">
                <a:solidFill>
                  <a:schemeClr val="dk1"/>
                </a:solidFill>
                <a:latin typeface="Calibri"/>
                <a:ea typeface="Calibri"/>
                <a:cs typeface="Calibri"/>
                <a:sym typeface="Calibri"/>
              </a:rPr>
              <a:t>El Estado otorgará los beneficios de la seguridad social, que tendrá carácter de integral e irrenunciable. En especial, la ley establecerá: el seguro social obligatorio, que estará a cargo de entidades nacionales o provinciales con autonomía financiera y económica, administradas por los interesados con participación del Estado,</a:t>
            </a:r>
            <a:endParaRPr/>
          </a:p>
        </p:txBody>
      </p:sp>
      <p:sp>
        <p:nvSpPr>
          <p:cNvPr id="141" name="Google Shape;141;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sz="1000">
                <a:solidFill>
                  <a:schemeClr val="dk1"/>
                </a:solidFill>
                <a:latin typeface="Calibri"/>
                <a:ea typeface="Calibri"/>
                <a:cs typeface="Calibri"/>
                <a:sym typeface="Calibri"/>
              </a:rPr>
              <a:t> sin que pueda existir superposición de aportes; jubilaciones y pensiones móviles; la protección integral de la familia; la defensa del bien de familia; la compensación económica familiar y el acceso a una vivienda digna.</a:t>
            </a:r>
            <a:endParaRPr sz="1000">
              <a:solidFill>
                <a:schemeClr val="dk1"/>
              </a:solidFill>
              <a:latin typeface="Calibri"/>
              <a:ea typeface="Calibri"/>
              <a:cs typeface="Calibri"/>
              <a:sym typeface="Calibri"/>
            </a:endParaRPr>
          </a:p>
          <a:p>
            <a:pPr marL="0" lvl="0" indent="0" algn="l" rtl="0">
              <a:spcBef>
                <a:spcPts val="1800"/>
              </a:spcBef>
              <a:spcAft>
                <a:spcPts val="1800"/>
              </a:spcAft>
              <a:buNone/>
            </a:pPr>
            <a:r>
              <a:rPr lang="es-ES" sz="1000">
                <a:solidFill>
                  <a:schemeClr val="dk1"/>
                </a:solidFill>
                <a:latin typeface="Calibri"/>
                <a:ea typeface="Calibri"/>
                <a:cs typeface="Calibri"/>
                <a:sym typeface="Calibri"/>
              </a:rPr>
              <a:t>De la lectura deducimos lo siguiente:</a:t>
            </a:r>
            <a:endParaRPr sz="1000">
              <a:solidFill>
                <a:schemeClr val="dk1"/>
              </a:solidFill>
              <a:latin typeface="Calibri"/>
              <a:ea typeface="Calibri"/>
              <a:cs typeface="Calibri"/>
              <a:sym typeface="Calibri"/>
            </a:endParaRPr>
          </a:p>
        </p:txBody>
      </p:sp>
      <p:sp>
        <p:nvSpPr>
          <p:cNvPr id="146" name="Google Shape;146;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sz="1000" b="1" u="sng" dirty="0">
                <a:solidFill>
                  <a:schemeClr val="dk1"/>
                </a:solidFill>
                <a:latin typeface="Calibri"/>
                <a:ea typeface="Calibri"/>
                <a:cs typeface="Calibri"/>
                <a:sym typeface="Calibri"/>
              </a:rPr>
              <a:t>Condiciones dignas y equitativas de labor:</a:t>
            </a:r>
            <a:endParaRPr sz="1000" dirty="0">
              <a:solidFill>
                <a:schemeClr val="dk1"/>
              </a:solidFill>
              <a:latin typeface="Calibri"/>
              <a:ea typeface="Calibri"/>
              <a:cs typeface="Calibri"/>
              <a:sym typeface="Calibri"/>
            </a:endParaRPr>
          </a:p>
          <a:p>
            <a:pPr marL="0" lvl="0" indent="0" algn="l" rtl="0">
              <a:lnSpc>
                <a:spcPct val="107916"/>
              </a:lnSpc>
              <a:spcBef>
                <a:spcPts val="1800"/>
              </a:spcBef>
              <a:spcAft>
                <a:spcPts val="0"/>
              </a:spcAft>
              <a:buNone/>
            </a:pPr>
            <a:r>
              <a:rPr lang="es-ES" sz="1000" dirty="0">
                <a:solidFill>
                  <a:schemeClr val="dk1"/>
                </a:solidFill>
                <a:latin typeface="Calibri"/>
                <a:ea typeface="Calibri"/>
                <a:cs typeface="Calibri"/>
                <a:sym typeface="Calibri"/>
              </a:rPr>
              <a:t>Establece como tiene que ser el ambiente de trabajo, es decir tendiente a preservar la integridad física y psíquica. Por lo tanto, la constitución prevé indemnizaciones en caso de lesiones o enfermedades ocasionadas por el trabajo, así como jornadas diferentes para embarazadas y menores, o jubilaciones anticipadas para trabajos de alto riesgo (por ejemplo, los mineros a los 50 años de edad si trabajaron en el rubro durante 25 años si durante 15años trabajaron en condiciones insalubres).</a:t>
            </a:r>
            <a:endParaRPr sz="1000" dirty="0">
              <a:solidFill>
                <a:schemeClr val="dk1"/>
              </a:solidFill>
              <a:latin typeface="Calibri"/>
              <a:ea typeface="Calibri"/>
              <a:cs typeface="Calibri"/>
              <a:sym typeface="Calibri"/>
            </a:endParaRPr>
          </a:p>
          <a:p>
            <a:pPr marL="0" lvl="0" indent="0" algn="l" rtl="0">
              <a:spcBef>
                <a:spcPts val="800"/>
              </a:spcBef>
              <a:spcAft>
                <a:spcPts val="0"/>
              </a:spcAft>
              <a:buClr>
                <a:schemeClr val="dk1"/>
              </a:buClr>
              <a:buSzPts val="1100"/>
              <a:buFont typeface="Arial"/>
              <a:buNone/>
            </a:pPr>
            <a:endParaRPr sz="1000" dirty="0">
              <a:solidFill>
                <a:schemeClr val="dk1"/>
              </a:solidFill>
              <a:latin typeface="Calibri"/>
              <a:ea typeface="Calibri"/>
              <a:cs typeface="Calibri"/>
              <a:sym typeface="Calibri"/>
            </a:endParaRPr>
          </a:p>
          <a:p>
            <a:pPr marL="0" lvl="0" indent="0" algn="l" rtl="0">
              <a:spcBef>
                <a:spcPts val="1800"/>
              </a:spcBef>
              <a:spcAft>
                <a:spcPts val="0"/>
              </a:spcAft>
              <a:buNone/>
            </a:pPr>
            <a:endParaRPr dirty="0"/>
          </a:p>
        </p:txBody>
      </p:sp>
      <p:sp>
        <p:nvSpPr>
          <p:cNvPr id="151" name="Google Shape;151;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07916"/>
              </a:lnSpc>
              <a:spcBef>
                <a:spcPts val="0"/>
              </a:spcBef>
              <a:spcAft>
                <a:spcPts val="0"/>
              </a:spcAft>
              <a:buClr>
                <a:schemeClr val="dk1"/>
              </a:buClr>
              <a:buSzPts val="1100"/>
              <a:buFont typeface="Arial"/>
              <a:buNone/>
            </a:pPr>
            <a:r>
              <a:rPr lang="es-ES" sz="1000" b="1" u="sng">
                <a:solidFill>
                  <a:schemeClr val="dk1"/>
                </a:solidFill>
                <a:latin typeface="Calibri"/>
                <a:ea typeface="Calibri"/>
                <a:cs typeface="Calibri"/>
                <a:sym typeface="Calibri"/>
              </a:rPr>
              <a:t>Jornada de trabajo limitada:</a:t>
            </a:r>
            <a:endParaRPr sz="1000">
              <a:solidFill>
                <a:schemeClr val="dk1"/>
              </a:solidFill>
              <a:latin typeface="Calibri"/>
              <a:ea typeface="Calibri"/>
              <a:cs typeface="Calibri"/>
              <a:sym typeface="Calibri"/>
            </a:endParaRPr>
          </a:p>
          <a:p>
            <a:pPr marL="0" lvl="0" indent="0" algn="l" rtl="0">
              <a:lnSpc>
                <a:spcPct val="107916"/>
              </a:lnSpc>
              <a:spcBef>
                <a:spcPts val="800"/>
              </a:spcBef>
              <a:spcAft>
                <a:spcPts val="0"/>
              </a:spcAft>
              <a:buClr>
                <a:schemeClr val="dk1"/>
              </a:buClr>
              <a:buSzPts val="1100"/>
              <a:buFont typeface="Arial"/>
              <a:buNone/>
            </a:pPr>
            <a:r>
              <a:rPr lang="es-ES" sz="1000">
                <a:solidFill>
                  <a:schemeClr val="dk1"/>
                </a:solidFill>
                <a:latin typeface="Calibri"/>
                <a:ea typeface="Calibri"/>
                <a:cs typeface="Calibri"/>
                <a:sym typeface="Calibri"/>
              </a:rPr>
              <a:t>Lo normal son 8hs diarias o 48hs semanales, aunque en algunos empleos se exige 9hs los días avilés y 3hs el sábado. Para los menores es 7hs.</a:t>
            </a:r>
            <a:endParaRPr sz="1000">
              <a:solidFill>
                <a:schemeClr val="dk1"/>
              </a:solidFill>
              <a:latin typeface="Calibri"/>
              <a:ea typeface="Calibri"/>
              <a:cs typeface="Calibri"/>
              <a:sym typeface="Calibri"/>
            </a:endParaRPr>
          </a:p>
          <a:p>
            <a:pPr marL="0" lvl="0" indent="0" algn="l" rtl="0">
              <a:spcBef>
                <a:spcPts val="800"/>
              </a:spcBef>
              <a:spcAft>
                <a:spcPts val="0"/>
              </a:spcAft>
              <a:buNone/>
            </a:pPr>
            <a:endParaRPr/>
          </a:p>
        </p:txBody>
      </p:sp>
      <p:sp>
        <p:nvSpPr>
          <p:cNvPr id="156" name="Google Shape;156;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07916"/>
              </a:lnSpc>
              <a:spcBef>
                <a:spcPts val="0"/>
              </a:spcBef>
              <a:spcAft>
                <a:spcPts val="0"/>
              </a:spcAft>
              <a:buClr>
                <a:schemeClr val="dk1"/>
              </a:buClr>
              <a:buSzPts val="1100"/>
              <a:buFont typeface="Arial"/>
              <a:buNone/>
            </a:pPr>
            <a:r>
              <a:rPr lang="es-ES" sz="1000" b="1" u="sng" dirty="0">
                <a:solidFill>
                  <a:schemeClr val="dk1"/>
                </a:solidFill>
                <a:latin typeface="Calibri"/>
                <a:ea typeface="Calibri"/>
                <a:cs typeface="Calibri"/>
                <a:sym typeface="Calibri"/>
              </a:rPr>
              <a:t>Descanso y vacaciones pagas:</a:t>
            </a:r>
            <a:endParaRPr sz="1000" b="1" u="sng" dirty="0">
              <a:solidFill>
                <a:schemeClr val="dk1"/>
              </a:solidFill>
              <a:latin typeface="Calibri"/>
              <a:ea typeface="Calibri"/>
              <a:cs typeface="Calibri"/>
              <a:sym typeface="Calibri"/>
            </a:endParaRPr>
          </a:p>
          <a:p>
            <a:pPr marL="0" lvl="0" indent="0" algn="l" rtl="0">
              <a:lnSpc>
                <a:spcPct val="107916"/>
              </a:lnSpc>
              <a:spcBef>
                <a:spcPts val="800"/>
              </a:spcBef>
              <a:spcAft>
                <a:spcPts val="0"/>
              </a:spcAft>
              <a:buClr>
                <a:schemeClr val="dk1"/>
              </a:buClr>
              <a:buSzPts val="1100"/>
              <a:buFont typeface="Arial"/>
              <a:buNone/>
            </a:pPr>
            <a:r>
              <a:rPr lang="es-ES" sz="1000" dirty="0">
                <a:solidFill>
                  <a:schemeClr val="dk1"/>
                </a:solidFill>
                <a:latin typeface="Calibri"/>
                <a:ea typeface="Calibri"/>
                <a:cs typeface="Calibri"/>
                <a:sym typeface="Calibri"/>
              </a:rPr>
              <a:t>El empleador está obligado por ley a pagarle al empleado los días feriados y durante las vacaciones según lo que le corresponda por antigüedad.</a:t>
            </a:r>
            <a:endParaRPr sz="1000" dirty="0">
              <a:solidFill>
                <a:schemeClr val="dk1"/>
              </a:solidFill>
              <a:latin typeface="Calibri"/>
              <a:ea typeface="Calibri"/>
              <a:cs typeface="Calibri"/>
              <a:sym typeface="Calibri"/>
            </a:endParaRPr>
          </a:p>
          <a:p>
            <a:pPr marL="0" lvl="0" indent="0" algn="l" rtl="0">
              <a:spcBef>
                <a:spcPts val="800"/>
              </a:spcBef>
              <a:spcAft>
                <a:spcPts val="0"/>
              </a:spcAft>
              <a:buNone/>
            </a:pPr>
            <a:endParaRPr dirty="0"/>
          </a:p>
        </p:txBody>
      </p:sp>
      <p:sp>
        <p:nvSpPr>
          <p:cNvPr id="164" name="Google Shape;164;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07916"/>
              </a:lnSpc>
              <a:spcBef>
                <a:spcPts val="0"/>
              </a:spcBef>
              <a:spcAft>
                <a:spcPts val="0"/>
              </a:spcAft>
              <a:buClr>
                <a:schemeClr val="dk1"/>
              </a:buClr>
              <a:buSzPts val="1100"/>
              <a:buFont typeface="Arial"/>
              <a:buNone/>
            </a:pPr>
            <a:r>
              <a:rPr lang="es-ES" sz="1000" b="1" u="sng">
                <a:solidFill>
                  <a:schemeClr val="dk1"/>
                </a:solidFill>
                <a:latin typeface="Calibri"/>
                <a:ea typeface="Calibri"/>
                <a:cs typeface="Calibri"/>
                <a:sym typeface="Calibri"/>
              </a:rPr>
              <a:t>Retribución justa (económico y constitucionalidad):</a:t>
            </a:r>
            <a:endParaRPr sz="1000">
              <a:solidFill>
                <a:schemeClr val="dk1"/>
              </a:solidFill>
              <a:latin typeface="Calibri"/>
              <a:ea typeface="Calibri"/>
              <a:cs typeface="Calibri"/>
              <a:sym typeface="Calibri"/>
            </a:endParaRPr>
          </a:p>
          <a:p>
            <a:pPr marL="0" lvl="0" indent="0" algn="l" rtl="0">
              <a:lnSpc>
                <a:spcPct val="107916"/>
              </a:lnSpc>
              <a:spcBef>
                <a:spcPts val="800"/>
              </a:spcBef>
              <a:spcAft>
                <a:spcPts val="0"/>
              </a:spcAft>
              <a:buClr>
                <a:schemeClr val="dk1"/>
              </a:buClr>
              <a:buSzPts val="1100"/>
              <a:buFont typeface="Arial"/>
              <a:buNone/>
            </a:pPr>
            <a:r>
              <a:rPr lang="es-ES" sz="1000">
                <a:solidFill>
                  <a:schemeClr val="dk1"/>
                </a:solidFill>
                <a:latin typeface="Calibri"/>
                <a:ea typeface="Calibri"/>
                <a:cs typeface="Calibri"/>
                <a:sym typeface="Calibri"/>
              </a:rPr>
              <a:t>La ley dice que tiene que ser suficiente para la subsistencia propia y la de la familia. En la realidad no se cumplen, esto se debe a la situación económica un ejemplo o demostración es este grafico:</a:t>
            </a:r>
            <a:r>
              <a:rPr lang="es-ES">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0" lvl="0" indent="0" algn="l" rtl="0">
              <a:lnSpc>
                <a:spcPct val="107916"/>
              </a:lnSpc>
              <a:spcBef>
                <a:spcPts val="800"/>
              </a:spcBef>
              <a:spcAft>
                <a:spcPts val="0"/>
              </a:spcAft>
              <a:buNone/>
            </a:pPr>
            <a:r>
              <a:rPr lang="es-ES">
                <a:solidFill>
                  <a:schemeClr val="dk1"/>
                </a:solidFill>
                <a:latin typeface="Calibri"/>
                <a:ea typeface="Calibri"/>
                <a:cs typeface="Calibri"/>
                <a:sym typeface="Calibri"/>
              </a:rPr>
              <a:t>Como vivimos durante los ultimos tres y/o mas gobiernos sabemos la inflacion que ocaciono, pero durante la presidencia de Alberto fernandez ademas tuvimos la pandemia, destrullendo aun mas la economia, que genero esto que las personas necesiten mas dinero. Y que hicieron para conseguir mas dinero trabajaron mas, entonces si antes un trabajador registrado le alcanzaba con un solo empleo, ahora necesita dos, o sin dudas no puede hacer lo que antes hacia. Esto genera en algunas cabezas la idea de incostitucionalidad, pero la verdad es que no se lo discute.</a:t>
            </a:r>
            <a:endParaRPr>
              <a:solidFill>
                <a:schemeClr val="dk1"/>
              </a:solidFill>
              <a:latin typeface="Calibri"/>
              <a:ea typeface="Calibri"/>
              <a:cs typeface="Calibri"/>
              <a:sym typeface="Calibri"/>
            </a:endParaRPr>
          </a:p>
          <a:p>
            <a:pPr marL="0" lvl="0" indent="0" algn="l" rtl="0">
              <a:lnSpc>
                <a:spcPct val="107916"/>
              </a:lnSpc>
              <a:spcBef>
                <a:spcPts val="800"/>
              </a:spcBef>
              <a:spcAft>
                <a:spcPts val="800"/>
              </a:spcAft>
              <a:buClr>
                <a:schemeClr val="dk1"/>
              </a:buClr>
              <a:buSzPts val="1100"/>
              <a:buFont typeface="Arial"/>
              <a:buNone/>
            </a:pPr>
            <a:endParaRPr>
              <a:solidFill>
                <a:schemeClr val="dk1"/>
              </a:solidFill>
              <a:latin typeface="Calibri"/>
              <a:ea typeface="Calibri"/>
              <a:cs typeface="Calibri"/>
              <a:sym typeface="Calibri"/>
            </a:endParaRPr>
          </a:p>
        </p:txBody>
      </p:sp>
      <p:sp>
        <p:nvSpPr>
          <p:cNvPr id="177" name="Google Shape;177;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07916"/>
              </a:lnSpc>
              <a:spcBef>
                <a:spcPts val="0"/>
              </a:spcBef>
              <a:spcAft>
                <a:spcPts val="0"/>
              </a:spcAft>
              <a:buClr>
                <a:schemeClr val="dk1"/>
              </a:buClr>
              <a:buSzPts val="1100"/>
              <a:buFont typeface="Arial"/>
              <a:buNone/>
            </a:pPr>
            <a:r>
              <a:rPr lang="es-ES" sz="1000" b="1" u="sng">
                <a:solidFill>
                  <a:schemeClr val="dk1"/>
                </a:solidFill>
                <a:latin typeface="Calibri"/>
                <a:ea typeface="Calibri"/>
                <a:cs typeface="Calibri"/>
                <a:sym typeface="Calibri"/>
              </a:rPr>
              <a:t>Salario mínimo, vital y móvil:</a:t>
            </a:r>
            <a:endParaRPr sz="1000" b="1" u="sng">
              <a:solidFill>
                <a:schemeClr val="dk1"/>
              </a:solidFill>
              <a:latin typeface="Calibri"/>
              <a:ea typeface="Calibri"/>
              <a:cs typeface="Calibri"/>
              <a:sym typeface="Calibri"/>
            </a:endParaRPr>
          </a:p>
          <a:p>
            <a:pPr marL="0" lvl="0" indent="0" algn="l" rtl="0">
              <a:lnSpc>
                <a:spcPct val="107916"/>
              </a:lnSpc>
              <a:spcBef>
                <a:spcPts val="800"/>
              </a:spcBef>
              <a:spcAft>
                <a:spcPts val="0"/>
              </a:spcAft>
              <a:buClr>
                <a:schemeClr val="dk1"/>
              </a:buClr>
              <a:buSzPts val="1100"/>
              <a:buFont typeface="Arial"/>
              <a:buNone/>
            </a:pPr>
            <a:r>
              <a:rPr lang="es-ES" sz="1000">
                <a:solidFill>
                  <a:schemeClr val="dk1"/>
                </a:solidFill>
                <a:latin typeface="Calibri"/>
                <a:ea typeface="Calibri"/>
                <a:cs typeface="Calibri"/>
                <a:sym typeface="Calibri"/>
              </a:rPr>
              <a:t>Quiere decir que por lo menos tiene que poder satisfacer las necesidades del trabajador, vital porque le tiene que permitir vivir y móvil ya que se ajusta al aumento del costo de vida (en la práctica quiere decir que no se lo puede reducir).</a:t>
            </a:r>
            <a:endParaRPr sz="1000">
              <a:solidFill>
                <a:schemeClr val="dk1"/>
              </a:solidFill>
              <a:latin typeface="Calibri"/>
              <a:ea typeface="Calibri"/>
              <a:cs typeface="Calibri"/>
              <a:sym typeface="Calibri"/>
            </a:endParaRPr>
          </a:p>
          <a:p>
            <a:pPr marL="0" lvl="0" indent="0" algn="l" rtl="0">
              <a:spcBef>
                <a:spcPts val="800"/>
              </a:spcBef>
              <a:spcAft>
                <a:spcPts val="0"/>
              </a:spcAft>
              <a:buNone/>
            </a:pPr>
            <a:endParaRPr/>
          </a:p>
        </p:txBody>
      </p:sp>
      <p:sp>
        <p:nvSpPr>
          <p:cNvPr id="186" name="Google Shape;186;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07916"/>
              </a:lnSpc>
              <a:spcBef>
                <a:spcPts val="0"/>
              </a:spcBef>
              <a:spcAft>
                <a:spcPts val="0"/>
              </a:spcAft>
              <a:buClr>
                <a:schemeClr val="dk1"/>
              </a:buClr>
              <a:buSzPts val="1100"/>
              <a:buFont typeface="Arial"/>
              <a:buNone/>
            </a:pPr>
            <a:r>
              <a:rPr lang="es-ES" sz="1000" b="1" u="sng">
                <a:solidFill>
                  <a:schemeClr val="dk1"/>
                </a:solidFill>
                <a:latin typeface="Calibri"/>
                <a:ea typeface="Calibri"/>
                <a:cs typeface="Calibri"/>
                <a:sym typeface="Calibri"/>
              </a:rPr>
              <a:t>Igual remuneración por igual tarea:</a:t>
            </a:r>
            <a:endParaRPr sz="1000">
              <a:solidFill>
                <a:schemeClr val="dk1"/>
              </a:solidFill>
              <a:latin typeface="Calibri"/>
              <a:ea typeface="Calibri"/>
              <a:cs typeface="Calibri"/>
              <a:sym typeface="Calibri"/>
            </a:endParaRPr>
          </a:p>
          <a:p>
            <a:pPr marL="0" lvl="0" indent="0" algn="l" rtl="0">
              <a:lnSpc>
                <a:spcPct val="107916"/>
              </a:lnSpc>
              <a:spcBef>
                <a:spcPts val="800"/>
              </a:spcBef>
              <a:spcAft>
                <a:spcPts val="0"/>
              </a:spcAft>
              <a:buClr>
                <a:schemeClr val="dk1"/>
              </a:buClr>
              <a:buSzPts val="1100"/>
              <a:buFont typeface="Arial"/>
              <a:buNone/>
            </a:pPr>
            <a:r>
              <a:rPr lang="es-ES" sz="1000">
                <a:solidFill>
                  <a:schemeClr val="dk1"/>
                </a:solidFill>
                <a:latin typeface="Calibri"/>
                <a:ea typeface="Calibri"/>
                <a:cs typeface="Calibri"/>
                <a:sym typeface="Calibri"/>
              </a:rPr>
              <a:t>En pocas palabras evita que los empleadores puedan hacer discriminación a la hora de la paga. Por lo que si quiere recompensar algo en particular lo debe hacer a través de bonos o premios.</a:t>
            </a:r>
            <a:endParaRPr sz="1000">
              <a:solidFill>
                <a:schemeClr val="dk1"/>
              </a:solidFill>
              <a:latin typeface="Calibri"/>
              <a:ea typeface="Calibri"/>
              <a:cs typeface="Calibri"/>
              <a:sym typeface="Calibri"/>
            </a:endParaRPr>
          </a:p>
          <a:p>
            <a:pPr marL="0" lvl="0" indent="0" algn="l" rtl="0">
              <a:spcBef>
                <a:spcPts val="800"/>
              </a:spcBef>
              <a:spcAft>
                <a:spcPts val="0"/>
              </a:spcAft>
              <a:buNone/>
            </a:pPr>
            <a:endParaRPr/>
          </a:p>
        </p:txBody>
      </p:sp>
      <p:sp>
        <p:nvSpPr>
          <p:cNvPr id="192" name="Google Shape;192;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07916"/>
              </a:lnSpc>
              <a:spcBef>
                <a:spcPts val="0"/>
              </a:spcBef>
              <a:spcAft>
                <a:spcPts val="0"/>
              </a:spcAft>
              <a:buClr>
                <a:schemeClr val="dk1"/>
              </a:buClr>
              <a:buSzPts val="1100"/>
              <a:buFont typeface="Arial"/>
              <a:buNone/>
            </a:pPr>
            <a:r>
              <a:rPr lang="es-ES" sz="1000" b="1" u="sng">
                <a:solidFill>
                  <a:schemeClr val="dk1"/>
                </a:solidFill>
                <a:latin typeface="Calibri"/>
                <a:ea typeface="Calibri"/>
                <a:cs typeface="Calibri"/>
                <a:sym typeface="Calibri"/>
              </a:rPr>
              <a:t>Participación en las ganancias de las empresas, con control de la producción y colaboración en la dirección: </a:t>
            </a:r>
            <a:endParaRPr sz="1000" b="1" u="sng">
              <a:solidFill>
                <a:schemeClr val="dk1"/>
              </a:solidFill>
              <a:latin typeface="Calibri"/>
              <a:ea typeface="Calibri"/>
              <a:cs typeface="Calibri"/>
              <a:sym typeface="Calibri"/>
            </a:endParaRPr>
          </a:p>
          <a:p>
            <a:pPr marL="0" lvl="0" indent="0" algn="l" rtl="0">
              <a:lnSpc>
                <a:spcPct val="107916"/>
              </a:lnSpc>
              <a:spcBef>
                <a:spcPts val="800"/>
              </a:spcBef>
              <a:spcAft>
                <a:spcPts val="0"/>
              </a:spcAft>
              <a:buClr>
                <a:schemeClr val="dk1"/>
              </a:buClr>
              <a:buSzPts val="1100"/>
              <a:buFont typeface="Arial"/>
              <a:buNone/>
            </a:pPr>
            <a:r>
              <a:rPr lang="es-ES" sz="1000">
                <a:solidFill>
                  <a:schemeClr val="dk1"/>
                </a:solidFill>
                <a:latin typeface="Calibri"/>
                <a:ea typeface="Calibri"/>
                <a:cs typeface="Calibri"/>
                <a:sym typeface="Calibri"/>
              </a:rPr>
              <a:t>Es una norma que necesita de otra ley para ser aplicada, es decir es pragmática. Que es lo que intenta decir, este es un ejemplo:</a:t>
            </a:r>
            <a:endParaRPr sz="1000">
              <a:solidFill>
                <a:schemeClr val="dk1"/>
              </a:solidFill>
              <a:latin typeface="Calibri"/>
              <a:ea typeface="Calibri"/>
              <a:cs typeface="Calibri"/>
              <a:sym typeface="Calibri"/>
            </a:endParaRPr>
          </a:p>
          <a:p>
            <a:pPr marL="0" lvl="0" indent="0" algn="l" rtl="0">
              <a:lnSpc>
                <a:spcPct val="107916"/>
              </a:lnSpc>
              <a:spcBef>
                <a:spcPts val="800"/>
              </a:spcBef>
              <a:spcAft>
                <a:spcPts val="0"/>
              </a:spcAft>
              <a:buClr>
                <a:schemeClr val="dk1"/>
              </a:buClr>
              <a:buSzPts val="1100"/>
              <a:buFont typeface="Arial"/>
              <a:buNone/>
            </a:pPr>
            <a:r>
              <a:rPr lang="es-ES" sz="1000">
                <a:solidFill>
                  <a:schemeClr val="dk1"/>
                </a:solidFill>
                <a:latin typeface="Calibri"/>
                <a:ea typeface="Calibri"/>
                <a:cs typeface="Calibri"/>
                <a:sym typeface="Calibri"/>
              </a:rPr>
              <a:t>Supongamos que Samsung tienen un empleado de marketing que le ayuda a vender sus productos y de repente tienen mucho éxito y las ganancias aumentan drásticamente, lo que pretende esta ley es que las ganancias “extras” no se las quede solo la compañía, sino que todos reciban una parte.</a:t>
            </a:r>
            <a:endParaRPr sz="1000">
              <a:solidFill>
                <a:schemeClr val="dk1"/>
              </a:solidFill>
              <a:latin typeface="Calibri"/>
              <a:ea typeface="Calibri"/>
              <a:cs typeface="Calibri"/>
              <a:sym typeface="Calibri"/>
            </a:endParaRPr>
          </a:p>
          <a:p>
            <a:pPr marL="0" lvl="0" indent="0" algn="l" rtl="0">
              <a:lnSpc>
                <a:spcPct val="107916"/>
              </a:lnSpc>
              <a:spcBef>
                <a:spcPts val="800"/>
              </a:spcBef>
              <a:spcAft>
                <a:spcPts val="0"/>
              </a:spcAft>
              <a:buClr>
                <a:schemeClr val="dk1"/>
              </a:buClr>
              <a:buSzPts val="1100"/>
              <a:buFont typeface="Arial"/>
              <a:buNone/>
            </a:pPr>
            <a:r>
              <a:rPr lang="es-ES" sz="1000">
                <a:solidFill>
                  <a:schemeClr val="dk1"/>
                </a:solidFill>
                <a:latin typeface="Calibri"/>
                <a:ea typeface="Calibri"/>
                <a:cs typeface="Calibri"/>
                <a:sym typeface="Calibri"/>
              </a:rPr>
              <a:t>Dicho de otro modo, si ganamos, ganamos todos.</a:t>
            </a:r>
            <a:endParaRPr sz="1000">
              <a:solidFill>
                <a:schemeClr val="dk1"/>
              </a:solidFill>
              <a:latin typeface="Calibri"/>
              <a:ea typeface="Calibri"/>
              <a:cs typeface="Calibri"/>
              <a:sym typeface="Calibri"/>
            </a:endParaRPr>
          </a:p>
          <a:p>
            <a:pPr marL="0" lvl="0" indent="0" algn="l" rtl="0">
              <a:spcBef>
                <a:spcPts val="800"/>
              </a:spcBef>
              <a:spcAft>
                <a:spcPts val="0"/>
              </a:spcAft>
              <a:buNone/>
            </a:pPr>
            <a:endParaRPr/>
          </a:p>
        </p:txBody>
      </p:sp>
      <p:sp>
        <p:nvSpPr>
          <p:cNvPr id="200" name="Google Shape;200;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07916"/>
              </a:lnSpc>
              <a:spcBef>
                <a:spcPts val="0"/>
              </a:spcBef>
              <a:spcAft>
                <a:spcPts val="0"/>
              </a:spcAft>
              <a:buClr>
                <a:schemeClr val="dk1"/>
              </a:buClr>
              <a:buSzPts val="1100"/>
              <a:buFont typeface="Arial"/>
              <a:buNone/>
            </a:pPr>
            <a:r>
              <a:rPr lang="es-ES" sz="1000" b="1" u="sng">
                <a:solidFill>
                  <a:schemeClr val="dk1"/>
                </a:solidFill>
                <a:latin typeface="Calibri"/>
                <a:ea typeface="Calibri"/>
                <a:cs typeface="Calibri"/>
                <a:sym typeface="Calibri"/>
              </a:rPr>
              <a:t>Protección contra el despido arbitrario:</a:t>
            </a:r>
            <a:endParaRPr sz="1000">
              <a:solidFill>
                <a:schemeClr val="dk1"/>
              </a:solidFill>
              <a:latin typeface="Calibri"/>
              <a:ea typeface="Calibri"/>
              <a:cs typeface="Calibri"/>
              <a:sym typeface="Calibri"/>
            </a:endParaRPr>
          </a:p>
          <a:p>
            <a:pPr marL="0" lvl="0" indent="0" algn="l" rtl="0">
              <a:lnSpc>
                <a:spcPct val="107916"/>
              </a:lnSpc>
              <a:spcBef>
                <a:spcPts val="800"/>
              </a:spcBef>
              <a:spcAft>
                <a:spcPts val="0"/>
              </a:spcAft>
              <a:buClr>
                <a:schemeClr val="dk1"/>
              </a:buClr>
              <a:buSzPts val="1100"/>
              <a:buFont typeface="Arial"/>
              <a:buNone/>
            </a:pPr>
            <a:r>
              <a:rPr lang="es-ES" sz="1000">
                <a:solidFill>
                  <a:schemeClr val="dk1"/>
                </a:solidFill>
                <a:latin typeface="Calibri"/>
                <a:ea typeface="Calibri"/>
                <a:cs typeface="Calibri"/>
                <a:sym typeface="Calibri"/>
              </a:rPr>
              <a:t>Pero antes que es un despido arbitrario:</a:t>
            </a:r>
            <a:endParaRPr sz="1000">
              <a:solidFill>
                <a:schemeClr val="dk1"/>
              </a:solidFill>
              <a:latin typeface="Calibri"/>
              <a:ea typeface="Calibri"/>
              <a:cs typeface="Calibri"/>
              <a:sym typeface="Calibri"/>
            </a:endParaRPr>
          </a:p>
          <a:p>
            <a:pPr marL="0" lvl="0" indent="0" algn="l" rtl="0">
              <a:lnSpc>
                <a:spcPct val="107916"/>
              </a:lnSpc>
              <a:spcBef>
                <a:spcPts val="800"/>
              </a:spcBef>
              <a:spcAft>
                <a:spcPts val="0"/>
              </a:spcAft>
              <a:buClr>
                <a:schemeClr val="dk1"/>
              </a:buClr>
              <a:buSzPts val="1100"/>
              <a:buFont typeface="Arial"/>
              <a:buNone/>
            </a:pPr>
            <a:r>
              <a:rPr lang="es-ES" sz="1000">
                <a:solidFill>
                  <a:schemeClr val="dk1"/>
                </a:solidFill>
                <a:latin typeface="Calibri"/>
                <a:ea typeface="Calibri"/>
                <a:cs typeface="Calibri"/>
                <a:sym typeface="Calibri"/>
              </a:rPr>
              <a:t>Cuando se realiza sin causo y sin indemnización, cuáles son las causas validas:</a:t>
            </a:r>
            <a:endParaRPr sz="1000">
              <a:solidFill>
                <a:schemeClr val="dk1"/>
              </a:solidFill>
              <a:latin typeface="Calibri"/>
              <a:ea typeface="Calibri"/>
              <a:cs typeface="Calibri"/>
              <a:sym typeface="Calibri"/>
            </a:endParaRPr>
          </a:p>
          <a:p>
            <a:pPr marL="0" lvl="0" indent="0" algn="l" rtl="0">
              <a:spcBef>
                <a:spcPts val="800"/>
              </a:spcBef>
              <a:spcAft>
                <a:spcPts val="0"/>
              </a:spcAft>
              <a:buNone/>
            </a:pPr>
            <a:endParaRPr sz="1000" b="1" u="sng">
              <a:solidFill>
                <a:schemeClr val="dk1"/>
              </a:solidFill>
              <a:latin typeface="Calibri"/>
              <a:ea typeface="Calibri"/>
              <a:cs typeface="Calibri"/>
              <a:sym typeface="Calibri"/>
            </a:endParaRPr>
          </a:p>
        </p:txBody>
      </p:sp>
      <p:sp>
        <p:nvSpPr>
          <p:cNvPr id="212" name="Google Shape;212;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9" name="Google Shape;219;p1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685800" lvl="0" indent="-292100" algn="l" rtl="0">
              <a:spcBef>
                <a:spcPts val="1400"/>
              </a:spcBef>
              <a:spcAft>
                <a:spcPts val="0"/>
              </a:spcAft>
              <a:buClr>
                <a:schemeClr val="dk1"/>
              </a:buClr>
              <a:buSzPts val="1000"/>
              <a:buFont typeface="Calibri"/>
              <a:buChar char="●"/>
            </a:pPr>
            <a:r>
              <a:rPr lang="es-ES" sz="1000">
                <a:solidFill>
                  <a:schemeClr val="dk1"/>
                </a:solidFill>
                <a:latin typeface="Calibri"/>
                <a:ea typeface="Calibri"/>
                <a:cs typeface="Calibri"/>
                <a:sym typeface="Calibri"/>
              </a:rPr>
              <a:t>Engaño durante el proceso de contratación</a:t>
            </a:r>
            <a:endParaRPr sz="1000">
              <a:solidFill>
                <a:schemeClr val="dk1"/>
              </a:solidFill>
              <a:latin typeface="Calibri"/>
              <a:ea typeface="Calibri"/>
              <a:cs typeface="Calibri"/>
              <a:sym typeface="Calibri"/>
            </a:endParaRPr>
          </a:p>
          <a:p>
            <a:pPr marL="685800" lvl="0" indent="-292100" algn="l" rtl="0">
              <a:spcBef>
                <a:spcPts val="0"/>
              </a:spcBef>
              <a:spcAft>
                <a:spcPts val="0"/>
              </a:spcAft>
              <a:buClr>
                <a:schemeClr val="dk1"/>
              </a:buClr>
              <a:buSzPts val="1000"/>
              <a:buFont typeface="Calibri"/>
              <a:buChar char="●"/>
            </a:pPr>
            <a:r>
              <a:rPr lang="es-ES" sz="1000">
                <a:solidFill>
                  <a:schemeClr val="dk1"/>
                </a:solidFill>
                <a:latin typeface="Calibri"/>
                <a:ea typeface="Calibri"/>
                <a:cs typeface="Calibri"/>
                <a:sym typeface="Calibri"/>
              </a:rPr>
              <a:t>Faltas de probidad u honradez: comportamientos como la violencia, la deshonestidad o la falta de ética.</a:t>
            </a:r>
            <a:endParaRPr sz="1000">
              <a:solidFill>
                <a:schemeClr val="dk1"/>
              </a:solidFill>
              <a:latin typeface="Calibri"/>
              <a:ea typeface="Calibri"/>
              <a:cs typeface="Calibri"/>
              <a:sym typeface="Calibri"/>
            </a:endParaRPr>
          </a:p>
          <a:p>
            <a:pPr marL="685800" lvl="0" indent="-292100" algn="l" rtl="0">
              <a:spcBef>
                <a:spcPts val="0"/>
              </a:spcBef>
              <a:spcAft>
                <a:spcPts val="0"/>
              </a:spcAft>
              <a:buClr>
                <a:schemeClr val="dk1"/>
              </a:buClr>
              <a:buSzPts val="1000"/>
              <a:buFont typeface="Calibri"/>
              <a:buChar char="●"/>
            </a:pPr>
            <a:r>
              <a:rPr lang="es-ES" sz="1000">
                <a:solidFill>
                  <a:schemeClr val="dk1"/>
                </a:solidFill>
                <a:latin typeface="Calibri"/>
                <a:ea typeface="Calibri"/>
                <a:cs typeface="Calibri"/>
                <a:sym typeface="Calibri"/>
              </a:rPr>
              <a:t>Acoso laboral</a:t>
            </a:r>
            <a:endParaRPr sz="1000">
              <a:solidFill>
                <a:schemeClr val="dk1"/>
              </a:solidFill>
              <a:latin typeface="Calibri"/>
              <a:ea typeface="Calibri"/>
              <a:cs typeface="Calibri"/>
              <a:sym typeface="Calibri"/>
            </a:endParaRPr>
          </a:p>
          <a:p>
            <a:pPr marL="685800" lvl="0" indent="-292100" algn="l" rtl="0">
              <a:spcBef>
                <a:spcPts val="0"/>
              </a:spcBef>
              <a:spcAft>
                <a:spcPts val="0"/>
              </a:spcAft>
              <a:buClr>
                <a:schemeClr val="dk1"/>
              </a:buClr>
              <a:buSzPts val="1000"/>
              <a:buFont typeface="Calibri"/>
              <a:buChar char="●"/>
            </a:pPr>
            <a:r>
              <a:rPr lang="es-ES" sz="1000">
                <a:solidFill>
                  <a:schemeClr val="dk1"/>
                </a:solidFill>
                <a:latin typeface="Calibri"/>
                <a:ea typeface="Calibri"/>
                <a:cs typeface="Calibri"/>
                <a:sym typeface="Calibri"/>
              </a:rPr>
              <a:t>Daños materiales intencionales o negligentes: si un empleado causa daños materiales a la empresa, ya sea de forma intencional o por negligencia grave.</a:t>
            </a:r>
            <a:endParaRPr sz="1000">
              <a:solidFill>
                <a:schemeClr val="dk1"/>
              </a:solidFill>
              <a:latin typeface="Calibri"/>
              <a:ea typeface="Calibri"/>
              <a:cs typeface="Calibri"/>
              <a:sym typeface="Calibri"/>
            </a:endParaRPr>
          </a:p>
          <a:p>
            <a:pPr marL="685800" lvl="0" indent="-292100" algn="l" rtl="0">
              <a:spcBef>
                <a:spcPts val="0"/>
              </a:spcBef>
              <a:spcAft>
                <a:spcPts val="0"/>
              </a:spcAft>
              <a:buClr>
                <a:schemeClr val="dk1"/>
              </a:buClr>
              <a:buSzPts val="1000"/>
              <a:buFont typeface="Calibri"/>
              <a:buChar char="●"/>
            </a:pPr>
            <a:r>
              <a:rPr lang="es-ES" sz="1000">
                <a:solidFill>
                  <a:schemeClr val="dk1"/>
                </a:solidFill>
                <a:latin typeface="Calibri"/>
                <a:ea typeface="Calibri"/>
                <a:cs typeface="Calibri"/>
                <a:sym typeface="Calibri"/>
              </a:rPr>
              <a:t>Insubordinación: la desobediencia injustificada.</a:t>
            </a:r>
            <a:endParaRPr sz="1000">
              <a:solidFill>
                <a:schemeClr val="dk1"/>
              </a:solidFill>
              <a:latin typeface="Calibri"/>
              <a:ea typeface="Calibri"/>
              <a:cs typeface="Calibri"/>
              <a:sym typeface="Calibri"/>
            </a:endParaRPr>
          </a:p>
          <a:p>
            <a:pPr marL="685800" lvl="0" indent="-292100" algn="l" rtl="0">
              <a:spcBef>
                <a:spcPts val="0"/>
              </a:spcBef>
              <a:spcAft>
                <a:spcPts val="0"/>
              </a:spcAft>
              <a:buClr>
                <a:schemeClr val="dk1"/>
              </a:buClr>
              <a:buSzPts val="1000"/>
              <a:buFont typeface="Calibri"/>
              <a:buChar char="●"/>
            </a:pPr>
            <a:r>
              <a:rPr lang="es-ES" sz="1000">
                <a:solidFill>
                  <a:schemeClr val="dk1"/>
                </a:solidFill>
                <a:latin typeface="Calibri"/>
                <a:ea typeface="Calibri"/>
                <a:cs typeface="Calibri"/>
                <a:sym typeface="Calibri"/>
              </a:rPr>
              <a:t>Presencia en el trabajo bajo la influencia de alcohol o drogas:  excepto con prescripción médica.</a:t>
            </a:r>
            <a:endParaRPr sz="1000">
              <a:solidFill>
                <a:schemeClr val="dk1"/>
              </a:solidFill>
              <a:latin typeface="Calibri"/>
              <a:ea typeface="Calibri"/>
              <a:cs typeface="Calibri"/>
              <a:sym typeface="Calibri"/>
            </a:endParaRPr>
          </a:p>
          <a:p>
            <a:pPr marL="685800" lvl="0" indent="-292100" algn="l" rtl="0">
              <a:spcBef>
                <a:spcPts val="0"/>
              </a:spcBef>
              <a:spcAft>
                <a:spcPts val="0"/>
              </a:spcAft>
              <a:buClr>
                <a:schemeClr val="dk1"/>
              </a:buClr>
              <a:buSzPts val="1000"/>
              <a:buFont typeface="Calibri"/>
              <a:buChar char="●"/>
            </a:pPr>
            <a:r>
              <a:rPr lang="es-ES" sz="1000">
                <a:solidFill>
                  <a:schemeClr val="dk1"/>
                </a:solidFill>
                <a:latin typeface="Calibri"/>
                <a:ea typeface="Calibri"/>
                <a:cs typeface="Calibri"/>
                <a:sym typeface="Calibri"/>
              </a:rPr>
              <a:t>Faltas de asistencia injustificadas:  más de tres faltas de asistencia en un período de treinta días sin una justificación.</a:t>
            </a:r>
            <a:endParaRPr sz="1000">
              <a:solidFill>
                <a:schemeClr val="dk1"/>
              </a:solidFill>
              <a:latin typeface="Calibri"/>
              <a:ea typeface="Calibri"/>
              <a:cs typeface="Calibri"/>
              <a:sym typeface="Calibri"/>
            </a:endParaRPr>
          </a:p>
          <a:p>
            <a:pPr marL="685800" lvl="0" indent="-292100" algn="l" rtl="0">
              <a:spcBef>
                <a:spcPts val="0"/>
              </a:spcBef>
              <a:spcAft>
                <a:spcPts val="0"/>
              </a:spcAft>
              <a:buClr>
                <a:schemeClr val="dk1"/>
              </a:buClr>
              <a:buSzPts val="1000"/>
              <a:buFont typeface="Calibri"/>
              <a:buChar char="●"/>
            </a:pPr>
            <a:r>
              <a:rPr lang="es-ES" sz="1000">
                <a:solidFill>
                  <a:schemeClr val="dk1"/>
                </a:solidFill>
                <a:latin typeface="Calibri"/>
                <a:ea typeface="Calibri"/>
                <a:cs typeface="Calibri"/>
                <a:sym typeface="Calibri"/>
              </a:rPr>
              <a:t>Revelación de secretos comerciales: La divulgación de información confidencial de la compañía.</a:t>
            </a:r>
            <a:endParaRPr sz="1000">
              <a:solidFill>
                <a:schemeClr val="dk1"/>
              </a:solidFill>
              <a:latin typeface="Calibri"/>
              <a:ea typeface="Calibri"/>
              <a:cs typeface="Calibri"/>
              <a:sym typeface="Calibri"/>
            </a:endParaRPr>
          </a:p>
          <a:p>
            <a:pPr marL="0" lvl="0" indent="0" algn="l" rtl="0">
              <a:spcBef>
                <a:spcPts val="1800"/>
              </a:spcBef>
              <a:spcAft>
                <a:spcPts val="0"/>
              </a:spcAft>
              <a:buNone/>
            </a:pPr>
            <a:endParaRPr/>
          </a:p>
        </p:txBody>
      </p:sp>
      <p:sp>
        <p:nvSpPr>
          <p:cNvPr id="230" name="Google Shape;230;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07916"/>
              </a:lnSpc>
              <a:spcBef>
                <a:spcPts val="0"/>
              </a:spcBef>
              <a:spcAft>
                <a:spcPts val="0"/>
              </a:spcAft>
              <a:buClr>
                <a:schemeClr val="dk1"/>
              </a:buClr>
              <a:buSzPts val="1100"/>
              <a:buFont typeface="Arial"/>
              <a:buNone/>
            </a:pPr>
            <a:r>
              <a:rPr lang="es-ES" sz="1000" b="1" u="sng">
                <a:solidFill>
                  <a:schemeClr val="dk1"/>
                </a:solidFill>
                <a:latin typeface="Calibri"/>
                <a:ea typeface="Calibri"/>
                <a:cs typeface="Calibri"/>
                <a:sym typeface="Calibri"/>
              </a:rPr>
              <a:t>Estabilidad del empleo público:</a:t>
            </a:r>
            <a:endParaRPr sz="1000" b="1" u="sng">
              <a:solidFill>
                <a:schemeClr val="dk1"/>
              </a:solidFill>
              <a:latin typeface="Calibri"/>
              <a:ea typeface="Calibri"/>
              <a:cs typeface="Calibri"/>
              <a:sym typeface="Calibri"/>
            </a:endParaRPr>
          </a:p>
          <a:p>
            <a:pPr marL="0" lvl="0" indent="0" algn="l" rtl="0">
              <a:lnSpc>
                <a:spcPct val="107916"/>
              </a:lnSpc>
              <a:spcBef>
                <a:spcPts val="800"/>
              </a:spcBef>
              <a:spcAft>
                <a:spcPts val="0"/>
              </a:spcAft>
              <a:buClr>
                <a:schemeClr val="dk1"/>
              </a:buClr>
              <a:buSzPts val="1100"/>
              <a:buFont typeface="Arial"/>
              <a:buNone/>
            </a:pPr>
            <a:r>
              <a:rPr lang="es-ES" sz="1000">
                <a:solidFill>
                  <a:schemeClr val="dk1"/>
                </a:solidFill>
                <a:latin typeface="Calibri"/>
                <a:ea typeface="Calibri"/>
                <a:cs typeface="Calibri"/>
                <a:sym typeface="Calibri"/>
              </a:rPr>
              <a:t>Básicamente lo que quiere decir es que no se los puede despedir, aunque se les dé una remuneración. En palabras más simples si o si se necesita un motivo, aunque esto ha ido cambiando a lo largo del tiempo y depende de la consideración del juez.</a:t>
            </a:r>
            <a:endParaRPr sz="1000">
              <a:solidFill>
                <a:schemeClr val="dk1"/>
              </a:solidFill>
              <a:latin typeface="Calibri"/>
              <a:ea typeface="Calibri"/>
              <a:cs typeface="Calibri"/>
              <a:sym typeface="Calibri"/>
            </a:endParaRPr>
          </a:p>
          <a:p>
            <a:pPr marL="0" lvl="0" indent="0" algn="l" rtl="0">
              <a:spcBef>
                <a:spcPts val="800"/>
              </a:spcBef>
              <a:spcAft>
                <a:spcPts val="0"/>
              </a:spcAft>
              <a:buNone/>
            </a:pPr>
            <a:endParaRPr/>
          </a:p>
        </p:txBody>
      </p:sp>
      <p:sp>
        <p:nvSpPr>
          <p:cNvPr id="243" name="Google Shape;24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07916"/>
              </a:lnSpc>
              <a:spcBef>
                <a:spcPts val="0"/>
              </a:spcBef>
              <a:spcAft>
                <a:spcPts val="0"/>
              </a:spcAft>
              <a:buClr>
                <a:schemeClr val="dk1"/>
              </a:buClr>
              <a:buSzPts val="1100"/>
              <a:buFont typeface="Arial"/>
              <a:buNone/>
            </a:pPr>
            <a:r>
              <a:rPr lang="es-ES" sz="1000" b="1" u="sng">
                <a:solidFill>
                  <a:schemeClr val="dk1"/>
                </a:solidFill>
                <a:latin typeface="Calibri"/>
                <a:ea typeface="Calibri"/>
                <a:cs typeface="Calibri"/>
                <a:sym typeface="Calibri"/>
              </a:rPr>
              <a:t>Organización sindical libre y democrática, reconocida por la simple inscripción en un registro especial:</a:t>
            </a:r>
            <a:endParaRPr sz="1000" b="1" u="sng">
              <a:solidFill>
                <a:schemeClr val="dk1"/>
              </a:solidFill>
              <a:latin typeface="Calibri"/>
              <a:ea typeface="Calibri"/>
              <a:cs typeface="Calibri"/>
              <a:sym typeface="Calibri"/>
            </a:endParaRPr>
          </a:p>
          <a:p>
            <a:pPr marL="0" lvl="0" indent="0" algn="l" rtl="0">
              <a:lnSpc>
                <a:spcPct val="107916"/>
              </a:lnSpc>
              <a:spcBef>
                <a:spcPts val="800"/>
              </a:spcBef>
              <a:spcAft>
                <a:spcPts val="800"/>
              </a:spcAft>
              <a:buClr>
                <a:schemeClr val="dk1"/>
              </a:buClr>
              <a:buSzPts val="1100"/>
              <a:buFont typeface="Arial"/>
              <a:buNone/>
            </a:pPr>
            <a:r>
              <a:rPr lang="es-ES" sz="1000">
                <a:solidFill>
                  <a:schemeClr val="dk1"/>
                </a:solidFill>
                <a:latin typeface="Calibri"/>
                <a:ea typeface="Calibri"/>
                <a:cs typeface="Calibri"/>
                <a:sym typeface="Calibri"/>
              </a:rPr>
              <a:t>Antes debo explicar la diferencia entre gremio y sindicato:</a:t>
            </a:r>
            <a:endParaRPr sz="1000" b="1" u="sng">
              <a:solidFill>
                <a:schemeClr val="dk1"/>
              </a:solidFill>
              <a:latin typeface="Calibri"/>
              <a:ea typeface="Calibri"/>
              <a:cs typeface="Calibri"/>
              <a:sym typeface="Calibri"/>
            </a:endParaRPr>
          </a:p>
        </p:txBody>
      </p:sp>
      <p:sp>
        <p:nvSpPr>
          <p:cNvPr id="251" name="Google Shape;251;p2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07916"/>
              </a:lnSpc>
              <a:spcBef>
                <a:spcPts val="0"/>
              </a:spcBef>
              <a:spcAft>
                <a:spcPts val="0"/>
              </a:spcAft>
              <a:buClr>
                <a:schemeClr val="dk1"/>
              </a:buClr>
              <a:buSzPts val="1100"/>
              <a:buFont typeface="Arial"/>
              <a:buNone/>
            </a:pPr>
            <a:r>
              <a:rPr lang="es-ES" sz="1000">
                <a:solidFill>
                  <a:schemeClr val="dk1"/>
                </a:solidFill>
                <a:latin typeface="Calibri"/>
                <a:ea typeface="Calibri"/>
                <a:cs typeface="Calibri"/>
                <a:sym typeface="Calibri"/>
              </a:rPr>
              <a:t>Gremio: Es una asociación a la que sí o sí se forma parte al ejercer esa actividad.</a:t>
            </a:r>
            <a:endParaRPr sz="1000">
              <a:solidFill>
                <a:schemeClr val="dk1"/>
              </a:solidFill>
              <a:latin typeface="Calibri"/>
              <a:ea typeface="Calibri"/>
              <a:cs typeface="Calibri"/>
              <a:sym typeface="Calibri"/>
            </a:endParaRPr>
          </a:p>
          <a:p>
            <a:pPr marL="0" lvl="0" indent="0" algn="l" rtl="0">
              <a:lnSpc>
                <a:spcPct val="107916"/>
              </a:lnSpc>
              <a:spcBef>
                <a:spcPts val="800"/>
              </a:spcBef>
              <a:spcAft>
                <a:spcPts val="0"/>
              </a:spcAft>
              <a:buClr>
                <a:schemeClr val="dk1"/>
              </a:buClr>
              <a:buSzPts val="1100"/>
              <a:buFont typeface="Arial"/>
              <a:buNone/>
            </a:pPr>
            <a:r>
              <a:rPr lang="es-ES" sz="1000">
                <a:solidFill>
                  <a:schemeClr val="dk1"/>
                </a:solidFill>
                <a:latin typeface="Calibri"/>
                <a:ea typeface="Calibri"/>
                <a:cs typeface="Calibri"/>
                <a:sym typeface="Calibri"/>
              </a:rPr>
              <a:t>Sindicato: mientras que este es un grupo en particular dentro del gremio.</a:t>
            </a:r>
            <a:endParaRPr sz="1000">
              <a:solidFill>
                <a:schemeClr val="dk1"/>
              </a:solidFill>
              <a:latin typeface="Calibri"/>
              <a:ea typeface="Calibri"/>
              <a:cs typeface="Calibri"/>
              <a:sym typeface="Calibri"/>
            </a:endParaRPr>
          </a:p>
          <a:p>
            <a:pPr marL="0" lvl="0" indent="0" algn="l" rtl="0">
              <a:lnSpc>
                <a:spcPct val="107916"/>
              </a:lnSpc>
              <a:spcBef>
                <a:spcPts val="800"/>
              </a:spcBef>
              <a:spcAft>
                <a:spcPts val="0"/>
              </a:spcAft>
              <a:buClr>
                <a:schemeClr val="dk1"/>
              </a:buClr>
              <a:buSzPts val="1100"/>
              <a:buFont typeface="Arial"/>
              <a:buNone/>
            </a:pPr>
            <a:r>
              <a:rPr lang="es-ES" sz="1000">
                <a:solidFill>
                  <a:schemeClr val="dk1"/>
                </a:solidFill>
                <a:latin typeface="Calibri"/>
                <a:ea typeface="Calibri"/>
                <a:cs typeface="Calibri"/>
                <a:sym typeface="Calibri"/>
              </a:rPr>
              <a:t>Dicho de otra forma, se puede elegir el sindicato, pero no el gremio. Y justamente esta norma dice que los trabajadores son libres de elegir el sindicato que quieran.</a:t>
            </a:r>
            <a:endParaRPr sz="1000">
              <a:solidFill>
                <a:schemeClr val="dk1"/>
              </a:solidFill>
              <a:latin typeface="Calibri"/>
              <a:ea typeface="Calibri"/>
              <a:cs typeface="Calibri"/>
              <a:sym typeface="Calibri"/>
            </a:endParaRPr>
          </a:p>
          <a:p>
            <a:pPr marL="0" lvl="0" indent="0" algn="l" rtl="0">
              <a:lnSpc>
                <a:spcPct val="107916"/>
              </a:lnSpc>
              <a:spcBef>
                <a:spcPts val="800"/>
              </a:spcBef>
              <a:spcAft>
                <a:spcPts val="0"/>
              </a:spcAft>
              <a:buClr>
                <a:schemeClr val="dk1"/>
              </a:buClr>
              <a:buSzPts val="1100"/>
              <a:buFont typeface="Arial"/>
              <a:buNone/>
            </a:pPr>
            <a:r>
              <a:rPr lang="es-ES" sz="1000">
                <a:solidFill>
                  <a:schemeClr val="dk1"/>
                </a:solidFill>
                <a:latin typeface="Calibri"/>
                <a:ea typeface="Calibri"/>
                <a:cs typeface="Calibri"/>
                <a:sym typeface="Calibri"/>
              </a:rPr>
              <a:t>Bien. Ya vimos todos los derechos que debería tener un trabajador, pero hay otras cuestiones interesantes para analizar:</a:t>
            </a:r>
            <a:endParaRPr sz="1000">
              <a:solidFill>
                <a:schemeClr val="dk1"/>
              </a:solidFill>
              <a:latin typeface="Calibri"/>
              <a:ea typeface="Calibri"/>
              <a:cs typeface="Calibri"/>
              <a:sym typeface="Calibri"/>
            </a:endParaRPr>
          </a:p>
          <a:p>
            <a:pPr marL="0" lvl="0" indent="0" algn="l" rtl="0">
              <a:spcBef>
                <a:spcPts val="800"/>
              </a:spcBef>
              <a:spcAft>
                <a:spcPts val="0"/>
              </a:spcAft>
              <a:buNone/>
            </a:pPr>
            <a:endParaRPr/>
          </a:p>
        </p:txBody>
      </p:sp>
      <p:sp>
        <p:nvSpPr>
          <p:cNvPr id="259" name="Google Shape;259;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07916"/>
              </a:lnSpc>
              <a:spcBef>
                <a:spcPts val="0"/>
              </a:spcBef>
              <a:spcAft>
                <a:spcPts val="0"/>
              </a:spcAft>
              <a:buClr>
                <a:schemeClr val="dk1"/>
              </a:buClr>
              <a:buSzPts val="1100"/>
              <a:buFont typeface="Arial"/>
              <a:buNone/>
            </a:pPr>
            <a:r>
              <a:rPr lang="es-ES" sz="1000" b="1" u="sng">
                <a:solidFill>
                  <a:schemeClr val="dk1"/>
                </a:solidFill>
                <a:latin typeface="Calibri"/>
                <a:ea typeface="Calibri"/>
                <a:cs typeface="Calibri"/>
                <a:sym typeface="Calibri"/>
              </a:rPr>
              <a:t>Un trabajador realmente tiene derechos, no será esclavo del empleador:</a:t>
            </a:r>
            <a:endParaRPr sz="1000" b="1" u="sng">
              <a:solidFill>
                <a:schemeClr val="dk1"/>
              </a:solidFill>
              <a:latin typeface="Calibri"/>
              <a:ea typeface="Calibri"/>
              <a:cs typeface="Calibri"/>
              <a:sym typeface="Calibri"/>
            </a:endParaRPr>
          </a:p>
          <a:p>
            <a:pPr marL="0" lvl="0" indent="0" algn="l" rtl="0">
              <a:lnSpc>
                <a:spcPct val="107916"/>
              </a:lnSpc>
              <a:spcBef>
                <a:spcPts val="800"/>
              </a:spcBef>
              <a:spcAft>
                <a:spcPts val="0"/>
              </a:spcAft>
              <a:buClr>
                <a:schemeClr val="dk1"/>
              </a:buClr>
              <a:buSzPts val="1100"/>
              <a:buFont typeface="Arial"/>
              <a:buNone/>
            </a:pPr>
            <a:r>
              <a:rPr lang="es-ES" sz="1000">
                <a:solidFill>
                  <a:schemeClr val="dk1"/>
                </a:solidFill>
                <a:latin typeface="Calibri"/>
                <a:ea typeface="Calibri"/>
                <a:cs typeface="Calibri"/>
                <a:sym typeface="Calibri"/>
              </a:rPr>
              <a:t>Todos sabemos que un trabajador no trabaja por placer, lo hace por dinero o así es en la mayoría de los casos. Aunque en muchas ocasiones pude ser que tengan la posibilidad de trabajar de algo que disfruten, eso suele ser bastante común si tiene un buen empleo. Pero la realidad es que la inmensa mayoría de las personas necesitan de su empleo para vivir, y me dirán está bien y si lo pierde puede conseguir otro, si es cierto, ¿pero mientras tanto?</a:t>
            </a:r>
            <a:endParaRPr sz="1000">
              <a:solidFill>
                <a:schemeClr val="dk1"/>
              </a:solidFill>
              <a:latin typeface="Calibri"/>
              <a:ea typeface="Calibri"/>
              <a:cs typeface="Calibri"/>
              <a:sym typeface="Calibri"/>
            </a:endParaRPr>
          </a:p>
          <a:p>
            <a:pPr marL="0" lvl="0" indent="0" algn="l" rtl="0">
              <a:lnSpc>
                <a:spcPct val="107916"/>
              </a:lnSpc>
              <a:spcBef>
                <a:spcPts val="800"/>
              </a:spcBef>
              <a:spcAft>
                <a:spcPts val="0"/>
              </a:spcAft>
              <a:buClr>
                <a:schemeClr val="dk1"/>
              </a:buClr>
              <a:buSzPts val="1100"/>
              <a:buFont typeface="Arial"/>
              <a:buNone/>
            </a:pPr>
            <a:r>
              <a:rPr lang="es-ES" sz="1000">
                <a:solidFill>
                  <a:schemeClr val="dk1"/>
                </a:solidFill>
                <a:latin typeface="Calibri"/>
                <a:ea typeface="Calibri"/>
                <a:cs typeface="Calibri"/>
                <a:sym typeface="Calibri"/>
              </a:rPr>
              <a:t>En argentina si uno es un trabajador “en blanco” tiene un montón de beneficios, obra social, vacaciones pagas, aportes jubilatorios, etc. Pero claro nos despiden por x motivos, pero hasta que no consigamos otro trabajo eso no lo tendremos, lo cual es lógico. Medirán está bien no es un problema, y si existe el hospital, para que querer vacaciones si no trabajas y la jubilación es para las personas mayores. Pero este sujeto solo lo recupera si consigue un trabajo, por lo general y e experiencia ajena no es fácil vivir con indemnizaciones (sobre todo si no es muy jugosa), ahora imagínense que no son el ejemplo del trabajador más calificado, en su antiguo puesto no eran gerentes, eran los rasos de los rasos, con estudios mediocres y títulos comunes. Vas a tener mucha competencia. Este es maso menos el contexto que podría pasar un desempleado. No le sumemos si tiene familia y es el único sustento de esta, porque va a estar realmente estresado.</a:t>
            </a:r>
            <a:endParaRPr sz="1000">
              <a:solidFill>
                <a:schemeClr val="dk1"/>
              </a:solidFill>
              <a:latin typeface="Calibri"/>
              <a:ea typeface="Calibri"/>
              <a:cs typeface="Calibri"/>
              <a:sym typeface="Calibri"/>
            </a:endParaRPr>
          </a:p>
          <a:p>
            <a:pPr marL="0" lvl="0" indent="0" algn="l" rtl="0">
              <a:lnSpc>
                <a:spcPct val="107916"/>
              </a:lnSpc>
              <a:spcBef>
                <a:spcPts val="800"/>
              </a:spcBef>
              <a:spcAft>
                <a:spcPts val="800"/>
              </a:spcAft>
              <a:buClr>
                <a:schemeClr val="dk1"/>
              </a:buClr>
              <a:buSzPts val="1100"/>
              <a:buFont typeface="Arial"/>
              <a:buNone/>
            </a:pPr>
            <a:r>
              <a:rPr lang="es-ES" sz="1000">
                <a:solidFill>
                  <a:schemeClr val="dk1"/>
                </a:solidFill>
                <a:latin typeface="Calibri"/>
                <a:ea typeface="Calibri"/>
                <a:cs typeface="Calibri"/>
                <a:sym typeface="Calibri"/>
              </a:rPr>
              <a:t>En conclusión, una persona que sufre abusos (me refiero a que no se le cumplen los derechos) en el trabajo en la argentina tiene pocos caminos de acción, puede fumársela hasta conseguir algo mejor, puede renunciar y jugársela sin indemnización, puede intentar que lo rajen para recibir la indemnización, el tema es que si queda sin empleo no sabe a dónde va a ir. La argentina tiene:</a:t>
            </a:r>
            <a:endParaRPr/>
          </a:p>
        </p:txBody>
      </p:sp>
      <p:sp>
        <p:nvSpPr>
          <p:cNvPr id="267" name="Google Shape;267;p2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5" name="Google Shape;275;p2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1" name="Google Shape;281;p2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7" name="Google Shape;287;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07916"/>
              </a:lnSpc>
              <a:spcBef>
                <a:spcPts val="0"/>
              </a:spcBef>
              <a:spcAft>
                <a:spcPts val="0"/>
              </a:spcAft>
              <a:buClr>
                <a:schemeClr val="dk1"/>
              </a:buClr>
              <a:buSzPts val="1100"/>
              <a:buFont typeface="Arial"/>
              <a:buNone/>
            </a:pPr>
            <a:r>
              <a:rPr lang="es-ES" sz="1000" b="1" u="sng">
                <a:solidFill>
                  <a:schemeClr val="dk1"/>
                </a:solidFill>
                <a:latin typeface="Calibri"/>
                <a:ea typeface="Calibri"/>
                <a:cs typeface="Calibri"/>
                <a:sym typeface="Calibri"/>
              </a:rPr>
              <a:t>Que ocasionó todos estos derechos en la argentina</a:t>
            </a:r>
            <a:endParaRPr sz="1000" b="1" u="sng">
              <a:solidFill>
                <a:schemeClr val="dk1"/>
              </a:solidFill>
              <a:latin typeface="Calibri"/>
              <a:ea typeface="Calibri"/>
              <a:cs typeface="Calibri"/>
              <a:sym typeface="Calibri"/>
            </a:endParaRPr>
          </a:p>
          <a:p>
            <a:pPr marL="0" lvl="0" indent="0" algn="l" rtl="0">
              <a:lnSpc>
                <a:spcPct val="107916"/>
              </a:lnSpc>
              <a:spcBef>
                <a:spcPts val="800"/>
              </a:spcBef>
              <a:spcAft>
                <a:spcPts val="0"/>
              </a:spcAft>
              <a:buClr>
                <a:schemeClr val="dk1"/>
              </a:buClr>
              <a:buSzPts val="1100"/>
              <a:buFont typeface="Arial"/>
              <a:buNone/>
            </a:pPr>
            <a:r>
              <a:rPr lang="es-ES" sz="1000">
                <a:solidFill>
                  <a:schemeClr val="dk1"/>
                </a:solidFill>
                <a:latin typeface="Calibri"/>
                <a:ea typeface="Calibri"/>
                <a:cs typeface="Calibri"/>
                <a:sym typeface="Calibri"/>
              </a:rPr>
              <a:t>Bueno como con todos los derechos hubo que pelear bastante, y estas son algunas de las manifestaciones que dio el pueblo durante el siglo xx:</a:t>
            </a:r>
            <a:endParaRPr sz="1000">
              <a:solidFill>
                <a:schemeClr val="dk1"/>
              </a:solidFill>
              <a:latin typeface="Calibri"/>
              <a:ea typeface="Calibri"/>
              <a:cs typeface="Calibri"/>
              <a:sym typeface="Calibri"/>
            </a:endParaRPr>
          </a:p>
          <a:p>
            <a:pPr marL="0" lvl="0" indent="0" algn="l" rtl="0">
              <a:spcBef>
                <a:spcPts val="800"/>
              </a:spcBef>
              <a:spcAft>
                <a:spcPts val="0"/>
              </a:spcAft>
              <a:buNone/>
            </a:pPr>
            <a:endParaRPr/>
          </a:p>
        </p:txBody>
      </p:sp>
      <p:sp>
        <p:nvSpPr>
          <p:cNvPr id="292" name="Google Shape;292;p2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900"/>
              </a:spcBef>
              <a:spcAft>
                <a:spcPts val="0"/>
              </a:spcAft>
              <a:buClr>
                <a:schemeClr val="dk1"/>
              </a:buClr>
              <a:buSzPts val="1100"/>
              <a:buFont typeface="Arial"/>
              <a:buNone/>
            </a:pPr>
            <a:r>
              <a:rPr lang="es-ES" sz="1000">
                <a:solidFill>
                  <a:schemeClr val="dk1"/>
                </a:solidFill>
              </a:rPr>
              <a:t>Huelga de la FORA en La Forestal (1906)</a:t>
            </a:r>
            <a:r>
              <a:rPr lang="es-ES">
                <a:solidFill>
                  <a:schemeClr val="dk1"/>
                </a:solidFill>
              </a:rPr>
              <a:t> </a:t>
            </a:r>
            <a:endParaRPr>
              <a:solidFill>
                <a:schemeClr val="dk1"/>
              </a:solidFill>
            </a:endParaRPr>
          </a:p>
          <a:p>
            <a:pPr marL="457200" lvl="0" indent="-298450" algn="l" rtl="0">
              <a:lnSpc>
                <a:spcPct val="115000"/>
              </a:lnSpc>
              <a:spcBef>
                <a:spcPts val="900"/>
              </a:spcBef>
              <a:spcAft>
                <a:spcPts val="0"/>
              </a:spcAft>
              <a:buClr>
                <a:schemeClr val="dk1"/>
              </a:buClr>
              <a:buSzPts val="1100"/>
              <a:buChar char="●"/>
            </a:pPr>
            <a:r>
              <a:rPr lang="es-ES" sz="1000">
                <a:solidFill>
                  <a:schemeClr val="dk1"/>
                </a:solidFill>
              </a:rPr>
              <a:t>Demandas: Mejora de las condiciones laborales, reducción de la jornada laboral y aumento de salarios en las plantaciones de quebracho.</a:t>
            </a:r>
            <a:endParaRPr sz="1000">
              <a:solidFill>
                <a:schemeClr val="dk1"/>
              </a:solidFill>
            </a:endParaRPr>
          </a:p>
          <a:p>
            <a:pPr marL="457200" lvl="0" indent="-298450" algn="l" rtl="0">
              <a:lnSpc>
                <a:spcPct val="115000"/>
              </a:lnSpc>
              <a:spcBef>
                <a:spcPts val="0"/>
              </a:spcBef>
              <a:spcAft>
                <a:spcPts val="0"/>
              </a:spcAft>
              <a:buClr>
                <a:schemeClr val="dk1"/>
              </a:buClr>
              <a:buSzPts val="1100"/>
              <a:buChar char="●"/>
            </a:pPr>
            <a:r>
              <a:rPr lang="es-ES" sz="1000">
                <a:solidFill>
                  <a:schemeClr val="dk1"/>
                </a:solidFill>
              </a:rPr>
              <a:t>Resultado: La huelga fue duramente reprimida por el gobierno, y muchos trabajadores fueron desalojados y encarcelados.</a:t>
            </a:r>
            <a:endParaRPr sz="1000">
              <a:solidFill>
                <a:schemeClr val="dk1"/>
              </a:solidFill>
            </a:endParaRPr>
          </a:p>
          <a:p>
            <a:pPr marL="0" lvl="0" indent="0" algn="l" rtl="0">
              <a:spcBef>
                <a:spcPts val="900"/>
              </a:spcBef>
              <a:spcAft>
                <a:spcPts val="0"/>
              </a:spcAft>
              <a:buNone/>
            </a:pPr>
            <a:endParaRPr/>
          </a:p>
        </p:txBody>
      </p:sp>
      <p:sp>
        <p:nvSpPr>
          <p:cNvPr id="309" name="Google Shape;309;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07916"/>
              </a:lnSpc>
              <a:spcBef>
                <a:spcPts val="0"/>
              </a:spcBef>
              <a:spcAft>
                <a:spcPts val="0"/>
              </a:spcAft>
              <a:buClr>
                <a:schemeClr val="dk1"/>
              </a:buClr>
              <a:buSzPts val="1100"/>
              <a:buFont typeface="Arial"/>
              <a:buNone/>
            </a:pPr>
            <a:r>
              <a:rPr lang="es-ES" sz="1000">
                <a:solidFill>
                  <a:schemeClr val="dk1"/>
                </a:solidFill>
                <a:latin typeface="Calibri"/>
                <a:ea typeface="Calibri"/>
                <a:cs typeface="Calibri"/>
                <a:sym typeface="Calibri"/>
              </a:rPr>
              <a:t>Huelga de Inquilinos (1907)</a:t>
            </a:r>
            <a:endParaRPr sz="1000">
              <a:solidFill>
                <a:schemeClr val="dk1"/>
              </a:solidFill>
              <a:latin typeface="Calibri"/>
              <a:ea typeface="Calibri"/>
              <a:cs typeface="Calibri"/>
              <a:sym typeface="Calibri"/>
            </a:endParaRPr>
          </a:p>
          <a:p>
            <a:pPr marL="457200" lvl="0" indent="-292100" algn="l" rtl="0">
              <a:lnSpc>
                <a:spcPct val="107916"/>
              </a:lnSpc>
              <a:spcBef>
                <a:spcPts val="800"/>
              </a:spcBef>
              <a:spcAft>
                <a:spcPts val="0"/>
              </a:spcAft>
              <a:buClr>
                <a:schemeClr val="dk1"/>
              </a:buClr>
              <a:buSzPts val="1000"/>
              <a:buFont typeface="Calibri"/>
              <a:buChar char="●"/>
            </a:pPr>
            <a:r>
              <a:rPr lang="es-ES" sz="1000">
                <a:solidFill>
                  <a:schemeClr val="dk1"/>
                </a:solidFill>
                <a:latin typeface="Calibri"/>
                <a:ea typeface="Calibri"/>
                <a:cs typeface="Calibri"/>
                <a:sym typeface="Calibri"/>
              </a:rPr>
              <a:t>Demandas: Reducción de los alquileres, mejoras en las condiciones de las viviendas y el fin de los abusos por parte de los propietarios.</a:t>
            </a:r>
            <a:endParaRPr sz="1000">
              <a:solidFill>
                <a:schemeClr val="dk1"/>
              </a:solidFill>
              <a:latin typeface="Calibri"/>
              <a:ea typeface="Calibri"/>
              <a:cs typeface="Calibri"/>
              <a:sym typeface="Calibri"/>
            </a:endParaRPr>
          </a:p>
          <a:p>
            <a:pPr marL="457200" lvl="0" indent="-292100" algn="l" rtl="0">
              <a:lnSpc>
                <a:spcPct val="107916"/>
              </a:lnSpc>
              <a:spcBef>
                <a:spcPts val="0"/>
              </a:spcBef>
              <a:spcAft>
                <a:spcPts val="0"/>
              </a:spcAft>
              <a:buClr>
                <a:schemeClr val="dk1"/>
              </a:buClr>
              <a:buSzPts val="1000"/>
              <a:buFont typeface="Calibri"/>
              <a:buChar char="●"/>
            </a:pPr>
            <a:r>
              <a:rPr lang="es-ES" sz="1000">
                <a:solidFill>
                  <a:schemeClr val="dk1"/>
                </a:solidFill>
                <a:latin typeface="Calibri"/>
                <a:ea typeface="Calibri"/>
                <a:cs typeface="Calibri"/>
                <a:sym typeface="Calibri"/>
              </a:rPr>
              <a:t>Resultado: La huelga se extendió por varias ciudades y logró algunas concesiones, aunque no se resolvieron todas las demandas.</a:t>
            </a:r>
            <a:endParaRPr sz="1000">
              <a:solidFill>
                <a:schemeClr val="dk1"/>
              </a:solidFill>
              <a:latin typeface="Calibri"/>
              <a:ea typeface="Calibri"/>
              <a:cs typeface="Calibri"/>
              <a:sym typeface="Calibri"/>
            </a:endParaRPr>
          </a:p>
          <a:p>
            <a:pPr marL="0" lvl="0" indent="0" algn="l" rtl="0">
              <a:spcBef>
                <a:spcPts val="800"/>
              </a:spcBef>
              <a:spcAft>
                <a:spcPts val="0"/>
              </a:spcAft>
              <a:buNone/>
            </a:pPr>
            <a:endParaRPr/>
          </a:p>
        </p:txBody>
      </p:sp>
      <p:sp>
        <p:nvSpPr>
          <p:cNvPr id="299" name="Google Shape;299;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07916"/>
              </a:lnSpc>
              <a:spcBef>
                <a:spcPts val="0"/>
              </a:spcBef>
              <a:spcAft>
                <a:spcPts val="0"/>
              </a:spcAft>
              <a:buClr>
                <a:schemeClr val="dk1"/>
              </a:buClr>
              <a:buSzPts val="1100"/>
              <a:buFont typeface="Arial"/>
              <a:buNone/>
            </a:pPr>
            <a:r>
              <a:rPr lang="es-ES" sz="1000">
                <a:solidFill>
                  <a:schemeClr val="dk1"/>
                </a:solidFill>
                <a:latin typeface="Calibri"/>
                <a:ea typeface="Calibri"/>
                <a:cs typeface="Calibri"/>
                <a:sym typeface="Calibri"/>
              </a:rPr>
              <a:t>Huelga de los trabajadores portuarios (1916)</a:t>
            </a:r>
            <a:endParaRPr sz="1000">
              <a:solidFill>
                <a:schemeClr val="dk1"/>
              </a:solidFill>
              <a:latin typeface="Calibri"/>
              <a:ea typeface="Calibri"/>
              <a:cs typeface="Calibri"/>
              <a:sym typeface="Calibri"/>
            </a:endParaRPr>
          </a:p>
          <a:p>
            <a:pPr marL="457200" lvl="0" indent="-292100" algn="l" rtl="0">
              <a:lnSpc>
                <a:spcPct val="107916"/>
              </a:lnSpc>
              <a:spcBef>
                <a:spcPts val="800"/>
              </a:spcBef>
              <a:spcAft>
                <a:spcPts val="0"/>
              </a:spcAft>
              <a:buClr>
                <a:schemeClr val="dk1"/>
              </a:buClr>
              <a:buSzPts val="1000"/>
              <a:buFont typeface="Calibri"/>
              <a:buChar char="●"/>
            </a:pPr>
            <a:r>
              <a:rPr lang="es-ES" sz="1000">
                <a:solidFill>
                  <a:schemeClr val="dk1"/>
                </a:solidFill>
                <a:latin typeface="Calibri"/>
                <a:ea typeface="Calibri"/>
                <a:cs typeface="Calibri"/>
                <a:sym typeface="Calibri"/>
              </a:rPr>
              <a:t>Demandas: Mejores condiciones laborales, aumento de salarios y reconocimiento del sindicato.</a:t>
            </a:r>
            <a:endParaRPr sz="1000">
              <a:solidFill>
                <a:schemeClr val="dk1"/>
              </a:solidFill>
              <a:latin typeface="Calibri"/>
              <a:ea typeface="Calibri"/>
              <a:cs typeface="Calibri"/>
              <a:sym typeface="Calibri"/>
            </a:endParaRPr>
          </a:p>
          <a:p>
            <a:pPr marL="457200" lvl="0" indent="-292100" algn="l" rtl="0">
              <a:lnSpc>
                <a:spcPct val="107916"/>
              </a:lnSpc>
              <a:spcBef>
                <a:spcPts val="0"/>
              </a:spcBef>
              <a:spcAft>
                <a:spcPts val="800"/>
              </a:spcAft>
              <a:buClr>
                <a:schemeClr val="dk1"/>
              </a:buClr>
              <a:buSzPts val="1000"/>
              <a:buFont typeface="Calibri"/>
              <a:buChar char="●"/>
            </a:pPr>
            <a:r>
              <a:rPr lang="es-ES" sz="1000">
                <a:solidFill>
                  <a:schemeClr val="dk1"/>
                </a:solidFill>
                <a:latin typeface="Calibri"/>
                <a:ea typeface="Calibri"/>
                <a:cs typeface="Calibri"/>
                <a:sym typeface="Calibri"/>
              </a:rPr>
              <a:t>Resultado: Algunas demandas fueron parcialmente satisfechas, pero la represión y los conflictos continuaron.</a:t>
            </a:r>
            <a:endParaRPr/>
          </a:p>
        </p:txBody>
      </p:sp>
      <p:sp>
        <p:nvSpPr>
          <p:cNvPr id="326" name="Google Shape;326;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900"/>
              </a:spcBef>
              <a:spcAft>
                <a:spcPts val="0"/>
              </a:spcAft>
              <a:buClr>
                <a:schemeClr val="dk1"/>
              </a:buClr>
              <a:buSzPts val="1100"/>
              <a:buFont typeface="Arial"/>
              <a:buNone/>
            </a:pPr>
            <a:r>
              <a:rPr lang="es-ES" sz="1000">
                <a:solidFill>
                  <a:schemeClr val="dk1"/>
                </a:solidFill>
              </a:rPr>
              <a:t>Huelga de los Talleres Vasena (metalúrgica)(1919) </a:t>
            </a:r>
            <a:endParaRPr sz="1000">
              <a:solidFill>
                <a:schemeClr val="dk1"/>
              </a:solidFill>
            </a:endParaRPr>
          </a:p>
          <a:p>
            <a:pPr marL="457200" lvl="0" indent="-298450" algn="l" rtl="0">
              <a:lnSpc>
                <a:spcPct val="115000"/>
              </a:lnSpc>
              <a:spcBef>
                <a:spcPts val="900"/>
              </a:spcBef>
              <a:spcAft>
                <a:spcPts val="0"/>
              </a:spcAft>
              <a:buClr>
                <a:schemeClr val="dk1"/>
              </a:buClr>
              <a:buSzPts val="1100"/>
              <a:buChar char="●"/>
            </a:pPr>
            <a:r>
              <a:rPr lang="es-ES" sz="1000">
                <a:solidFill>
                  <a:schemeClr val="dk1"/>
                </a:solidFill>
              </a:rPr>
              <a:t>Demandas: Reducción de la jornada laboral a 8 horas, aumento de salarios, reconocimiento de los sindicatos y mejoras en las condiciones de trabajo.</a:t>
            </a:r>
            <a:endParaRPr sz="1000">
              <a:solidFill>
                <a:schemeClr val="dk1"/>
              </a:solidFill>
            </a:endParaRPr>
          </a:p>
          <a:p>
            <a:pPr marL="457200" lvl="0" indent="-298450" algn="l" rtl="0">
              <a:lnSpc>
                <a:spcPct val="115000"/>
              </a:lnSpc>
              <a:spcBef>
                <a:spcPts val="0"/>
              </a:spcBef>
              <a:spcAft>
                <a:spcPts val="0"/>
              </a:spcAft>
              <a:buClr>
                <a:schemeClr val="dk1"/>
              </a:buClr>
              <a:buSzPts val="1100"/>
              <a:buChar char="●"/>
            </a:pPr>
            <a:r>
              <a:rPr lang="es-ES" sz="1000">
                <a:solidFill>
                  <a:schemeClr val="dk1"/>
                </a:solidFill>
              </a:rPr>
              <a:t>Resultado: La huelga desembocó en la Semana Trágica, con una represión violenta por parte del gobierno, pero también generó un mayor reconocimiento de la necesidad de reformas laborales.</a:t>
            </a:r>
            <a:endParaRPr sz="1000">
              <a:solidFill>
                <a:schemeClr val="dk1"/>
              </a:solidFill>
            </a:endParaRPr>
          </a:p>
          <a:p>
            <a:pPr marL="0" lvl="0" indent="0" algn="l" rtl="0">
              <a:spcBef>
                <a:spcPts val="900"/>
              </a:spcBef>
              <a:spcAft>
                <a:spcPts val="0"/>
              </a:spcAft>
              <a:buNone/>
            </a:pPr>
            <a:endParaRPr/>
          </a:p>
        </p:txBody>
      </p:sp>
      <p:sp>
        <p:nvSpPr>
          <p:cNvPr id="315" name="Google Shape;315;p3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07916"/>
              </a:lnSpc>
              <a:spcBef>
                <a:spcPts val="0"/>
              </a:spcBef>
              <a:spcAft>
                <a:spcPts val="0"/>
              </a:spcAft>
              <a:buClr>
                <a:schemeClr val="dk1"/>
              </a:buClr>
              <a:buSzPts val="1100"/>
              <a:buFont typeface="Arial"/>
              <a:buNone/>
            </a:pPr>
            <a:r>
              <a:rPr lang="es-ES" sz="1000">
                <a:solidFill>
                  <a:schemeClr val="dk1"/>
                </a:solidFill>
                <a:latin typeface="Calibri"/>
                <a:ea typeface="Calibri"/>
                <a:cs typeface="Calibri"/>
                <a:sym typeface="Calibri"/>
              </a:rPr>
              <a:t>La Patagonia Rebelde (1920-1922)</a:t>
            </a:r>
            <a:r>
              <a:rPr lang="es-ES">
                <a:solidFill>
                  <a:schemeClr val="dk1"/>
                </a:solidFill>
                <a:latin typeface="Calibri"/>
                <a:ea typeface="Calibri"/>
                <a:cs typeface="Calibri"/>
                <a:sym typeface="Calibri"/>
              </a:rPr>
              <a:t> </a:t>
            </a:r>
            <a:r>
              <a:rPr lang="es-ES" u="sng">
                <a:solidFill>
                  <a:srgbClr val="0563C1"/>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video complementario</a:t>
            </a:r>
            <a:endParaRPr sz="1000">
              <a:solidFill>
                <a:schemeClr val="dk1"/>
              </a:solidFill>
              <a:latin typeface="Calibri"/>
              <a:ea typeface="Calibri"/>
              <a:cs typeface="Calibri"/>
              <a:sym typeface="Calibri"/>
            </a:endParaRPr>
          </a:p>
          <a:p>
            <a:pPr marL="457200" lvl="0" indent="-292100" algn="l" rtl="0">
              <a:lnSpc>
                <a:spcPct val="107916"/>
              </a:lnSpc>
              <a:spcBef>
                <a:spcPts val="800"/>
              </a:spcBef>
              <a:spcAft>
                <a:spcPts val="0"/>
              </a:spcAft>
              <a:buClr>
                <a:schemeClr val="dk1"/>
              </a:buClr>
              <a:buSzPts val="1000"/>
              <a:buFont typeface="Calibri"/>
              <a:buChar char="●"/>
            </a:pPr>
            <a:r>
              <a:rPr lang="es-ES" sz="1000">
                <a:solidFill>
                  <a:schemeClr val="dk1"/>
                </a:solidFill>
                <a:latin typeface="Calibri"/>
                <a:ea typeface="Calibri"/>
                <a:cs typeface="Calibri"/>
                <a:sym typeface="Calibri"/>
              </a:rPr>
              <a:t>Demandas: Mejoras en los salarios, jornadas laborales más cortas, condiciones de trabajo más seguras y reconocimiento de los sindicatos rurales.</a:t>
            </a:r>
            <a:endParaRPr sz="1000">
              <a:solidFill>
                <a:schemeClr val="dk1"/>
              </a:solidFill>
              <a:latin typeface="Calibri"/>
              <a:ea typeface="Calibri"/>
              <a:cs typeface="Calibri"/>
              <a:sym typeface="Calibri"/>
            </a:endParaRPr>
          </a:p>
          <a:p>
            <a:pPr marL="457200" lvl="0" indent="-292100" algn="l" rtl="0">
              <a:lnSpc>
                <a:spcPct val="107916"/>
              </a:lnSpc>
              <a:spcBef>
                <a:spcPts val="0"/>
              </a:spcBef>
              <a:spcAft>
                <a:spcPts val="0"/>
              </a:spcAft>
              <a:buClr>
                <a:schemeClr val="dk1"/>
              </a:buClr>
              <a:buSzPts val="1000"/>
              <a:buFont typeface="Calibri"/>
              <a:buChar char="●"/>
            </a:pPr>
            <a:r>
              <a:rPr lang="es-ES" sz="1000">
                <a:solidFill>
                  <a:schemeClr val="dk1"/>
                </a:solidFill>
                <a:latin typeface="Calibri"/>
                <a:ea typeface="Calibri"/>
                <a:cs typeface="Calibri"/>
                <a:sym typeface="Calibri"/>
              </a:rPr>
              <a:t>Resultado: La huelga fue brutalmente reprimida por el gobierno, con cientos de trabajadores asesinados, pero dejó un legado importante en la lucha por los derechos laborales.</a:t>
            </a:r>
            <a:endParaRPr sz="1000">
              <a:solidFill>
                <a:schemeClr val="dk1"/>
              </a:solidFill>
              <a:latin typeface="Calibri"/>
              <a:ea typeface="Calibri"/>
              <a:cs typeface="Calibri"/>
              <a:sym typeface="Calibri"/>
            </a:endParaRPr>
          </a:p>
          <a:p>
            <a:pPr marL="0" lvl="0" indent="0" algn="l" rtl="0">
              <a:spcBef>
                <a:spcPts val="800"/>
              </a:spcBef>
              <a:spcAft>
                <a:spcPts val="0"/>
              </a:spcAft>
              <a:buNone/>
            </a:pPr>
            <a:endParaRPr/>
          </a:p>
        </p:txBody>
      </p:sp>
      <p:sp>
        <p:nvSpPr>
          <p:cNvPr id="334" name="Google Shape;334;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900"/>
              </a:spcBef>
              <a:spcAft>
                <a:spcPts val="0"/>
              </a:spcAft>
              <a:buClr>
                <a:schemeClr val="dk1"/>
              </a:buClr>
              <a:buSzPts val="1100"/>
              <a:buFont typeface="Arial"/>
              <a:buNone/>
            </a:pPr>
            <a:r>
              <a:rPr lang="es-ES" sz="1000">
                <a:solidFill>
                  <a:schemeClr val="dk1"/>
                </a:solidFill>
              </a:rPr>
              <a:t>Huelga del Frigorífico Anglo (1930) </a:t>
            </a:r>
            <a:endParaRPr sz="1000">
              <a:solidFill>
                <a:schemeClr val="dk1"/>
              </a:solidFill>
            </a:endParaRPr>
          </a:p>
          <a:p>
            <a:pPr marL="457200" lvl="0" indent="-298450" algn="l" rtl="0">
              <a:lnSpc>
                <a:spcPct val="115000"/>
              </a:lnSpc>
              <a:spcBef>
                <a:spcPts val="900"/>
              </a:spcBef>
              <a:spcAft>
                <a:spcPts val="0"/>
              </a:spcAft>
              <a:buClr>
                <a:schemeClr val="dk1"/>
              </a:buClr>
              <a:buSzPts val="1100"/>
              <a:buChar char="●"/>
            </a:pPr>
            <a:r>
              <a:rPr lang="es-ES" sz="1000">
                <a:solidFill>
                  <a:schemeClr val="dk1"/>
                </a:solidFill>
              </a:rPr>
              <a:t>Demandas: Aumento de salarios, mejores condiciones laborales y el derecho a la sindicalización.</a:t>
            </a:r>
            <a:endParaRPr sz="1000">
              <a:solidFill>
                <a:schemeClr val="dk1"/>
              </a:solidFill>
            </a:endParaRPr>
          </a:p>
          <a:p>
            <a:pPr marL="457200" lvl="0" indent="-298450" algn="l" rtl="0">
              <a:lnSpc>
                <a:spcPct val="115000"/>
              </a:lnSpc>
              <a:spcBef>
                <a:spcPts val="0"/>
              </a:spcBef>
              <a:spcAft>
                <a:spcPts val="0"/>
              </a:spcAft>
              <a:buClr>
                <a:schemeClr val="dk1"/>
              </a:buClr>
              <a:buSzPts val="1100"/>
              <a:buChar char="●"/>
            </a:pPr>
            <a:r>
              <a:rPr lang="es-ES" sz="1000">
                <a:solidFill>
                  <a:schemeClr val="dk1"/>
                </a:solidFill>
              </a:rPr>
              <a:t>Resultado: La huelga fue parcialmente exitosa, logrando algunas mejoras salariales, aunque la represión continuó siendo un problema.</a:t>
            </a:r>
            <a:endParaRPr sz="1000">
              <a:solidFill>
                <a:schemeClr val="dk1"/>
              </a:solidFill>
            </a:endParaRPr>
          </a:p>
          <a:p>
            <a:pPr marL="0" lvl="0" indent="0" algn="l" rtl="0">
              <a:spcBef>
                <a:spcPts val="900"/>
              </a:spcBef>
              <a:spcAft>
                <a:spcPts val="0"/>
              </a:spcAft>
              <a:buNone/>
            </a:pPr>
            <a:endParaRPr/>
          </a:p>
        </p:txBody>
      </p:sp>
      <p:sp>
        <p:nvSpPr>
          <p:cNvPr id="341" name="Google Shape;341;p3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900"/>
              </a:spcBef>
              <a:spcAft>
                <a:spcPts val="0"/>
              </a:spcAft>
              <a:buClr>
                <a:schemeClr val="dk1"/>
              </a:buClr>
              <a:buSzPts val="1100"/>
              <a:buFont typeface="Arial"/>
              <a:buNone/>
            </a:pPr>
            <a:r>
              <a:rPr lang="es-ES" sz="1000">
                <a:solidFill>
                  <a:schemeClr val="dk1"/>
                </a:solidFill>
              </a:rPr>
              <a:t>Huelgas Ferroviarias (1940s)</a:t>
            </a:r>
            <a:r>
              <a:rPr lang="es-ES">
                <a:solidFill>
                  <a:schemeClr val="dk1"/>
                </a:solidFill>
              </a:rPr>
              <a:t> </a:t>
            </a:r>
            <a:endParaRPr>
              <a:solidFill>
                <a:schemeClr val="dk1"/>
              </a:solidFill>
            </a:endParaRPr>
          </a:p>
          <a:p>
            <a:pPr marL="457200" lvl="0" indent="-298450" algn="l" rtl="0">
              <a:lnSpc>
                <a:spcPct val="115000"/>
              </a:lnSpc>
              <a:spcBef>
                <a:spcPts val="900"/>
              </a:spcBef>
              <a:spcAft>
                <a:spcPts val="0"/>
              </a:spcAft>
              <a:buClr>
                <a:schemeClr val="dk1"/>
              </a:buClr>
              <a:buSzPts val="1100"/>
              <a:buChar char="●"/>
            </a:pPr>
            <a:r>
              <a:rPr lang="es-ES" sz="1000">
                <a:solidFill>
                  <a:schemeClr val="dk1"/>
                </a:solidFill>
              </a:rPr>
              <a:t>Demandas: Mejores salarios, condiciones laborales más seguras, reducción de la jornada laboral y nacionalización de los ferrocarriles.</a:t>
            </a:r>
            <a:endParaRPr sz="1000">
              <a:solidFill>
                <a:schemeClr val="dk1"/>
              </a:solidFill>
            </a:endParaRPr>
          </a:p>
          <a:p>
            <a:pPr marL="457200" lvl="0" indent="-298450" algn="l" rtl="0">
              <a:lnSpc>
                <a:spcPct val="115000"/>
              </a:lnSpc>
              <a:spcBef>
                <a:spcPts val="0"/>
              </a:spcBef>
              <a:spcAft>
                <a:spcPts val="0"/>
              </a:spcAft>
              <a:buClr>
                <a:schemeClr val="dk1"/>
              </a:buClr>
              <a:buSzPts val="1100"/>
              <a:buChar char="●"/>
            </a:pPr>
            <a:r>
              <a:rPr lang="es-ES" sz="1000">
                <a:solidFill>
                  <a:schemeClr val="dk1"/>
                </a:solidFill>
              </a:rPr>
              <a:t>Resultado: Las huelgas jugaron un papel clave en la decisión del gobierno de Perón de nacionalizar los ferrocarriles en 1948.</a:t>
            </a:r>
            <a:endParaRPr sz="1000">
              <a:solidFill>
                <a:schemeClr val="dk1"/>
              </a:solidFill>
            </a:endParaRPr>
          </a:p>
          <a:p>
            <a:pPr marL="0" lvl="0" indent="0" algn="l" rtl="0">
              <a:spcBef>
                <a:spcPts val="900"/>
              </a:spcBef>
              <a:spcAft>
                <a:spcPts val="0"/>
              </a:spcAft>
              <a:buNone/>
            </a:pPr>
            <a:endParaRPr/>
          </a:p>
        </p:txBody>
      </p:sp>
      <p:sp>
        <p:nvSpPr>
          <p:cNvPr id="352" name="Google Shape;352;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p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07916"/>
              </a:lnSpc>
              <a:spcBef>
                <a:spcPts val="0"/>
              </a:spcBef>
              <a:spcAft>
                <a:spcPts val="0"/>
              </a:spcAft>
              <a:buClr>
                <a:schemeClr val="dk1"/>
              </a:buClr>
              <a:buSzPts val="1100"/>
              <a:buFont typeface="Arial"/>
              <a:buNone/>
            </a:pPr>
            <a:r>
              <a:rPr lang="es-ES" sz="1000">
                <a:solidFill>
                  <a:schemeClr val="dk1"/>
                </a:solidFill>
                <a:latin typeface="Calibri"/>
                <a:ea typeface="Calibri"/>
                <a:cs typeface="Calibri"/>
                <a:sym typeface="Calibri"/>
              </a:rPr>
              <a:t>Huelga General de 1956</a:t>
            </a:r>
            <a:endParaRPr sz="1000">
              <a:solidFill>
                <a:schemeClr val="dk1"/>
              </a:solidFill>
              <a:latin typeface="Calibri"/>
              <a:ea typeface="Calibri"/>
              <a:cs typeface="Calibri"/>
              <a:sym typeface="Calibri"/>
            </a:endParaRPr>
          </a:p>
          <a:p>
            <a:pPr marL="457200" lvl="0" indent="-292100" algn="l" rtl="0">
              <a:lnSpc>
                <a:spcPct val="107916"/>
              </a:lnSpc>
              <a:spcBef>
                <a:spcPts val="800"/>
              </a:spcBef>
              <a:spcAft>
                <a:spcPts val="0"/>
              </a:spcAft>
              <a:buClr>
                <a:schemeClr val="dk1"/>
              </a:buClr>
              <a:buSzPts val="1000"/>
              <a:buFont typeface="Calibri"/>
              <a:buChar char="●"/>
            </a:pPr>
            <a:r>
              <a:rPr lang="es-ES" sz="1000">
                <a:solidFill>
                  <a:schemeClr val="dk1"/>
                </a:solidFill>
                <a:latin typeface="Calibri"/>
                <a:ea typeface="Calibri"/>
                <a:cs typeface="Calibri"/>
                <a:sym typeface="Calibri"/>
              </a:rPr>
              <a:t>Demandas: Rechazo de la dictadura militar, restauración de la democracia y derechos laborales.</a:t>
            </a:r>
            <a:endParaRPr sz="1000">
              <a:solidFill>
                <a:schemeClr val="dk1"/>
              </a:solidFill>
              <a:latin typeface="Calibri"/>
              <a:ea typeface="Calibri"/>
              <a:cs typeface="Calibri"/>
              <a:sym typeface="Calibri"/>
            </a:endParaRPr>
          </a:p>
          <a:p>
            <a:pPr marL="457200" lvl="0" indent="-292100" algn="l" rtl="0">
              <a:lnSpc>
                <a:spcPct val="107916"/>
              </a:lnSpc>
              <a:spcBef>
                <a:spcPts val="0"/>
              </a:spcBef>
              <a:spcAft>
                <a:spcPts val="800"/>
              </a:spcAft>
              <a:buClr>
                <a:schemeClr val="dk1"/>
              </a:buClr>
              <a:buSzPts val="1000"/>
              <a:buFont typeface="Calibri"/>
              <a:buChar char="●"/>
            </a:pPr>
            <a:r>
              <a:rPr lang="es-ES" sz="1000">
                <a:solidFill>
                  <a:schemeClr val="dk1"/>
                </a:solidFill>
                <a:latin typeface="Calibri"/>
                <a:ea typeface="Calibri"/>
                <a:cs typeface="Calibri"/>
                <a:sym typeface="Calibri"/>
              </a:rPr>
              <a:t>Resultado: La huelga fue duramente reprimida, pero mostró la resistencia de los trabajadores contra el régimen militar. </a:t>
            </a:r>
            <a:endParaRPr/>
          </a:p>
        </p:txBody>
      </p:sp>
      <p:sp>
        <p:nvSpPr>
          <p:cNvPr id="363" name="Google Shape;363;p3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900"/>
              </a:spcBef>
              <a:spcAft>
                <a:spcPts val="0"/>
              </a:spcAft>
              <a:buClr>
                <a:schemeClr val="dk1"/>
              </a:buClr>
              <a:buSzPts val="1100"/>
              <a:buFont typeface="Arial"/>
              <a:buNone/>
            </a:pPr>
            <a:r>
              <a:rPr lang="es-ES" sz="1000">
                <a:solidFill>
                  <a:schemeClr val="dk1"/>
                </a:solidFill>
              </a:rPr>
              <a:t>El Cordobazo (1969)</a:t>
            </a:r>
            <a:endParaRPr sz="1000">
              <a:solidFill>
                <a:schemeClr val="dk1"/>
              </a:solidFill>
            </a:endParaRPr>
          </a:p>
          <a:p>
            <a:pPr marL="457200" lvl="0" indent="-298450" algn="l" rtl="0">
              <a:lnSpc>
                <a:spcPct val="115000"/>
              </a:lnSpc>
              <a:spcBef>
                <a:spcPts val="900"/>
              </a:spcBef>
              <a:spcAft>
                <a:spcPts val="0"/>
              </a:spcAft>
              <a:buClr>
                <a:schemeClr val="dk1"/>
              </a:buClr>
              <a:buSzPts val="1100"/>
              <a:buChar char="●"/>
            </a:pPr>
            <a:r>
              <a:rPr lang="es-ES" sz="1000">
                <a:solidFill>
                  <a:schemeClr val="dk1"/>
                </a:solidFill>
              </a:rPr>
              <a:t>Demandas: Rechazo a las políticas económicas y sociales de la dictadura de Onganía, aumentos salariales, y mejoras en las condiciones de trabajo.</a:t>
            </a:r>
            <a:endParaRPr sz="1000">
              <a:solidFill>
                <a:schemeClr val="dk1"/>
              </a:solidFill>
            </a:endParaRPr>
          </a:p>
          <a:p>
            <a:pPr marL="457200" lvl="0" indent="-298450" algn="l" rtl="0">
              <a:lnSpc>
                <a:spcPct val="115000"/>
              </a:lnSpc>
              <a:spcBef>
                <a:spcPts val="0"/>
              </a:spcBef>
              <a:spcAft>
                <a:spcPts val="0"/>
              </a:spcAft>
              <a:buClr>
                <a:schemeClr val="dk1"/>
              </a:buClr>
              <a:buSzPts val="1100"/>
              <a:buChar char="●"/>
            </a:pPr>
            <a:r>
              <a:rPr lang="es-ES" sz="1000">
                <a:solidFill>
                  <a:schemeClr val="dk1"/>
                </a:solidFill>
              </a:rPr>
              <a:t>Resultado: La huelga y los disturbios fueron violentamente reprimidos, pero marcaron un punto de inflexión en la resistencia contra la dictadura y en la lucha por los derechos laborales. </a:t>
            </a:r>
            <a:endParaRPr sz="1000">
              <a:solidFill>
                <a:schemeClr val="dk1"/>
              </a:solidFill>
            </a:endParaRPr>
          </a:p>
          <a:p>
            <a:pPr marL="0" lvl="0" indent="0" algn="l" rtl="0">
              <a:spcBef>
                <a:spcPts val="900"/>
              </a:spcBef>
              <a:spcAft>
                <a:spcPts val="0"/>
              </a:spcAft>
              <a:buNone/>
            </a:pPr>
            <a:endParaRPr/>
          </a:p>
        </p:txBody>
      </p:sp>
      <p:sp>
        <p:nvSpPr>
          <p:cNvPr id="370" name="Google Shape;370;p3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p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900"/>
              </a:spcBef>
              <a:spcAft>
                <a:spcPts val="0"/>
              </a:spcAft>
              <a:buClr>
                <a:schemeClr val="dk1"/>
              </a:buClr>
              <a:buSzPts val="1100"/>
              <a:buFont typeface="Arial"/>
              <a:buNone/>
            </a:pPr>
            <a:r>
              <a:rPr lang="es-ES" sz="1000">
                <a:solidFill>
                  <a:schemeClr val="dk1"/>
                </a:solidFill>
              </a:rPr>
              <a:t>Huelga de SMATA (1975)</a:t>
            </a:r>
            <a:endParaRPr sz="1000">
              <a:solidFill>
                <a:schemeClr val="dk1"/>
              </a:solidFill>
            </a:endParaRPr>
          </a:p>
          <a:p>
            <a:pPr marL="457200" lvl="0" indent="-298450" algn="l" rtl="0">
              <a:lnSpc>
                <a:spcPct val="115000"/>
              </a:lnSpc>
              <a:spcBef>
                <a:spcPts val="900"/>
              </a:spcBef>
              <a:spcAft>
                <a:spcPts val="0"/>
              </a:spcAft>
              <a:buClr>
                <a:schemeClr val="dk1"/>
              </a:buClr>
              <a:buSzPts val="1100"/>
              <a:buChar char="●"/>
            </a:pPr>
            <a:r>
              <a:rPr lang="es-ES" sz="1000">
                <a:solidFill>
                  <a:schemeClr val="dk1"/>
                </a:solidFill>
              </a:rPr>
              <a:t>Demandas: Aumento de salarios y mejoras en las condiciones laborales para los trabajadores del sector automotriz.</a:t>
            </a:r>
            <a:endParaRPr sz="1000">
              <a:solidFill>
                <a:schemeClr val="dk1"/>
              </a:solidFill>
            </a:endParaRPr>
          </a:p>
          <a:p>
            <a:pPr marL="457200" lvl="0" indent="-298450" algn="l" rtl="0">
              <a:lnSpc>
                <a:spcPct val="115000"/>
              </a:lnSpc>
              <a:spcBef>
                <a:spcPts val="0"/>
              </a:spcBef>
              <a:spcAft>
                <a:spcPts val="0"/>
              </a:spcAft>
              <a:buClr>
                <a:schemeClr val="dk1"/>
              </a:buClr>
              <a:buSzPts val="1100"/>
              <a:buChar char="●"/>
            </a:pPr>
            <a:r>
              <a:rPr lang="es-ES" sz="1000">
                <a:solidFill>
                  <a:schemeClr val="dk1"/>
                </a:solidFill>
              </a:rPr>
              <a:t>Resultado: Lograron un aumento salarial significativo, aunque en un contexto de alta inflación y crisis económica.</a:t>
            </a:r>
            <a:r>
              <a:rPr lang="es-ES">
                <a:solidFill>
                  <a:schemeClr val="dk1"/>
                </a:solidFill>
              </a:rPr>
              <a:t> </a:t>
            </a:r>
            <a:endParaRPr>
              <a:solidFill>
                <a:schemeClr val="dk1"/>
              </a:solidFill>
            </a:endParaRPr>
          </a:p>
          <a:p>
            <a:pPr marL="0" lvl="0" indent="0" algn="l" rtl="0">
              <a:spcBef>
                <a:spcPts val="900"/>
              </a:spcBef>
              <a:spcAft>
                <a:spcPts val="0"/>
              </a:spcAft>
              <a:buNone/>
            </a:pPr>
            <a:endParaRPr/>
          </a:p>
        </p:txBody>
      </p:sp>
      <p:sp>
        <p:nvSpPr>
          <p:cNvPr id="377" name="Google Shape;377;p3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p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900"/>
              </a:spcBef>
              <a:spcAft>
                <a:spcPts val="0"/>
              </a:spcAft>
              <a:buClr>
                <a:schemeClr val="dk1"/>
              </a:buClr>
              <a:buSzPts val="1100"/>
              <a:buFont typeface="Arial"/>
              <a:buNone/>
            </a:pPr>
            <a:r>
              <a:rPr lang="es-ES" sz="1000">
                <a:solidFill>
                  <a:schemeClr val="dk1"/>
                </a:solidFill>
              </a:rPr>
              <a:t>Huelgas de los 80s durante la Dictadura Militar</a:t>
            </a:r>
            <a:endParaRPr sz="1000">
              <a:solidFill>
                <a:schemeClr val="dk1"/>
              </a:solidFill>
            </a:endParaRPr>
          </a:p>
          <a:p>
            <a:pPr marL="457200" lvl="0" indent="-298450" algn="l" rtl="0">
              <a:lnSpc>
                <a:spcPct val="115000"/>
              </a:lnSpc>
              <a:spcBef>
                <a:spcPts val="900"/>
              </a:spcBef>
              <a:spcAft>
                <a:spcPts val="0"/>
              </a:spcAft>
              <a:buClr>
                <a:schemeClr val="dk1"/>
              </a:buClr>
              <a:buSzPts val="1100"/>
              <a:buChar char="●"/>
            </a:pPr>
            <a:r>
              <a:rPr lang="es-ES" sz="1000">
                <a:solidFill>
                  <a:schemeClr val="dk1"/>
                </a:solidFill>
              </a:rPr>
              <a:t>Demandas: Rechazo al régimen militar, aumento de salarios y condiciones laborales, y la restauración de la democracia.</a:t>
            </a:r>
            <a:endParaRPr sz="1000">
              <a:solidFill>
                <a:schemeClr val="dk1"/>
              </a:solidFill>
            </a:endParaRPr>
          </a:p>
          <a:p>
            <a:pPr marL="457200" lvl="0" indent="-298450" algn="l" rtl="0">
              <a:lnSpc>
                <a:spcPct val="115000"/>
              </a:lnSpc>
              <a:spcBef>
                <a:spcPts val="0"/>
              </a:spcBef>
              <a:spcAft>
                <a:spcPts val="0"/>
              </a:spcAft>
              <a:buClr>
                <a:schemeClr val="dk1"/>
              </a:buClr>
              <a:buSzPts val="1100"/>
              <a:buChar char="●"/>
            </a:pPr>
            <a:r>
              <a:rPr lang="es-ES" sz="1000">
                <a:solidFill>
                  <a:schemeClr val="dk1"/>
                </a:solidFill>
              </a:rPr>
              <a:t>Resultado: Fueron duramente reprimidas, pero contribuyeron a la creciente presión para el retorno a la democracia.</a:t>
            </a:r>
            <a:endParaRPr sz="1000">
              <a:solidFill>
                <a:schemeClr val="dk1"/>
              </a:solidFill>
            </a:endParaRPr>
          </a:p>
          <a:p>
            <a:pPr marL="0" lvl="0" indent="0" algn="l" rtl="0">
              <a:lnSpc>
                <a:spcPct val="115000"/>
              </a:lnSpc>
              <a:spcBef>
                <a:spcPts val="900"/>
              </a:spcBef>
              <a:spcAft>
                <a:spcPts val="0"/>
              </a:spcAft>
              <a:buClr>
                <a:schemeClr val="dk1"/>
              </a:buClr>
              <a:buSzPts val="1100"/>
              <a:buFont typeface="Arial"/>
              <a:buNone/>
            </a:pPr>
            <a:r>
              <a:rPr lang="es-ES" sz="1000">
                <a:solidFill>
                  <a:schemeClr val="dk1"/>
                </a:solidFill>
              </a:rPr>
              <a:t>Paro General de la CGT (1982)</a:t>
            </a:r>
            <a:endParaRPr sz="1000">
              <a:solidFill>
                <a:schemeClr val="dk1"/>
              </a:solidFill>
            </a:endParaRPr>
          </a:p>
          <a:p>
            <a:pPr marL="457200" lvl="0" indent="-298450" algn="l" rtl="0">
              <a:lnSpc>
                <a:spcPct val="115000"/>
              </a:lnSpc>
              <a:spcBef>
                <a:spcPts val="900"/>
              </a:spcBef>
              <a:spcAft>
                <a:spcPts val="0"/>
              </a:spcAft>
              <a:buClr>
                <a:schemeClr val="dk1"/>
              </a:buClr>
              <a:buSzPts val="1100"/>
              <a:buChar char="●"/>
            </a:pPr>
            <a:r>
              <a:rPr lang="es-ES" sz="1000">
                <a:solidFill>
                  <a:schemeClr val="dk1"/>
                </a:solidFill>
              </a:rPr>
              <a:t>Demandas: Aumento de salarios, mejoras en las condiciones laborales y el fin de la dictadura.</a:t>
            </a:r>
            <a:endParaRPr sz="1000">
              <a:solidFill>
                <a:schemeClr val="dk1"/>
              </a:solidFill>
            </a:endParaRPr>
          </a:p>
          <a:p>
            <a:pPr marL="457200" lvl="0" indent="-298450" algn="l" rtl="0">
              <a:lnSpc>
                <a:spcPct val="115000"/>
              </a:lnSpc>
              <a:spcBef>
                <a:spcPts val="0"/>
              </a:spcBef>
              <a:spcAft>
                <a:spcPts val="0"/>
              </a:spcAft>
              <a:buClr>
                <a:schemeClr val="dk1"/>
              </a:buClr>
              <a:buSzPts val="1100"/>
              <a:buChar char="●"/>
            </a:pPr>
            <a:r>
              <a:rPr lang="es-ES" sz="1000">
                <a:solidFill>
                  <a:schemeClr val="dk1"/>
                </a:solidFill>
              </a:rPr>
              <a:t>Resultado: La huelga mostró la fuerza del movimiento sindical y la oposición al régimen militar, contribuyendo a su colapso.</a:t>
            </a:r>
            <a:endParaRPr sz="1000">
              <a:solidFill>
                <a:schemeClr val="dk1"/>
              </a:solidFill>
            </a:endParaRPr>
          </a:p>
          <a:p>
            <a:pPr marL="0" lvl="0" indent="0" algn="l" rtl="0">
              <a:lnSpc>
                <a:spcPct val="115000"/>
              </a:lnSpc>
              <a:spcBef>
                <a:spcPts val="900"/>
              </a:spcBef>
              <a:spcAft>
                <a:spcPts val="0"/>
              </a:spcAft>
              <a:buClr>
                <a:schemeClr val="dk1"/>
              </a:buClr>
              <a:buSzPts val="1100"/>
              <a:buFont typeface="Arial"/>
              <a:buNone/>
            </a:pPr>
            <a:r>
              <a:rPr lang="es-ES" sz="1000">
                <a:solidFill>
                  <a:schemeClr val="dk1"/>
                </a:solidFill>
              </a:rPr>
              <a:t>Huelgas contra las Reformas Neoliberales (1990s)</a:t>
            </a:r>
            <a:endParaRPr sz="1000">
              <a:solidFill>
                <a:schemeClr val="dk1"/>
              </a:solidFill>
            </a:endParaRPr>
          </a:p>
          <a:p>
            <a:pPr marL="457200" lvl="0" indent="-298450" algn="l" rtl="0">
              <a:lnSpc>
                <a:spcPct val="115000"/>
              </a:lnSpc>
              <a:spcBef>
                <a:spcPts val="900"/>
              </a:spcBef>
              <a:spcAft>
                <a:spcPts val="0"/>
              </a:spcAft>
              <a:buClr>
                <a:schemeClr val="dk1"/>
              </a:buClr>
              <a:buSzPts val="1100"/>
              <a:buChar char="●"/>
            </a:pPr>
            <a:r>
              <a:rPr lang="es-ES" sz="1000">
                <a:solidFill>
                  <a:schemeClr val="dk1"/>
                </a:solidFill>
              </a:rPr>
              <a:t>Demandas: Rechazo a las políticas de privatización y ajuste estructural implementadas por el gobierno de Carlos Menem, aumento de salarios y preservación de los derechos laborales.</a:t>
            </a:r>
            <a:endParaRPr sz="1000">
              <a:solidFill>
                <a:schemeClr val="dk1"/>
              </a:solidFill>
            </a:endParaRPr>
          </a:p>
          <a:p>
            <a:pPr marL="457200" lvl="0" indent="-298450" algn="l" rtl="0">
              <a:lnSpc>
                <a:spcPct val="115000"/>
              </a:lnSpc>
              <a:spcBef>
                <a:spcPts val="0"/>
              </a:spcBef>
              <a:spcAft>
                <a:spcPts val="0"/>
              </a:spcAft>
              <a:buClr>
                <a:schemeClr val="dk1"/>
              </a:buClr>
              <a:buSzPts val="1100"/>
              <a:buChar char="●"/>
            </a:pPr>
            <a:r>
              <a:rPr lang="es-ES" sz="1000">
                <a:solidFill>
                  <a:schemeClr val="dk1"/>
                </a:solidFill>
              </a:rPr>
              <a:t>Resultado: Las huelgas fueron parcialmente exitosas en frenar algunas reformas, pero el contexto económico adverso y la represión dificultaron mayores avances.</a:t>
            </a:r>
            <a:endParaRPr sz="1000">
              <a:solidFill>
                <a:schemeClr val="dk1"/>
              </a:solidFill>
            </a:endParaRPr>
          </a:p>
          <a:p>
            <a:pPr marL="0" lvl="0" indent="0" algn="l" rtl="0">
              <a:spcBef>
                <a:spcPts val="900"/>
              </a:spcBef>
              <a:spcAft>
                <a:spcPts val="0"/>
              </a:spcAft>
              <a:buNone/>
            </a:pPr>
            <a:endParaRPr/>
          </a:p>
        </p:txBody>
      </p:sp>
      <p:sp>
        <p:nvSpPr>
          <p:cNvPr id="388" name="Google Shape;388;p3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07916"/>
              </a:lnSpc>
              <a:spcBef>
                <a:spcPts val="0"/>
              </a:spcBef>
              <a:spcAft>
                <a:spcPts val="0"/>
              </a:spcAft>
              <a:buClr>
                <a:schemeClr val="dk1"/>
              </a:buClr>
              <a:buSzPts val="1100"/>
              <a:buFont typeface="Arial"/>
              <a:buNone/>
            </a:pPr>
            <a:r>
              <a:rPr lang="es-ES" sz="1000" b="1" u="sng">
                <a:solidFill>
                  <a:schemeClr val="dk1"/>
                </a:solidFill>
                <a:latin typeface="Calibri"/>
                <a:ea typeface="Calibri"/>
                <a:cs typeface="Calibri"/>
                <a:sym typeface="Calibri"/>
              </a:rPr>
              <a:t>Cuáles son los derechos con los que nos debemos quedar:</a:t>
            </a:r>
            <a:endParaRPr sz="1000" b="1" u="sng">
              <a:solidFill>
                <a:schemeClr val="dk1"/>
              </a:solidFill>
              <a:latin typeface="Calibri"/>
              <a:ea typeface="Calibri"/>
              <a:cs typeface="Calibri"/>
              <a:sym typeface="Calibri"/>
            </a:endParaRPr>
          </a:p>
          <a:p>
            <a:pPr marL="457200" lvl="0" indent="-292100" algn="l" rtl="0">
              <a:lnSpc>
                <a:spcPct val="107916"/>
              </a:lnSpc>
              <a:spcBef>
                <a:spcPts val="800"/>
              </a:spcBef>
              <a:spcAft>
                <a:spcPts val="0"/>
              </a:spcAft>
              <a:buClr>
                <a:schemeClr val="dk1"/>
              </a:buClr>
              <a:buSzPts val="1000"/>
              <a:buFont typeface="Calibri"/>
              <a:buChar char="●"/>
            </a:pPr>
            <a:r>
              <a:rPr lang="es-ES" sz="1000">
                <a:solidFill>
                  <a:schemeClr val="dk1"/>
                </a:solidFill>
                <a:latin typeface="Calibri"/>
                <a:ea typeface="Calibri"/>
                <a:cs typeface="Calibri"/>
                <a:sym typeface="Calibri"/>
              </a:rPr>
              <a:t>Jornada de 8 horas</a:t>
            </a:r>
            <a:endParaRPr sz="1000">
              <a:solidFill>
                <a:schemeClr val="dk1"/>
              </a:solidFill>
              <a:latin typeface="Calibri"/>
              <a:ea typeface="Calibri"/>
              <a:cs typeface="Calibri"/>
              <a:sym typeface="Calibri"/>
            </a:endParaRPr>
          </a:p>
          <a:p>
            <a:pPr marL="457200" lvl="0" indent="-292100" algn="l" rtl="0">
              <a:lnSpc>
                <a:spcPct val="107916"/>
              </a:lnSpc>
              <a:spcBef>
                <a:spcPts val="0"/>
              </a:spcBef>
              <a:spcAft>
                <a:spcPts val="0"/>
              </a:spcAft>
              <a:buClr>
                <a:schemeClr val="dk1"/>
              </a:buClr>
              <a:buSzPts val="1000"/>
              <a:buFont typeface="Calibri"/>
              <a:buChar char="●"/>
            </a:pPr>
            <a:r>
              <a:rPr lang="es-ES" sz="1000">
                <a:solidFill>
                  <a:schemeClr val="dk1"/>
                </a:solidFill>
                <a:latin typeface="Calibri"/>
                <a:ea typeface="Calibri"/>
                <a:cs typeface="Calibri"/>
                <a:sym typeface="Calibri"/>
              </a:rPr>
              <a:t>Vacaciones pagas</a:t>
            </a:r>
            <a:endParaRPr sz="1000">
              <a:solidFill>
                <a:schemeClr val="dk1"/>
              </a:solidFill>
              <a:latin typeface="Calibri"/>
              <a:ea typeface="Calibri"/>
              <a:cs typeface="Calibri"/>
              <a:sym typeface="Calibri"/>
            </a:endParaRPr>
          </a:p>
          <a:p>
            <a:pPr marL="457200" lvl="0" indent="-292100" algn="l" rtl="0">
              <a:lnSpc>
                <a:spcPct val="107916"/>
              </a:lnSpc>
              <a:spcBef>
                <a:spcPts val="0"/>
              </a:spcBef>
              <a:spcAft>
                <a:spcPts val="0"/>
              </a:spcAft>
              <a:buClr>
                <a:schemeClr val="dk1"/>
              </a:buClr>
              <a:buSzPts val="1000"/>
              <a:buFont typeface="Calibri"/>
              <a:buChar char="●"/>
            </a:pPr>
            <a:r>
              <a:rPr lang="es-ES" sz="1000">
                <a:solidFill>
                  <a:schemeClr val="dk1"/>
                </a:solidFill>
                <a:latin typeface="Calibri"/>
                <a:ea typeface="Calibri"/>
                <a:cs typeface="Calibri"/>
                <a:sym typeface="Calibri"/>
              </a:rPr>
              <a:t>Condiciones de trabajo decentes (lo de la silla)</a:t>
            </a:r>
            <a:endParaRPr sz="1000">
              <a:solidFill>
                <a:schemeClr val="dk1"/>
              </a:solidFill>
              <a:latin typeface="Calibri"/>
              <a:ea typeface="Calibri"/>
              <a:cs typeface="Calibri"/>
              <a:sym typeface="Calibri"/>
            </a:endParaRPr>
          </a:p>
          <a:p>
            <a:pPr marL="0" lvl="0" indent="0" algn="l" rtl="0">
              <a:spcBef>
                <a:spcPts val="800"/>
              </a:spcBef>
              <a:spcAft>
                <a:spcPts val="0"/>
              </a:spcAft>
              <a:buNone/>
            </a:pPr>
            <a:endParaRPr/>
          </a:p>
        </p:txBody>
      </p:sp>
      <p:sp>
        <p:nvSpPr>
          <p:cNvPr id="395" name="Google Shape;395;p3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p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9" name="Google Shape;419;p4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1"/>
        <p:cNvGrpSpPr/>
        <p:nvPr/>
      </p:nvGrpSpPr>
      <p:grpSpPr>
        <a:xfrm>
          <a:off x="0" y="0"/>
          <a:ext cx="0" cy="0"/>
          <a:chOff x="0" y="0"/>
          <a:chExt cx="0" cy="0"/>
        </a:xfrm>
      </p:grpSpPr>
      <p:sp>
        <p:nvSpPr>
          <p:cNvPr id="12" name="Google Shape;12;p4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4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4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4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7"/>
        <p:cNvGrpSpPr/>
        <p:nvPr/>
      </p:nvGrpSpPr>
      <p:grpSpPr>
        <a:xfrm>
          <a:off x="0" y="0"/>
          <a:ext cx="0" cy="0"/>
          <a:chOff x="0" y="0"/>
          <a:chExt cx="0" cy="0"/>
        </a:xfrm>
      </p:grpSpPr>
      <p:sp>
        <p:nvSpPr>
          <p:cNvPr id="18" name="Google Shape;18;p4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4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4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4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3"/>
        <p:cNvGrpSpPr/>
        <p:nvPr/>
      </p:nvGrpSpPr>
      <p:grpSpPr>
        <a:xfrm>
          <a:off x="0" y="0"/>
          <a:ext cx="0" cy="0"/>
          <a:chOff x="0" y="0"/>
          <a:chExt cx="0" cy="0"/>
        </a:xfrm>
      </p:grpSpPr>
      <p:sp>
        <p:nvSpPr>
          <p:cNvPr id="24" name="Google Shape;24;p4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26" name="Google Shape;26;p4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4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29"/>
        <p:cNvGrpSpPr/>
        <p:nvPr/>
      </p:nvGrpSpPr>
      <p:grpSpPr>
        <a:xfrm>
          <a:off x="0" y="0"/>
          <a:ext cx="0" cy="0"/>
          <a:chOff x="0" y="0"/>
          <a:chExt cx="0" cy="0"/>
        </a:xfrm>
      </p:grpSpPr>
      <p:sp>
        <p:nvSpPr>
          <p:cNvPr id="30" name="Google Shape;30;p4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4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4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4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4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36"/>
        <p:cNvGrpSpPr/>
        <p:nvPr/>
      </p:nvGrpSpPr>
      <p:grpSpPr>
        <a:xfrm>
          <a:off x="0" y="0"/>
          <a:ext cx="0" cy="0"/>
          <a:chOff x="0" y="0"/>
          <a:chExt cx="0" cy="0"/>
        </a:xfrm>
      </p:grpSpPr>
      <p:sp>
        <p:nvSpPr>
          <p:cNvPr id="37" name="Google Shape;37;p4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4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4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4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4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4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4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45"/>
        <p:cNvGrpSpPr/>
        <p:nvPr/>
      </p:nvGrpSpPr>
      <p:grpSpPr>
        <a:xfrm>
          <a:off x="0" y="0"/>
          <a:ext cx="0" cy="0"/>
          <a:chOff x="0" y="0"/>
          <a:chExt cx="0" cy="0"/>
        </a:xfrm>
      </p:grpSpPr>
      <p:sp>
        <p:nvSpPr>
          <p:cNvPr id="46" name="Google Shape;46;p4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4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0"/>
        <p:cNvGrpSpPr/>
        <p:nvPr/>
      </p:nvGrpSpPr>
      <p:grpSpPr>
        <a:xfrm>
          <a:off x="0" y="0"/>
          <a:ext cx="0" cy="0"/>
          <a:chOff x="0" y="0"/>
          <a:chExt cx="0" cy="0"/>
        </a:xfrm>
      </p:grpSpPr>
      <p:sp>
        <p:nvSpPr>
          <p:cNvPr id="51" name="Google Shape;51;p5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5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5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4"/>
        <p:cNvGrpSpPr/>
        <p:nvPr/>
      </p:nvGrpSpPr>
      <p:grpSpPr>
        <a:xfrm>
          <a:off x="0" y="0"/>
          <a:ext cx="0" cy="0"/>
          <a:chOff x="0" y="0"/>
          <a:chExt cx="0" cy="0"/>
        </a:xfrm>
      </p:grpSpPr>
      <p:sp>
        <p:nvSpPr>
          <p:cNvPr id="55" name="Google Shape;55;p5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5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5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5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5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5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1"/>
        <p:cNvGrpSpPr/>
        <p:nvPr/>
      </p:nvGrpSpPr>
      <p:grpSpPr>
        <a:xfrm>
          <a:off x="0" y="0"/>
          <a:ext cx="0" cy="0"/>
          <a:chOff x="0" y="0"/>
          <a:chExt cx="0" cy="0"/>
        </a:xfrm>
      </p:grpSpPr>
      <p:sp>
        <p:nvSpPr>
          <p:cNvPr id="62" name="Google Shape;62;p5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52"/>
          <p:cNvSpPr>
            <a:spLocks noGrp="1"/>
          </p:cNvSpPr>
          <p:nvPr>
            <p:ph type="pic" idx="2"/>
          </p:nvPr>
        </p:nvSpPr>
        <p:spPr>
          <a:xfrm>
            <a:off x="5183188" y="987425"/>
            <a:ext cx="6172200" cy="4873625"/>
          </a:xfrm>
          <a:prstGeom prst="rect">
            <a:avLst/>
          </a:prstGeom>
          <a:noFill/>
          <a:ln>
            <a:noFill/>
          </a:ln>
        </p:spPr>
      </p:sp>
      <p:sp>
        <p:nvSpPr>
          <p:cNvPr id="64" name="Google Shape;64;p5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5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5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5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68"/>
        <p:cNvGrpSpPr/>
        <p:nvPr/>
      </p:nvGrpSpPr>
      <p:grpSpPr>
        <a:xfrm>
          <a:off x="0" y="0"/>
          <a:ext cx="0" cy="0"/>
          <a:chOff x="0" y="0"/>
          <a:chExt cx="0" cy="0"/>
        </a:xfrm>
      </p:grpSpPr>
      <p:sp>
        <p:nvSpPr>
          <p:cNvPr id="69" name="Google Shape;69;p5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5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5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5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5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4"/>
        <p:cNvGrpSpPr/>
        <p:nvPr/>
      </p:nvGrpSpPr>
      <p:grpSpPr>
        <a:xfrm>
          <a:off x="0" y="0"/>
          <a:ext cx="0" cy="0"/>
          <a:chOff x="0" y="0"/>
          <a:chExt cx="0" cy="0"/>
        </a:xfrm>
      </p:grpSpPr>
      <p:sp>
        <p:nvSpPr>
          <p:cNvPr id="75" name="Google Shape;75;p5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5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5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5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5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86"/>
        <p:cNvGrpSpPr/>
        <p:nvPr/>
      </p:nvGrpSpPr>
      <p:grpSpPr>
        <a:xfrm>
          <a:off x="0" y="0"/>
          <a:ext cx="0" cy="0"/>
          <a:chOff x="0" y="0"/>
          <a:chExt cx="0" cy="0"/>
        </a:xfrm>
      </p:grpSpPr>
      <p:sp>
        <p:nvSpPr>
          <p:cNvPr id="87" name="Google Shape;87;p4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8" name="Google Shape;88;p4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89" name="Google Shape;89;p4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4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4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4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8" name="Google Shape;8;p4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9" name="Google Shape;9;p4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0" name="Google Shape;10;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80"/>
        <p:cNvGrpSpPr/>
        <p:nvPr/>
      </p:nvGrpSpPr>
      <p:grpSpPr>
        <a:xfrm>
          <a:off x="0" y="0"/>
          <a:ext cx="0" cy="0"/>
          <a:chOff x="0" y="0"/>
          <a:chExt cx="0" cy="0"/>
        </a:xfrm>
      </p:grpSpPr>
      <p:sp>
        <p:nvSpPr>
          <p:cNvPr id="81" name="Google Shape;81;p4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lt1"/>
              </a:buClr>
              <a:buSzPts val="4400"/>
              <a:buFont typeface="Play"/>
              <a:buNone/>
              <a:defRPr sz="4400" b="0" i="0" u="none" strike="noStrike" cap="none">
                <a:solidFill>
                  <a:schemeClr val="lt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2" name="Google Shape;82;p4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lt1"/>
              </a:buClr>
              <a:buSzPts val="2800"/>
              <a:buFont typeface="Arial"/>
              <a:buChar char="•"/>
              <a:defRPr sz="28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lt1"/>
              </a:buClr>
              <a:buSzPts val="2400"/>
              <a:buFont typeface="Arial"/>
              <a:buChar char="•"/>
              <a:defRPr sz="2400" b="0" i="0" u="none" strike="noStrike" cap="none">
                <a:solidFill>
                  <a:schemeClr val="lt1"/>
                </a:solidFill>
                <a:latin typeface="Arial"/>
                <a:ea typeface="Arial"/>
                <a:cs typeface="Arial"/>
                <a:sym typeface="Arial"/>
              </a:defRPr>
            </a:lvl2pPr>
            <a:lvl3pPr marL="1371600" marR="0" lvl="2"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Arial"/>
                <a:ea typeface="Arial"/>
                <a:cs typeface="Arial"/>
                <a:sym typeface="Arial"/>
              </a:defRPr>
            </a:lvl3pPr>
            <a:lvl4pPr marL="1828800" marR="0" lvl="3"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4pPr>
            <a:lvl5pPr marL="2286000" marR="0" lvl="4"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5pPr>
            <a:lvl6pPr marL="2743200" marR="0" lvl="5"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6pPr>
            <a:lvl7pPr marL="3200400" marR="0" lvl="6"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7pPr>
            <a:lvl8pPr marL="3657600" marR="0" lvl="7"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8pPr>
            <a:lvl9pPr marL="4114800" marR="0" lvl="8"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9pPr>
          </a:lstStyle>
          <a:p>
            <a:endParaRPr/>
          </a:p>
        </p:txBody>
      </p:sp>
      <p:sp>
        <p:nvSpPr>
          <p:cNvPr id="83" name="Google Shape;83;p4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lt1"/>
                </a:solidFill>
                <a:latin typeface="Arial"/>
                <a:ea typeface="Arial"/>
                <a:cs typeface="Arial"/>
                <a:sym typeface="Arial"/>
              </a:defRPr>
            </a:lvl9pPr>
          </a:lstStyle>
          <a:p>
            <a:endParaRPr/>
          </a:p>
        </p:txBody>
      </p:sp>
      <p:sp>
        <p:nvSpPr>
          <p:cNvPr id="84" name="Google Shape;84;p4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lt1"/>
                </a:solidFill>
                <a:latin typeface="Arial"/>
                <a:ea typeface="Arial"/>
                <a:cs typeface="Arial"/>
                <a:sym typeface="Arial"/>
              </a:defRPr>
            </a:lvl9pPr>
          </a:lstStyle>
          <a:p>
            <a:endParaRPr/>
          </a:p>
        </p:txBody>
      </p:sp>
      <p:sp>
        <p:nvSpPr>
          <p:cNvPr id="85" name="Google Shape;85;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u="none">
                <a:solidFill>
                  <a:schemeClr val="lt1"/>
                </a:solidFill>
                <a:latin typeface="Arial"/>
                <a:ea typeface="Arial"/>
                <a:cs typeface="Arial"/>
                <a:sym typeface="Arial"/>
              </a:defRPr>
            </a:lvl1pPr>
            <a:lvl2pPr marL="0" marR="0" lvl="1" indent="0" algn="r" rtl="0">
              <a:spcBef>
                <a:spcPts val="0"/>
              </a:spcBef>
              <a:buNone/>
              <a:defRPr sz="1200" b="0" u="none">
                <a:solidFill>
                  <a:schemeClr val="lt1"/>
                </a:solidFill>
                <a:latin typeface="Arial"/>
                <a:ea typeface="Arial"/>
                <a:cs typeface="Arial"/>
                <a:sym typeface="Arial"/>
              </a:defRPr>
            </a:lvl2pPr>
            <a:lvl3pPr marL="0" marR="0" lvl="2" indent="0" algn="r" rtl="0">
              <a:spcBef>
                <a:spcPts val="0"/>
              </a:spcBef>
              <a:buNone/>
              <a:defRPr sz="1200" b="0" u="none">
                <a:solidFill>
                  <a:schemeClr val="lt1"/>
                </a:solidFill>
                <a:latin typeface="Arial"/>
                <a:ea typeface="Arial"/>
                <a:cs typeface="Arial"/>
                <a:sym typeface="Arial"/>
              </a:defRPr>
            </a:lvl3pPr>
            <a:lvl4pPr marL="0" marR="0" lvl="3" indent="0" algn="r" rtl="0">
              <a:spcBef>
                <a:spcPts val="0"/>
              </a:spcBef>
              <a:buNone/>
              <a:defRPr sz="1200" b="0" u="none">
                <a:solidFill>
                  <a:schemeClr val="lt1"/>
                </a:solidFill>
                <a:latin typeface="Arial"/>
                <a:ea typeface="Arial"/>
                <a:cs typeface="Arial"/>
                <a:sym typeface="Arial"/>
              </a:defRPr>
            </a:lvl4pPr>
            <a:lvl5pPr marL="0" marR="0" lvl="4" indent="0" algn="r" rtl="0">
              <a:spcBef>
                <a:spcPts val="0"/>
              </a:spcBef>
              <a:buNone/>
              <a:defRPr sz="1200" b="0" u="none">
                <a:solidFill>
                  <a:schemeClr val="lt1"/>
                </a:solidFill>
                <a:latin typeface="Arial"/>
                <a:ea typeface="Arial"/>
                <a:cs typeface="Arial"/>
                <a:sym typeface="Arial"/>
              </a:defRPr>
            </a:lvl5pPr>
            <a:lvl6pPr marL="0" marR="0" lvl="5" indent="0" algn="r" rtl="0">
              <a:spcBef>
                <a:spcPts val="0"/>
              </a:spcBef>
              <a:buNone/>
              <a:defRPr sz="1200" b="0" u="none">
                <a:solidFill>
                  <a:schemeClr val="lt1"/>
                </a:solidFill>
                <a:latin typeface="Arial"/>
                <a:ea typeface="Arial"/>
                <a:cs typeface="Arial"/>
                <a:sym typeface="Arial"/>
              </a:defRPr>
            </a:lvl6pPr>
            <a:lvl7pPr marL="0" marR="0" lvl="6" indent="0" algn="r" rtl="0">
              <a:spcBef>
                <a:spcPts val="0"/>
              </a:spcBef>
              <a:buNone/>
              <a:defRPr sz="1200" b="0" u="none">
                <a:solidFill>
                  <a:schemeClr val="lt1"/>
                </a:solidFill>
                <a:latin typeface="Arial"/>
                <a:ea typeface="Arial"/>
                <a:cs typeface="Arial"/>
                <a:sym typeface="Arial"/>
              </a:defRPr>
            </a:lvl7pPr>
            <a:lvl8pPr marL="0" marR="0" lvl="7" indent="0" algn="r" rtl="0">
              <a:spcBef>
                <a:spcPts val="0"/>
              </a:spcBef>
              <a:buNone/>
              <a:defRPr sz="1200" b="0" u="none">
                <a:solidFill>
                  <a:schemeClr val="lt1"/>
                </a:solidFill>
                <a:latin typeface="Arial"/>
                <a:ea typeface="Arial"/>
                <a:cs typeface="Arial"/>
                <a:sym typeface="Arial"/>
              </a:defRPr>
            </a:lvl8pPr>
            <a:lvl9pPr marL="0" marR="0" lvl="8" indent="0" algn="r" rtl="0">
              <a:spcBef>
                <a:spcPts val="0"/>
              </a:spcBef>
              <a:buNone/>
              <a:defRPr sz="1200" b="0" u="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ES"/>
              <a:t>‹Nº›</a:t>
            </a:fld>
            <a:endParaRPr/>
          </a:p>
        </p:txBody>
      </p:sp>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video" Target="https://www.youtube.com/embed/lc_psTVlGF8?start=1&amp;feature=oembed" TargetMode="External"/><Relationship Id="rId4" Type="http://schemas.openxmlformats.org/officeDocument/2006/relationships/image" Target="../media/image28.jpeg"/></Relationships>
</file>

<file path=ppt/slides/_rels/slide3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43.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5"/>
        <p:cNvGrpSpPr/>
        <p:nvPr/>
      </p:nvGrpSpPr>
      <p:grpSpPr>
        <a:xfrm>
          <a:off x="0" y="0"/>
          <a:ext cx="0" cy="0"/>
          <a:chOff x="0" y="0"/>
          <a:chExt cx="0" cy="0"/>
        </a:xfrm>
      </p:grpSpPr>
      <p:sp>
        <p:nvSpPr>
          <p:cNvPr id="96" name="Google Shape;96;p1"/>
          <p:cNvSpPr/>
          <p:nvPr/>
        </p:nvSpPr>
        <p:spPr>
          <a:xfrm>
            <a:off x="0" y="0"/>
            <a:ext cx="12192000" cy="6858000"/>
          </a:xfrm>
          <a:prstGeom prst="rect">
            <a:avLst/>
          </a:prstGeom>
          <a:solidFill>
            <a:srgbClr val="0C0C0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7" name="Google Shape;97;p1"/>
          <p:cNvSpPr txBox="1">
            <a:spLocks noGrp="1"/>
          </p:cNvSpPr>
          <p:nvPr>
            <p:ph type="ctrTitle"/>
          </p:nvPr>
        </p:nvSpPr>
        <p:spPr>
          <a:xfrm>
            <a:off x="6687737" y="1384296"/>
            <a:ext cx="4605340" cy="23876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5000"/>
              <a:buFont typeface="Play"/>
              <a:buNone/>
            </a:pPr>
            <a:r>
              <a:rPr lang="es-ES" sz="5000">
                <a:solidFill>
                  <a:schemeClr val="lt1"/>
                </a:solidFill>
              </a:rPr>
              <a:t>Derechos del trabajador</a:t>
            </a:r>
            <a:endParaRPr/>
          </a:p>
        </p:txBody>
      </p:sp>
      <p:pic>
        <p:nvPicPr>
          <p:cNvPr id="98" name="Google Shape;98;p1" descr="Vectores e ilustraciones de Trabajadores para descargar gratis | Freepik"/>
          <p:cNvPicPr preferRelativeResize="0"/>
          <p:nvPr/>
        </p:nvPicPr>
        <p:blipFill rotWithShape="1">
          <a:blip r:embed="rId3">
            <a:alphaModFix/>
          </a:blip>
          <a:srcRect l="19346" r="9249" b="1"/>
          <a:stretch/>
        </p:blipFill>
        <p:spPr>
          <a:xfrm>
            <a:off x="473874" y="1057275"/>
            <a:ext cx="5917401" cy="4743450"/>
          </a:xfrm>
          <a:prstGeom prst="rect">
            <a:avLst/>
          </a:prstGeom>
          <a:noFill/>
          <a:ln>
            <a:noFill/>
          </a:ln>
        </p:spPr>
      </p:pic>
      <p:sp>
        <p:nvSpPr>
          <p:cNvPr id="99" name="Google Shape;99;p1"/>
          <p:cNvSpPr/>
          <p:nvPr/>
        </p:nvSpPr>
        <p:spPr>
          <a:xfrm>
            <a:off x="602461" y="1197769"/>
            <a:ext cx="10987078" cy="4462463"/>
          </a:xfrm>
          <a:prstGeom prst="rect">
            <a:avLst/>
          </a:prstGeom>
          <a:no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0" name="Google Shape;100;p1"/>
          <p:cNvSpPr/>
          <p:nvPr/>
        </p:nvSpPr>
        <p:spPr>
          <a:xfrm>
            <a:off x="126206" y="115193"/>
            <a:ext cx="11939588" cy="6627614"/>
          </a:xfrm>
          <a:prstGeom prst="rect">
            <a:avLst/>
          </a:prstGeom>
          <a:no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p:cNvGrpSpPr/>
        <p:nvPr/>
      </p:nvGrpSpPr>
      <p:grpSpPr>
        <a:xfrm>
          <a:off x="0" y="0"/>
          <a:ext cx="0" cy="0"/>
          <a:chOff x="0" y="0"/>
          <a:chExt cx="0" cy="0"/>
        </a:xfrm>
      </p:grpSpPr>
      <p:sp>
        <p:nvSpPr>
          <p:cNvPr id="105" name="Google Shape;105;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s-ES" b="1"/>
              <a:t>¿Qué tipo de derecho es?</a:t>
            </a:r>
            <a:endParaRPr/>
          </a:p>
        </p:txBody>
      </p:sp>
      <p:sp>
        <p:nvSpPr>
          <p:cNvPr id="106" name="Google Shape;106;p2"/>
          <p:cNvSpPr txBox="1"/>
          <p:nvPr/>
        </p:nvSpPr>
        <p:spPr>
          <a:xfrm>
            <a:off x="1132114" y="1763486"/>
            <a:ext cx="1014548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400" b="1" i="0" u="none" strike="noStrike" cap="none">
                <a:solidFill>
                  <a:schemeClr val="dk1"/>
                </a:solidFill>
                <a:latin typeface="Arial"/>
                <a:ea typeface="Arial"/>
                <a:cs typeface="Arial"/>
                <a:sym typeface="Arial"/>
              </a:rPr>
              <a:t>Subjetivos</a:t>
            </a:r>
            <a:endParaRPr/>
          </a:p>
        </p:txBody>
      </p:sp>
      <p:sp>
        <p:nvSpPr>
          <p:cNvPr id="107" name="Google Shape;107;p2"/>
          <p:cNvSpPr txBox="1"/>
          <p:nvPr/>
        </p:nvSpPr>
        <p:spPr>
          <a:xfrm>
            <a:off x="4719470" y="1762253"/>
            <a:ext cx="27432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400" b="1" i="0" u="none" strike="noStrike" cap="none">
                <a:solidFill>
                  <a:schemeClr val="dk1"/>
                </a:solidFill>
                <a:latin typeface="Arial"/>
                <a:ea typeface="Arial"/>
                <a:cs typeface="Arial"/>
                <a:sym typeface="Arial"/>
              </a:rPr>
              <a:t>Individuales</a:t>
            </a:r>
            <a:endParaRPr/>
          </a:p>
        </p:txBody>
      </p:sp>
      <p:sp>
        <p:nvSpPr>
          <p:cNvPr id="108" name="Google Shape;108;p2"/>
          <p:cNvSpPr txBox="1"/>
          <p:nvPr/>
        </p:nvSpPr>
        <p:spPr>
          <a:xfrm>
            <a:off x="8609572" y="1746643"/>
            <a:ext cx="2891866"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400" b="1" i="0" u="none" strike="noStrike" cap="none" dirty="0">
                <a:solidFill>
                  <a:schemeClr val="dk1"/>
                </a:solidFill>
                <a:latin typeface="Arial"/>
                <a:ea typeface="Arial"/>
                <a:cs typeface="Arial"/>
                <a:sym typeface="Arial"/>
              </a:rPr>
              <a:t>Positivos sociales</a:t>
            </a:r>
            <a:endParaRPr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2"/>
        <p:cNvGrpSpPr/>
        <p:nvPr/>
      </p:nvGrpSpPr>
      <p:grpSpPr>
        <a:xfrm>
          <a:off x="0" y="0"/>
          <a:ext cx="0" cy="0"/>
          <a:chOff x="0" y="0"/>
          <a:chExt cx="0" cy="0"/>
        </a:xfrm>
      </p:grpSpPr>
      <p:sp>
        <p:nvSpPr>
          <p:cNvPr id="113" name="Google Shape;113;p3"/>
          <p:cNvSpPr/>
          <p:nvPr/>
        </p:nvSpPr>
        <p:spPr>
          <a:xfrm rot="-5400000">
            <a:off x="800100" y="1491343"/>
            <a:ext cx="3333749" cy="3499103"/>
          </a:xfrm>
          <a:prstGeom prst="downArrow">
            <a:avLst>
              <a:gd name="adj1" fmla="val 100000"/>
              <a:gd name="adj2" fmla="val 15788"/>
            </a:avLst>
          </a:prstGeom>
          <a:solidFill>
            <a:srgbClr val="4040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14" name="Google Shape;114;p3"/>
          <p:cNvSpPr txBox="1">
            <a:spLocks noGrp="1"/>
          </p:cNvSpPr>
          <p:nvPr>
            <p:ph type="title"/>
          </p:nvPr>
        </p:nvSpPr>
        <p:spPr>
          <a:xfrm>
            <a:off x="1028700" y="1967266"/>
            <a:ext cx="2800350" cy="2476147"/>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3100"/>
              <a:buFont typeface="Play"/>
              <a:buNone/>
            </a:pPr>
            <a:r>
              <a:rPr lang="es-ES" sz="3100" b="1" dirty="0">
                <a:solidFill>
                  <a:srgbClr val="FFFFFF"/>
                </a:solidFill>
                <a:latin typeface="Play"/>
                <a:ea typeface="Play"/>
                <a:cs typeface="Play"/>
                <a:sym typeface="Play"/>
              </a:rPr>
              <a:t>¿Quiénes son trabajadores</a:t>
            </a:r>
            <a:r>
              <a:rPr lang="es-ES" sz="3100" b="1" dirty="0">
                <a:solidFill>
                  <a:srgbClr val="FFFFFF"/>
                </a:solidFill>
              </a:rPr>
              <a:t>?</a:t>
            </a:r>
            <a:endParaRPr sz="3100" dirty="0">
              <a:solidFill>
                <a:srgbClr val="FFFFFF"/>
              </a:solidFill>
              <a:latin typeface="Play"/>
              <a:ea typeface="Play"/>
              <a:cs typeface="Play"/>
              <a:sym typeface="Play"/>
            </a:endParaRPr>
          </a:p>
        </p:txBody>
      </p:sp>
      <p:pic>
        <p:nvPicPr>
          <p:cNvPr id="115" name="Google Shape;115;p3"/>
          <p:cNvPicPr preferRelativeResize="0"/>
          <p:nvPr/>
        </p:nvPicPr>
        <p:blipFill rotWithShape="1">
          <a:blip r:embed="rId3">
            <a:alphaModFix/>
          </a:blip>
          <a:srcRect/>
          <a:stretch/>
        </p:blipFill>
        <p:spPr>
          <a:xfrm>
            <a:off x="5383296" y="643466"/>
            <a:ext cx="5568739" cy="5568739"/>
          </a:xfrm>
          <a:prstGeom prst="rect">
            <a:avLst/>
          </a:prstGeom>
          <a:noFill/>
          <a:ln>
            <a:noFill/>
          </a:ln>
        </p:spPr>
      </p:pic>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19"/>
        <p:cNvGrpSpPr/>
        <p:nvPr/>
      </p:nvGrpSpPr>
      <p:grpSpPr>
        <a:xfrm>
          <a:off x="0" y="0"/>
          <a:ext cx="0" cy="0"/>
          <a:chOff x="0" y="0"/>
          <a:chExt cx="0" cy="0"/>
        </a:xfrm>
      </p:grpSpPr>
      <p:sp>
        <p:nvSpPr>
          <p:cNvPr id="120" name="Google Shape;120;p4"/>
          <p:cNvSpPr txBox="1">
            <a:spLocks noGrp="1"/>
          </p:cNvSpPr>
          <p:nvPr>
            <p:ph type="title"/>
          </p:nvPr>
        </p:nvSpPr>
        <p:spPr>
          <a:xfrm>
            <a:off x="838200" y="2090408"/>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00000"/>
              </a:buClr>
              <a:buSzPts val="9600"/>
              <a:buFont typeface="Arial"/>
              <a:buNone/>
            </a:pPr>
            <a:r>
              <a:rPr lang="es-ES" sz="9600" b="1">
                <a:solidFill>
                  <a:srgbClr val="C00000"/>
                </a:solidFill>
                <a:latin typeface="Arial"/>
                <a:ea typeface="Arial"/>
                <a:cs typeface="Arial"/>
                <a:sym typeface="Arial"/>
              </a:rPr>
              <a:t>¿Qué es trabajar?</a:t>
            </a:r>
            <a:endParaRPr sz="9600">
              <a:solidFill>
                <a:srgbClr val="C00000"/>
              </a:solidFill>
              <a:latin typeface="Arial"/>
              <a:ea typeface="Arial"/>
              <a:cs typeface="Arial"/>
              <a:sym typeface="Arial"/>
            </a:endParaRPr>
          </a:p>
        </p:txBody>
      </p:sp>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4"/>
        <p:cNvGrpSpPr/>
        <p:nvPr/>
      </p:nvGrpSpPr>
      <p:grpSpPr>
        <a:xfrm>
          <a:off x="0" y="0"/>
          <a:ext cx="0" cy="0"/>
          <a:chOff x="0" y="0"/>
          <a:chExt cx="0" cy="0"/>
        </a:xfrm>
      </p:grpSpPr>
      <p:sp>
        <p:nvSpPr>
          <p:cNvPr id="125" name="Google Shape;125;p5"/>
          <p:cNvSpPr/>
          <p:nvPr/>
        </p:nvSpPr>
        <p:spPr>
          <a:xfrm>
            <a:off x="-1"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26" name="Google Shape;126;p5" descr="Escritorio iluminado por el sol"/>
          <p:cNvPicPr preferRelativeResize="0"/>
          <p:nvPr/>
        </p:nvPicPr>
        <p:blipFill rotWithShape="1">
          <a:blip r:embed="rId3">
            <a:alphaModFix/>
          </a:blip>
          <a:srcRect t="2404" r="-2" b="13197"/>
          <a:stretch/>
        </p:blipFill>
        <p:spPr>
          <a:xfrm>
            <a:off x="-3047" y="10"/>
            <a:ext cx="12191999" cy="6857990"/>
          </a:xfrm>
          <a:prstGeom prst="rect">
            <a:avLst/>
          </a:prstGeom>
          <a:noFill/>
          <a:ln>
            <a:noFill/>
          </a:ln>
        </p:spPr>
      </p:pic>
      <p:sp>
        <p:nvSpPr>
          <p:cNvPr id="127" name="Google Shape;127;p5"/>
          <p:cNvSpPr/>
          <p:nvPr/>
        </p:nvSpPr>
        <p:spPr>
          <a:xfrm>
            <a:off x="0" y="2207602"/>
            <a:ext cx="12191999" cy="3162146"/>
          </a:xfrm>
          <a:prstGeom prst="rect">
            <a:avLst/>
          </a:prstGeom>
          <a:gradFill>
            <a:gsLst>
              <a:gs pos="0">
                <a:srgbClr val="000000">
                  <a:alpha val="0"/>
                </a:srgbClr>
              </a:gs>
              <a:gs pos="25000">
                <a:srgbClr val="000000">
                  <a:alpha val="14901"/>
                </a:srgbClr>
              </a:gs>
              <a:gs pos="50000">
                <a:srgbClr val="000000">
                  <a:alpha val="29803"/>
                </a:srgbClr>
              </a:gs>
              <a:gs pos="75000">
                <a:srgbClr val="000000">
                  <a:alpha val="14901"/>
                </a:srgbClr>
              </a:gs>
              <a:gs pos="100000">
                <a:srgbClr val="000000">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28" name="Google Shape;128;p5"/>
          <p:cNvSpPr txBox="1"/>
          <p:nvPr/>
        </p:nvSpPr>
        <p:spPr>
          <a:xfrm>
            <a:off x="1097280" y="325550"/>
            <a:ext cx="10058400" cy="3574778"/>
          </a:xfrm>
          <a:prstGeom prst="rect">
            <a:avLst/>
          </a:prstGeom>
          <a:noFill/>
          <a:ln>
            <a:noFill/>
          </a:ln>
          <a:effectLst>
            <a:outerShdw blurRad="50800" dist="38100" dir="2700000" algn="tl" rotWithShape="0">
              <a:srgbClr val="000000">
                <a:alpha val="40000"/>
              </a:srgbClr>
            </a:outerShdw>
          </a:effectLst>
        </p:spPr>
        <p:txBody>
          <a:bodyPr spcFirstLastPara="1" wrap="square" lIns="91425" tIns="45700" rIns="91425" bIns="45700" anchor="b" anchorCtr="0">
            <a:normAutofit/>
          </a:bodyPr>
          <a:lstStyle/>
          <a:p>
            <a:pPr marL="0" marR="0" lvl="0" indent="0" algn="ctr" rtl="0">
              <a:lnSpc>
                <a:spcPct val="90000"/>
              </a:lnSpc>
              <a:spcBef>
                <a:spcPts val="0"/>
              </a:spcBef>
              <a:spcAft>
                <a:spcPts val="0"/>
              </a:spcAft>
              <a:buNone/>
            </a:pPr>
            <a:r>
              <a:rPr lang="es-ES" sz="5200" b="1">
                <a:solidFill>
                  <a:srgbClr val="FFFFFF"/>
                </a:solidFill>
                <a:latin typeface="Play"/>
                <a:ea typeface="Play"/>
                <a:cs typeface="Play"/>
                <a:sym typeface="Play"/>
              </a:rPr>
              <a:t>¿Qué hace el trabajo?</a:t>
            </a:r>
            <a:endParaRPr/>
          </a:p>
        </p:txBody>
      </p:sp>
    </p:spTree>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6"/>
          <p:cNvSpPr txBox="1">
            <a:spLocks noGrp="1"/>
          </p:cNvSpPr>
          <p:nvPr>
            <p:ph type="title"/>
          </p:nvPr>
        </p:nvSpPr>
        <p:spPr>
          <a:xfrm>
            <a:off x="838200" y="3039314"/>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3600"/>
              <a:buFont typeface="Play"/>
              <a:buNone/>
            </a:pPr>
            <a:r>
              <a:rPr lang="es-ES" sz="3600" b="1" u="sng"/>
              <a:t>Artículo 14.-</a:t>
            </a:r>
            <a:r>
              <a:rPr lang="es-ES" sz="3600"/>
              <a:t> Todos los habitantes de la Nación gozan de los siguientes derechos conforme a las leyes que reglamenten su ejercicio; a saber: de trabajar y ejercer toda industria lícita; de navegar y comerciar; de peticionar a las autoridades; de entrar, permanecer, transitar y salir del territorio argentino; de publicar sus ideas por la prensa sin censura previa; de usar y disponer de su propiedad; de asociarse con fines útiles; de profesar libremente su culto; de enseñar y aprender.</a:t>
            </a:r>
            <a:endParaRPr/>
          </a:p>
        </p:txBody>
      </p:sp>
    </p:spTree>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7"/>
          <p:cNvSpPr txBox="1">
            <a:spLocks noGrp="1"/>
          </p:cNvSpPr>
          <p:nvPr>
            <p:ph type="title"/>
          </p:nvPr>
        </p:nvSpPr>
        <p:spPr>
          <a:xfrm>
            <a:off x="838200" y="437012"/>
            <a:ext cx="10515600" cy="5983826"/>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3600"/>
              <a:buFont typeface="Play"/>
              <a:buNone/>
            </a:pPr>
            <a:r>
              <a:rPr lang="es-ES" sz="3600" b="1"/>
              <a:t>Artículo 14 bis.-</a:t>
            </a:r>
            <a:r>
              <a:rPr lang="es-ES" sz="3600"/>
              <a:t> El trabajo en sus diversas formas gozará de la protección de las leyes, las que asegurarán al trabajador: condiciones dignas y equitativas de labor, jornada limitada; descanso y vacaciones pagados; retribución justa; salario mínimo vital móvil; igual remuneración por igual tarea; participación en las ganancias de las empresas, con control de la producción y colaboración en la dirección; protección contra el despido arbitrario; estabilidad del empleado público; organización sindical libre y democrática, reconocida por la simple inscripción en un registro especial.</a:t>
            </a:r>
            <a:endParaRPr sz="3600"/>
          </a:p>
          <a:p>
            <a:pPr marL="0" lvl="0" indent="0" algn="l" rtl="0">
              <a:lnSpc>
                <a:spcPct val="90000"/>
              </a:lnSpc>
              <a:spcBef>
                <a:spcPts val="0"/>
              </a:spcBef>
              <a:spcAft>
                <a:spcPts val="0"/>
              </a:spcAft>
              <a:buClr>
                <a:schemeClr val="dk1"/>
              </a:buClr>
              <a:buSzPts val="4400"/>
              <a:buFont typeface="Play"/>
              <a:buNone/>
            </a:pPr>
            <a:endParaRPr/>
          </a:p>
        </p:txBody>
      </p:sp>
    </p:spTree>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8"/>
          <p:cNvSpPr txBox="1">
            <a:spLocks noGrp="1"/>
          </p:cNvSpPr>
          <p:nvPr>
            <p:ph type="title"/>
          </p:nvPr>
        </p:nvSpPr>
        <p:spPr>
          <a:xfrm>
            <a:off x="838200" y="192597"/>
            <a:ext cx="10515600" cy="645828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3600"/>
              <a:buFont typeface="Play"/>
              <a:buNone/>
            </a:pPr>
            <a:r>
              <a:rPr lang="es-ES" sz="3600"/>
              <a:t>Queda garantizado a los gremios: concertar convenios colectivos de trabajo; recurrir a la conciliación y al arbitraje; el derecho de huelga. Los representantes gremiales gozarán de las garantías necesarias para el cumplimiento de su gestión sindical y las relacionadas con la estabilidad de su empleo.</a:t>
            </a:r>
            <a:endParaRPr/>
          </a:p>
          <a:p>
            <a:pPr marL="0" lvl="0" indent="0" algn="l" rtl="0">
              <a:lnSpc>
                <a:spcPct val="90000"/>
              </a:lnSpc>
              <a:spcBef>
                <a:spcPts val="0"/>
              </a:spcBef>
              <a:spcAft>
                <a:spcPts val="0"/>
              </a:spcAft>
              <a:buClr>
                <a:schemeClr val="dk1"/>
              </a:buClr>
              <a:buSzPts val="3600"/>
              <a:buFont typeface="Play"/>
              <a:buNone/>
            </a:pPr>
            <a:r>
              <a:rPr lang="es-ES" sz="3600"/>
              <a:t>El Estado otorgará los beneficios de la seguridad social, que tendrá carácter de integral e irrenunciable. En especial, la ley establecerá: el seguro social obligatorio, que estará a cargo de entidades nacionales o provinciales con autonomía financiera y económica, administradas por los interesados con participación del </a:t>
            </a:r>
            <a:endParaRPr/>
          </a:p>
        </p:txBody>
      </p:sp>
    </p:spTree>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9"/>
          <p:cNvSpPr txBox="1">
            <a:spLocks noGrp="1"/>
          </p:cNvSpPr>
          <p:nvPr>
            <p:ph type="title"/>
          </p:nvPr>
        </p:nvSpPr>
        <p:spPr>
          <a:xfrm>
            <a:off x="838200" y="853955"/>
            <a:ext cx="10515600" cy="513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3600"/>
              <a:buFont typeface="Play"/>
              <a:buNone/>
            </a:pPr>
            <a:r>
              <a:rPr lang="es-ES" sz="3600"/>
              <a:t>Estado, sin que pueda existir superposición de aportes; jubilaciones y pensiones móviles; la protección integral de la familia; la defensa del bien de familia; la compensación económica familiar y el acceso a una vivienda digna.</a:t>
            </a:r>
            <a:endParaRPr/>
          </a:p>
        </p:txBody>
      </p:sp>
    </p:spTree>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52"/>
        <p:cNvGrpSpPr/>
        <p:nvPr/>
      </p:nvGrpSpPr>
      <p:grpSpPr>
        <a:xfrm>
          <a:off x="0" y="0"/>
          <a:ext cx="0" cy="0"/>
          <a:chOff x="0" y="0"/>
          <a:chExt cx="0" cy="0"/>
        </a:xfrm>
      </p:grpSpPr>
      <p:sp>
        <p:nvSpPr>
          <p:cNvPr id="158" name="Rectangle 157">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Rectangle 159">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3C4F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Google Shape;153;p10"/>
          <p:cNvSpPr txBox="1"/>
          <p:nvPr/>
        </p:nvSpPr>
        <p:spPr>
          <a:xfrm>
            <a:off x="640080" y="2074363"/>
            <a:ext cx="3039901" cy="2709275"/>
          </a:xfrm>
          <a:prstGeom prst="ellipse">
            <a:avLst/>
          </a:prstGeom>
          <a:solidFill>
            <a:srgbClr val="262626"/>
          </a:solidFill>
          <a:ln w="174625" cmpd="thinThick">
            <a:solidFill>
              <a:srgbClr val="262626"/>
            </a:solidFill>
          </a:ln>
        </p:spPr>
        <p:txBody>
          <a:bodyPr spcFirstLastPara="1" vert="horz" lIns="91440" tIns="45720" rIns="91440" bIns="45720" rtlCol="0" anchor="ctr" anchorCtr="0">
            <a:normAutofit/>
          </a:bodyPr>
          <a:lstStyle/>
          <a:p>
            <a:pPr marL="0" marR="0" lvl="0" indent="0" algn="ctr">
              <a:lnSpc>
                <a:spcPct val="90000"/>
              </a:lnSpc>
              <a:spcBef>
                <a:spcPct val="0"/>
              </a:spcBef>
              <a:spcAft>
                <a:spcPts val="600"/>
              </a:spcAft>
            </a:pPr>
            <a:r>
              <a:rPr lang="en-US" sz="2400" b="1" kern="1200">
                <a:solidFill>
                  <a:srgbClr val="FFFFFF"/>
                </a:solidFill>
                <a:latin typeface="+mj-lt"/>
                <a:ea typeface="+mj-ea"/>
                <a:cs typeface="+mj-cs"/>
                <a:sym typeface="Play"/>
              </a:rPr>
              <a:t>Condiciones dignas y equitativas de labor</a:t>
            </a:r>
            <a:endParaRPr lang="en-US" sz="2400" kern="1200">
              <a:solidFill>
                <a:srgbClr val="FFFFFF"/>
              </a:solidFill>
              <a:latin typeface="+mj-lt"/>
              <a:ea typeface="+mj-ea"/>
              <a:cs typeface="+mj-cs"/>
            </a:endParaRPr>
          </a:p>
        </p:txBody>
      </p:sp>
      <p:pic>
        <p:nvPicPr>
          <p:cNvPr id="2" name="Imagen 1">
            <a:extLst>
              <a:ext uri="{FF2B5EF4-FFF2-40B4-BE49-F238E27FC236}">
                <a16:creationId xmlns:a16="http://schemas.microsoft.com/office/drawing/2014/main" id="{4A2FF14F-7146-03F0-B16A-868323D55EE0}"/>
              </a:ext>
            </a:extLst>
          </p:cNvPr>
          <p:cNvPicPr>
            <a:picLocks noChangeAspect="1"/>
          </p:cNvPicPr>
          <p:nvPr/>
        </p:nvPicPr>
        <p:blipFill>
          <a:blip r:embed="rId3"/>
          <a:stretch>
            <a:fillRect/>
          </a:stretch>
        </p:blipFill>
        <p:spPr>
          <a:xfrm>
            <a:off x="4038600" y="1414610"/>
            <a:ext cx="7188199" cy="4025391"/>
          </a:xfrm>
          <a:prstGeom prst="rect">
            <a:avLst/>
          </a:prstGeom>
        </p:spPr>
      </p:pic>
    </p:spTree>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descr="Mano Dedos Merlina Familia Addams Wednesday Caja | Envío gratis">
            <a:extLst>
              <a:ext uri="{FF2B5EF4-FFF2-40B4-BE49-F238E27FC236}">
                <a16:creationId xmlns:a16="http://schemas.microsoft.com/office/drawing/2014/main" id="{C226891A-C615-4A85-A78D-2E86376835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30781" y="24983"/>
            <a:ext cx="4530437" cy="6808034"/>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55B98D26-6AA3-4EE9-A2F8-F9BE04C05691}"/>
              </a:ext>
            </a:extLst>
          </p:cNvPr>
          <p:cNvSpPr>
            <a:spLocks noGrp="1"/>
          </p:cNvSpPr>
          <p:nvPr>
            <p:ph type="title"/>
          </p:nvPr>
        </p:nvSpPr>
        <p:spPr/>
        <p:txBody>
          <a:bodyPr/>
          <a:lstStyle/>
          <a:p>
            <a:r>
              <a:rPr lang="es-AR" dirty="0"/>
              <a:t>¿Cuánto vale una mano según la ley de riesgos del trabajo (24557)?</a:t>
            </a:r>
          </a:p>
        </p:txBody>
      </p:sp>
      <p:sp>
        <p:nvSpPr>
          <p:cNvPr id="4" name="Rectangle 1">
            <a:extLst>
              <a:ext uri="{FF2B5EF4-FFF2-40B4-BE49-F238E27FC236}">
                <a16:creationId xmlns:a16="http://schemas.microsoft.com/office/drawing/2014/main" id="{18E8926B-61BC-4198-846A-3571C18BFA74}"/>
              </a:ext>
            </a:extLst>
          </p:cNvPr>
          <p:cNvSpPr>
            <a:spLocks noGrp="1" noChangeArrowheads="1"/>
          </p:cNvSpPr>
          <p:nvPr>
            <p:ph type="body" idx="1"/>
          </p:nvPr>
        </p:nvSpPr>
        <p:spPr bwMode="auto">
          <a:xfrm>
            <a:off x="322118" y="3008783"/>
            <a:ext cx="11627427" cy="2400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s-AR" altLang="es-AR" sz="2000" b="1" i="0" u="none" strike="noStrike" cap="none" normalizeH="0" baseline="0" dirty="0">
                <a:ln>
                  <a:noFill/>
                </a:ln>
                <a:solidFill>
                  <a:schemeClr val="tx1"/>
                </a:solidFill>
                <a:effectLst/>
                <a:latin typeface="Arial" panose="020B0604020202020204" pitchFamily="34" charset="0"/>
              </a:rPr>
              <a:t>Indemnización=(Ingreso Base Mensual×53)×(Grado de Incapacidad/100)×Coeficiente por Edad</a:t>
            </a:r>
          </a:p>
          <a:p>
            <a:pPr marL="0" marR="0" lvl="0" indent="0" algn="l" defTabSz="914400" rtl="0" eaLnBrk="0" fontAlgn="base" latinLnBrk="0" hangingPunct="0">
              <a:lnSpc>
                <a:spcPct val="100000"/>
              </a:lnSpc>
              <a:spcBef>
                <a:spcPct val="0"/>
              </a:spcBef>
              <a:spcAft>
                <a:spcPct val="0"/>
              </a:spcAft>
              <a:buClrTx/>
              <a:buSzTx/>
              <a:buNone/>
              <a:tabLst/>
            </a:pPr>
            <a:endParaRPr lang="es-AR" altLang="es-AR" sz="2000" b="1"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s-AR" altLang="es-AR"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AR" altLang="es-AR" sz="1800" b="1" i="0" u="none" strike="noStrike" cap="none" normalizeH="0" baseline="0" dirty="0">
                <a:ln>
                  <a:noFill/>
                </a:ln>
                <a:solidFill>
                  <a:schemeClr val="tx1"/>
                </a:solidFill>
                <a:effectLst/>
                <a:latin typeface="Arial" panose="020B0604020202020204" pitchFamily="34" charset="0"/>
              </a:rPr>
              <a:t>Ingreso Base Mensual</a:t>
            </a:r>
            <a:r>
              <a:rPr kumimoji="0" lang="es-AR" altLang="es-AR" sz="1800" b="0" i="0" u="none" strike="noStrike" cap="none" normalizeH="0" baseline="0" dirty="0">
                <a:ln>
                  <a:noFill/>
                </a:ln>
                <a:solidFill>
                  <a:schemeClr val="tx1"/>
                </a:solidFill>
                <a:effectLst/>
                <a:latin typeface="Arial" panose="020B0604020202020204" pitchFamily="34" charset="0"/>
              </a:rPr>
              <a:t> es el promedio de los salarios del trabajador.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AR" altLang="es-AR" sz="1800" b="1" i="0" u="none" strike="noStrike" cap="none" normalizeH="0" baseline="0" dirty="0">
                <a:ln>
                  <a:noFill/>
                </a:ln>
                <a:solidFill>
                  <a:schemeClr val="tx1"/>
                </a:solidFill>
                <a:effectLst/>
                <a:latin typeface="Arial" panose="020B0604020202020204" pitchFamily="34" charset="0"/>
              </a:rPr>
              <a:t>Grado de Incapacidad</a:t>
            </a:r>
            <a:r>
              <a:rPr kumimoji="0" lang="es-AR" altLang="es-AR" sz="1800" b="0" i="0" u="none" strike="noStrike" cap="none" normalizeH="0" baseline="0" dirty="0">
                <a:ln>
                  <a:noFill/>
                </a:ln>
                <a:solidFill>
                  <a:schemeClr val="tx1"/>
                </a:solidFill>
                <a:effectLst/>
                <a:latin typeface="Arial" panose="020B0604020202020204" pitchFamily="34" charset="0"/>
              </a:rPr>
              <a:t> es el porcentaje de incapacidad determinado por la comisión médica.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AR" altLang="es-AR" sz="1800" b="1" i="0" u="none" strike="noStrike" cap="none" normalizeH="0" baseline="0" dirty="0">
                <a:ln>
                  <a:noFill/>
                </a:ln>
                <a:solidFill>
                  <a:schemeClr val="tx1"/>
                </a:solidFill>
                <a:effectLst/>
                <a:latin typeface="Arial" panose="020B0604020202020204" pitchFamily="34" charset="0"/>
              </a:rPr>
              <a:t>Coeficiente por Edad</a:t>
            </a:r>
            <a:r>
              <a:rPr kumimoji="0" lang="es-AR" altLang="es-AR" sz="1800" b="0" i="0" u="none" strike="noStrike" cap="none" normalizeH="0" baseline="0" dirty="0">
                <a:ln>
                  <a:noFill/>
                </a:ln>
                <a:solidFill>
                  <a:schemeClr val="tx1"/>
                </a:solidFill>
                <a:effectLst/>
                <a:latin typeface="Arial" panose="020B0604020202020204" pitchFamily="34" charset="0"/>
              </a:rPr>
              <a:t> es un factor de ajuste que aumenta la indemnización para trabajadores más jóvenes y la disminuye para los más cercanos a la edad de jubilación.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AR" altLang="es-A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23175116"/>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Sonriente Padre Sosteniendo A Su Hijo En El Hombro Y Mirando A La Cámara.  Retrato Del Niño Africano Feliz Del Papá Que Sonríe En El Jardín. Padre  Negro Dando A Su Hijo">
            <a:extLst>
              <a:ext uri="{FF2B5EF4-FFF2-40B4-BE49-F238E27FC236}">
                <a16:creationId xmlns:a16="http://schemas.microsoft.com/office/drawing/2014/main" id="{243E5920-17E7-4996-9797-6C60069722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5934" y="0"/>
            <a:ext cx="10360132" cy="6869217"/>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2EA142FF-AC74-4EE6-BD05-F55EEE8F54C7}"/>
              </a:ext>
            </a:extLst>
          </p:cNvPr>
          <p:cNvSpPr>
            <a:spLocks noGrp="1"/>
          </p:cNvSpPr>
          <p:nvPr>
            <p:ph type="title"/>
          </p:nvPr>
        </p:nvSpPr>
        <p:spPr>
          <a:xfrm>
            <a:off x="1371600" y="500062"/>
            <a:ext cx="9448800" cy="1325563"/>
          </a:xfrm>
        </p:spPr>
        <p:txBody>
          <a:bodyPr>
            <a:normAutofit/>
          </a:bodyPr>
          <a:lstStyle/>
          <a:p>
            <a:r>
              <a:rPr lang="es-AR" sz="3200" b="1" dirty="0">
                <a:solidFill>
                  <a:schemeClr val="bg1"/>
                </a:solidFill>
              </a:rPr>
              <a:t>Cuantos días de licencia se tiene por paternidad:</a:t>
            </a:r>
          </a:p>
        </p:txBody>
      </p:sp>
      <p:sp>
        <p:nvSpPr>
          <p:cNvPr id="3" name="Marcador de texto 2">
            <a:extLst>
              <a:ext uri="{FF2B5EF4-FFF2-40B4-BE49-F238E27FC236}">
                <a16:creationId xmlns:a16="http://schemas.microsoft.com/office/drawing/2014/main" id="{B7DCEDBF-87D1-497A-8212-45D59935762F}"/>
              </a:ext>
            </a:extLst>
          </p:cNvPr>
          <p:cNvSpPr>
            <a:spLocks noGrp="1"/>
          </p:cNvSpPr>
          <p:nvPr>
            <p:ph type="body" idx="1"/>
          </p:nvPr>
        </p:nvSpPr>
        <p:spPr>
          <a:xfrm>
            <a:off x="2753591" y="2357149"/>
            <a:ext cx="6684818" cy="2143702"/>
          </a:xfrm>
        </p:spPr>
        <p:txBody>
          <a:bodyPr/>
          <a:lstStyle/>
          <a:p>
            <a:r>
              <a:rPr lang="es-AR" dirty="0">
                <a:solidFill>
                  <a:schemeClr val="bg1"/>
                </a:solidFill>
              </a:rPr>
              <a:t>2 días</a:t>
            </a:r>
          </a:p>
          <a:p>
            <a:r>
              <a:rPr lang="es-AR" dirty="0">
                <a:solidFill>
                  <a:schemeClr val="bg1"/>
                </a:solidFill>
              </a:rPr>
              <a:t>Maestros de Buenos Aires 3 días</a:t>
            </a:r>
          </a:p>
          <a:p>
            <a:r>
              <a:rPr lang="es-AR" dirty="0">
                <a:solidFill>
                  <a:schemeClr val="bg1"/>
                </a:solidFill>
              </a:rPr>
              <a:t>Maestros de nación 15 días corridos</a:t>
            </a:r>
          </a:p>
          <a:p>
            <a:r>
              <a:rPr lang="es-AR" dirty="0">
                <a:solidFill>
                  <a:schemeClr val="bg1"/>
                </a:solidFill>
              </a:rPr>
              <a:t>Bancarios 10 días corridos</a:t>
            </a:r>
          </a:p>
        </p:txBody>
      </p:sp>
    </p:spTree>
    <p:extLst>
      <p:ext uri="{BB962C8B-B14F-4D97-AF65-F5344CB8AC3E}">
        <p14:creationId xmlns:p14="http://schemas.microsoft.com/office/powerpoint/2010/main" val="2767725801"/>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7"/>
        <p:cNvGrpSpPr/>
        <p:nvPr/>
      </p:nvGrpSpPr>
      <p:grpSpPr>
        <a:xfrm>
          <a:off x="0" y="0"/>
          <a:ext cx="0" cy="0"/>
          <a:chOff x="0" y="0"/>
          <a:chExt cx="0" cy="0"/>
        </a:xfrm>
      </p:grpSpPr>
      <p:sp>
        <p:nvSpPr>
          <p:cNvPr id="158" name="Google Shape;158;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s-ES" b="1"/>
              <a:t>Jornada de trabajo limitada:</a:t>
            </a:r>
            <a:endParaRPr/>
          </a:p>
        </p:txBody>
      </p:sp>
      <p:sp>
        <p:nvSpPr>
          <p:cNvPr id="159" name="Google Shape;159;p11"/>
          <p:cNvSpPr txBox="1"/>
          <p:nvPr/>
        </p:nvSpPr>
        <p:spPr>
          <a:xfrm>
            <a:off x="1622395" y="1861867"/>
            <a:ext cx="2833687"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000" b="1">
                <a:solidFill>
                  <a:schemeClr val="dk1"/>
                </a:solidFill>
                <a:latin typeface="Arial"/>
                <a:ea typeface="Arial"/>
                <a:cs typeface="Arial"/>
                <a:sym typeface="Arial"/>
              </a:rPr>
              <a:t>8hs o 48hs semanales</a:t>
            </a:r>
            <a:endParaRPr/>
          </a:p>
        </p:txBody>
      </p:sp>
      <p:sp>
        <p:nvSpPr>
          <p:cNvPr id="160" name="Google Shape;160;p11"/>
          <p:cNvSpPr txBox="1"/>
          <p:nvPr/>
        </p:nvSpPr>
        <p:spPr>
          <a:xfrm>
            <a:off x="1625090" y="2829645"/>
            <a:ext cx="4478099"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000" b="1">
                <a:solidFill>
                  <a:schemeClr val="dk1"/>
                </a:solidFill>
                <a:latin typeface="Arial"/>
                <a:ea typeface="Arial"/>
                <a:cs typeface="Arial"/>
                <a:sym typeface="Arial"/>
              </a:rPr>
              <a:t>9hs los días avilés y 3hs los sábados</a:t>
            </a:r>
            <a:endParaRPr/>
          </a:p>
        </p:txBody>
      </p:sp>
      <p:sp>
        <p:nvSpPr>
          <p:cNvPr id="161" name="Google Shape;161;p11"/>
          <p:cNvSpPr txBox="1"/>
          <p:nvPr/>
        </p:nvSpPr>
        <p:spPr>
          <a:xfrm>
            <a:off x="1630032" y="3895365"/>
            <a:ext cx="3994030"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000" b="1">
                <a:solidFill>
                  <a:schemeClr val="dk1"/>
                </a:solidFill>
                <a:latin typeface="Arial"/>
                <a:ea typeface="Arial"/>
                <a:cs typeface="Arial"/>
                <a:sym typeface="Arial"/>
              </a:rPr>
              <a:t>Menores de 18años 7hs máximo</a:t>
            </a:r>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5"/>
        <p:cNvGrpSpPr/>
        <p:nvPr/>
      </p:nvGrpSpPr>
      <p:grpSpPr>
        <a:xfrm>
          <a:off x="0" y="0"/>
          <a:ext cx="0" cy="0"/>
          <a:chOff x="0" y="0"/>
          <a:chExt cx="0" cy="0"/>
        </a:xfrm>
      </p:grpSpPr>
      <p:sp>
        <p:nvSpPr>
          <p:cNvPr id="166" name="Google Shape;166;p12"/>
          <p:cNvSpPr/>
          <p:nvPr/>
        </p:nvSpPr>
        <p:spPr>
          <a:xfrm>
            <a:off x="0" y="0"/>
            <a:ext cx="12191999" cy="685736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67" name="Google Shape;167;p12"/>
          <p:cNvSpPr txBox="1"/>
          <p:nvPr/>
        </p:nvSpPr>
        <p:spPr>
          <a:xfrm>
            <a:off x="1113810" y="2960716"/>
            <a:ext cx="4036334" cy="2387600"/>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None/>
            </a:pPr>
            <a:r>
              <a:rPr lang="es-ES" sz="5400" b="1">
                <a:solidFill>
                  <a:schemeClr val="dk1"/>
                </a:solidFill>
                <a:latin typeface="Play"/>
                <a:ea typeface="Play"/>
                <a:cs typeface="Play"/>
                <a:sym typeface="Play"/>
              </a:rPr>
              <a:t>Descanso y vacaciones pagas:</a:t>
            </a:r>
            <a:endParaRPr/>
          </a:p>
        </p:txBody>
      </p:sp>
      <p:grpSp>
        <p:nvGrpSpPr>
          <p:cNvPr id="168" name="Google Shape;168;p12"/>
          <p:cNvGrpSpPr/>
          <p:nvPr/>
        </p:nvGrpSpPr>
        <p:grpSpPr>
          <a:xfrm>
            <a:off x="0" y="2984992"/>
            <a:ext cx="731521" cy="673460"/>
            <a:chOff x="3940602" y="308034"/>
            <a:chExt cx="2116791" cy="3428999"/>
          </a:xfrm>
        </p:grpSpPr>
        <p:sp>
          <p:nvSpPr>
            <p:cNvPr id="169" name="Google Shape;169;p12"/>
            <p:cNvSpPr/>
            <p:nvPr/>
          </p:nvSpPr>
          <p:spPr>
            <a:xfrm>
              <a:off x="3940602" y="308034"/>
              <a:ext cx="566743" cy="34289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70" name="Google Shape;170;p12"/>
            <p:cNvSpPr/>
            <p:nvPr/>
          </p:nvSpPr>
          <p:spPr>
            <a:xfrm>
              <a:off x="4715626" y="308034"/>
              <a:ext cx="566743" cy="34289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71" name="Google Shape;171;p12"/>
            <p:cNvSpPr/>
            <p:nvPr/>
          </p:nvSpPr>
          <p:spPr>
            <a:xfrm>
              <a:off x="5490650" y="308034"/>
              <a:ext cx="566743" cy="34289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172" name="Google Shape;172;p12"/>
          <p:cNvSpPr/>
          <p:nvPr/>
        </p:nvSpPr>
        <p:spPr>
          <a:xfrm flipH="1">
            <a:off x="10697670" y="0"/>
            <a:ext cx="1494330" cy="68580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73" name="Google Shape;173;p12"/>
          <p:cNvSpPr/>
          <p:nvPr/>
        </p:nvSpPr>
        <p:spPr>
          <a:xfrm>
            <a:off x="5685810" y="391886"/>
            <a:ext cx="6009366" cy="6017078"/>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74" name="Google Shape;174;p12" descr="Ilustración Vectorial. Hombre Descansando En Una Playa De Arena En El  Océano. Ilustraciones svg, vectoriales, clip art vectorizado libre de  derechos. Image 38987364"/>
          <p:cNvPicPr preferRelativeResize="0"/>
          <p:nvPr/>
        </p:nvPicPr>
        <p:blipFill rotWithShape="1">
          <a:blip r:embed="rId3">
            <a:alphaModFix/>
          </a:blip>
          <a:srcRect/>
          <a:stretch/>
        </p:blipFill>
        <p:spPr>
          <a:xfrm>
            <a:off x="5957597" y="666728"/>
            <a:ext cx="5465791" cy="5465791"/>
          </a:xfrm>
          <a:prstGeom prst="rect">
            <a:avLst/>
          </a:prstGeom>
          <a:noFill/>
          <a:ln>
            <a:noFill/>
          </a:ln>
        </p:spPr>
      </p:pic>
    </p:spTree>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044224A-EA49-4697-92CF-D5581ED8AE37}"/>
              </a:ext>
            </a:extLst>
          </p:cNvPr>
          <p:cNvSpPr>
            <a:spLocks noGrp="1"/>
          </p:cNvSpPr>
          <p:nvPr>
            <p:ph type="title"/>
          </p:nvPr>
        </p:nvSpPr>
        <p:spPr/>
        <p:txBody>
          <a:bodyPr/>
          <a:lstStyle/>
          <a:p>
            <a:r>
              <a:rPr lang="es-AR" b="1" dirty="0"/>
              <a:t>Por antigüedad:</a:t>
            </a:r>
          </a:p>
        </p:txBody>
      </p:sp>
      <p:sp>
        <p:nvSpPr>
          <p:cNvPr id="4" name="Rectangle 1">
            <a:extLst>
              <a:ext uri="{FF2B5EF4-FFF2-40B4-BE49-F238E27FC236}">
                <a16:creationId xmlns:a16="http://schemas.microsoft.com/office/drawing/2014/main" id="{FDBB527C-F807-4708-ABD5-9AFD4DF97179}"/>
              </a:ext>
            </a:extLst>
          </p:cNvPr>
          <p:cNvSpPr>
            <a:spLocks noGrp="1" noChangeArrowheads="1"/>
          </p:cNvSpPr>
          <p:nvPr>
            <p:ph type="body" idx="1"/>
          </p:nvPr>
        </p:nvSpPr>
        <p:spPr bwMode="auto">
          <a:xfrm>
            <a:off x="838200" y="1846858"/>
            <a:ext cx="6441187" cy="4308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lang="es-AR" altLang="es-AR" sz="3200" dirty="0">
                <a:latin typeface="Play"/>
                <a:sym typeface="Play"/>
              </a:rPr>
              <a:t>Menos de 5 años de antigüedad:</a:t>
            </a:r>
          </a:p>
          <a:p>
            <a:pPr marL="0" marR="0" lvl="0" indent="0" algn="l" defTabSz="914400" rtl="0" eaLnBrk="0" fontAlgn="base" latinLnBrk="0" hangingPunct="0">
              <a:lnSpc>
                <a:spcPct val="100000"/>
              </a:lnSpc>
              <a:spcBef>
                <a:spcPct val="0"/>
              </a:spcBef>
              <a:spcAft>
                <a:spcPct val="0"/>
              </a:spcAft>
              <a:buClrTx/>
              <a:buSzTx/>
              <a:buFontTx/>
              <a:buChar char="•"/>
              <a:tabLst/>
            </a:pPr>
            <a:r>
              <a:rPr lang="es-AR" altLang="es-AR" sz="3200" dirty="0">
                <a:latin typeface="Play"/>
                <a:sym typeface="Play"/>
              </a:rPr>
              <a:t>14 días corridos.</a:t>
            </a:r>
          </a:p>
          <a:p>
            <a:pPr marL="0" marR="0" lvl="0" indent="0" algn="l" defTabSz="914400" rtl="0" eaLnBrk="0" fontAlgn="base" latinLnBrk="0" hangingPunct="0">
              <a:lnSpc>
                <a:spcPct val="100000"/>
              </a:lnSpc>
              <a:spcBef>
                <a:spcPct val="0"/>
              </a:spcBef>
              <a:spcAft>
                <a:spcPct val="0"/>
              </a:spcAft>
              <a:buClrTx/>
              <a:buSzTx/>
              <a:buNone/>
              <a:tabLst/>
            </a:pPr>
            <a:r>
              <a:rPr lang="es-AR" altLang="es-AR" sz="3200" dirty="0">
                <a:latin typeface="Play"/>
                <a:sym typeface="Play"/>
              </a:rPr>
              <a:t>Entre 5 y 10 años de antigüedad:</a:t>
            </a:r>
          </a:p>
          <a:p>
            <a:pPr marL="0" marR="0" lvl="0" indent="0" algn="l" defTabSz="914400" rtl="0" eaLnBrk="0" fontAlgn="base" latinLnBrk="0" hangingPunct="0">
              <a:lnSpc>
                <a:spcPct val="100000"/>
              </a:lnSpc>
              <a:spcBef>
                <a:spcPct val="0"/>
              </a:spcBef>
              <a:spcAft>
                <a:spcPct val="0"/>
              </a:spcAft>
              <a:buClrTx/>
              <a:buSzTx/>
              <a:buFontTx/>
              <a:buChar char="•"/>
              <a:tabLst/>
            </a:pPr>
            <a:r>
              <a:rPr lang="es-AR" altLang="es-AR" sz="3200" dirty="0">
                <a:latin typeface="Play"/>
                <a:sym typeface="Play"/>
              </a:rPr>
              <a:t>21 días corridos.</a:t>
            </a:r>
          </a:p>
          <a:p>
            <a:pPr marL="0" marR="0" lvl="0" indent="0" algn="l" defTabSz="914400" rtl="0" eaLnBrk="0" fontAlgn="base" latinLnBrk="0" hangingPunct="0">
              <a:lnSpc>
                <a:spcPct val="100000"/>
              </a:lnSpc>
              <a:spcBef>
                <a:spcPct val="0"/>
              </a:spcBef>
              <a:spcAft>
                <a:spcPct val="0"/>
              </a:spcAft>
              <a:buClrTx/>
              <a:buSzTx/>
              <a:buNone/>
              <a:tabLst/>
            </a:pPr>
            <a:r>
              <a:rPr lang="es-AR" altLang="es-AR" sz="3200" dirty="0">
                <a:latin typeface="Play"/>
                <a:sym typeface="Play"/>
              </a:rPr>
              <a:t>Entre 10 y 20 años de antigüedad:</a:t>
            </a:r>
          </a:p>
          <a:p>
            <a:pPr marL="0" marR="0" lvl="0" indent="0" algn="l" defTabSz="914400" rtl="0" eaLnBrk="0" fontAlgn="base" latinLnBrk="0" hangingPunct="0">
              <a:lnSpc>
                <a:spcPct val="100000"/>
              </a:lnSpc>
              <a:spcBef>
                <a:spcPct val="0"/>
              </a:spcBef>
              <a:spcAft>
                <a:spcPct val="0"/>
              </a:spcAft>
              <a:buClrTx/>
              <a:buSzTx/>
              <a:buFontTx/>
              <a:buChar char="•"/>
              <a:tabLst/>
            </a:pPr>
            <a:r>
              <a:rPr lang="es-AR" altLang="es-AR" sz="3200" dirty="0">
                <a:latin typeface="Play"/>
                <a:sym typeface="Play"/>
              </a:rPr>
              <a:t>28 días corridos.</a:t>
            </a:r>
          </a:p>
          <a:p>
            <a:pPr marL="0" marR="0" lvl="0" indent="0" algn="l" defTabSz="914400" rtl="0" eaLnBrk="0" fontAlgn="base" latinLnBrk="0" hangingPunct="0">
              <a:lnSpc>
                <a:spcPct val="100000"/>
              </a:lnSpc>
              <a:spcBef>
                <a:spcPct val="0"/>
              </a:spcBef>
              <a:spcAft>
                <a:spcPct val="0"/>
              </a:spcAft>
              <a:buClrTx/>
              <a:buSzTx/>
              <a:buNone/>
              <a:tabLst/>
            </a:pPr>
            <a:r>
              <a:rPr lang="es-AR" altLang="es-AR" sz="3200" dirty="0">
                <a:latin typeface="Play"/>
                <a:sym typeface="Play"/>
              </a:rPr>
              <a:t>Más de 20 años de antigüedad:</a:t>
            </a:r>
          </a:p>
          <a:p>
            <a:pPr marL="0" marR="0" lvl="0" indent="0" algn="l" defTabSz="914400" rtl="0" eaLnBrk="0" fontAlgn="base" latinLnBrk="0" hangingPunct="0">
              <a:lnSpc>
                <a:spcPct val="100000"/>
              </a:lnSpc>
              <a:spcBef>
                <a:spcPct val="0"/>
              </a:spcBef>
              <a:spcAft>
                <a:spcPct val="0"/>
              </a:spcAft>
              <a:buClrTx/>
              <a:buSzTx/>
              <a:buFontTx/>
              <a:buChar char="•"/>
              <a:tabLst/>
            </a:pPr>
            <a:r>
              <a:rPr lang="es-AR" altLang="es-AR" sz="3200" dirty="0">
                <a:latin typeface="Play"/>
                <a:sym typeface="Play"/>
              </a:rPr>
              <a:t>35 días corridos.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AR" altLang="es-AR" sz="1800" b="0" i="0" u="none" strike="noStrike" cap="none" normalizeH="0" baseline="0" dirty="0">
              <a:ln>
                <a:noFill/>
              </a:ln>
              <a:solidFill>
                <a:schemeClr val="tx1"/>
              </a:solidFill>
              <a:effectLst/>
              <a:latin typeface="Arial" panose="020B0604020202020204" pitchFamily="34" charset="0"/>
            </a:endParaRPr>
          </a:p>
        </p:txBody>
      </p:sp>
      <p:pic>
        <p:nvPicPr>
          <p:cNvPr id="3075" name="Picture 3" descr="Hombre del cubículo stock de ilustración. Ilustración de ...">
            <a:extLst>
              <a:ext uri="{FF2B5EF4-FFF2-40B4-BE49-F238E27FC236}">
                <a16:creationId xmlns:a16="http://schemas.microsoft.com/office/drawing/2014/main" id="{02F7648F-8F7D-476E-8F29-F54C1652B0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13823" y="1468473"/>
            <a:ext cx="4578177" cy="43088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2437644"/>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8"/>
        <p:cNvGrpSpPr/>
        <p:nvPr/>
      </p:nvGrpSpPr>
      <p:grpSpPr>
        <a:xfrm>
          <a:off x="0" y="0"/>
          <a:ext cx="0" cy="0"/>
          <a:chOff x="0" y="0"/>
          <a:chExt cx="0" cy="0"/>
        </a:xfrm>
      </p:grpSpPr>
      <p:pic>
        <p:nvPicPr>
          <p:cNvPr id="179" name="Google Shape;179;p13" descr="Gráfico, Histograma&#10;&#10;Descripción generada automáticamente"/>
          <p:cNvPicPr preferRelativeResize="0"/>
          <p:nvPr/>
        </p:nvPicPr>
        <p:blipFill rotWithShape="1">
          <a:blip r:embed="rId3">
            <a:alphaModFix/>
          </a:blip>
          <a:srcRect t="13793"/>
          <a:stretch/>
        </p:blipFill>
        <p:spPr>
          <a:xfrm>
            <a:off x="20" y="10"/>
            <a:ext cx="12191980" cy="6857990"/>
          </a:xfrm>
          <a:prstGeom prst="rect">
            <a:avLst/>
          </a:prstGeom>
          <a:noFill/>
          <a:ln>
            <a:noFill/>
          </a:ln>
        </p:spPr>
      </p:pic>
      <p:sp>
        <p:nvSpPr>
          <p:cNvPr id="180" name="Google Shape;180;p13"/>
          <p:cNvSpPr/>
          <p:nvPr/>
        </p:nvSpPr>
        <p:spPr>
          <a:xfrm>
            <a:off x="0" y="428852"/>
            <a:ext cx="12192000" cy="736551"/>
          </a:xfrm>
          <a:prstGeom prst="rect">
            <a:avLst/>
          </a:prstGeom>
          <a:solidFill>
            <a:schemeClr val="lt1">
              <a:alpha val="92941"/>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81" name="Google Shape;181;p13"/>
          <p:cNvSpPr txBox="1">
            <a:spLocks noGrp="1"/>
          </p:cNvSpPr>
          <p:nvPr>
            <p:ph type="title"/>
          </p:nvPr>
        </p:nvSpPr>
        <p:spPr>
          <a:xfrm>
            <a:off x="523875" y="425950"/>
            <a:ext cx="11210925" cy="744836"/>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262626"/>
              </a:buClr>
              <a:buSzPts val="3600"/>
              <a:buFont typeface="Play"/>
              <a:buNone/>
            </a:pPr>
            <a:r>
              <a:rPr lang="es-ES" sz="3600" b="1">
                <a:solidFill>
                  <a:srgbClr val="262626"/>
                </a:solidFill>
              </a:rPr>
              <a:t>Retribución justa:</a:t>
            </a:r>
            <a:endParaRPr/>
          </a:p>
        </p:txBody>
      </p:sp>
      <p:cxnSp>
        <p:nvCxnSpPr>
          <p:cNvPr id="182" name="Google Shape;182;p13"/>
          <p:cNvCxnSpPr/>
          <p:nvPr/>
        </p:nvCxnSpPr>
        <p:spPr>
          <a:xfrm>
            <a:off x="0" y="350693"/>
            <a:ext cx="12192000" cy="0"/>
          </a:xfrm>
          <a:prstGeom prst="straightConnector1">
            <a:avLst/>
          </a:prstGeom>
          <a:noFill/>
          <a:ln w="41275" cap="flat" cmpd="sng">
            <a:solidFill>
              <a:schemeClr val="lt1">
                <a:alpha val="89803"/>
              </a:schemeClr>
            </a:solidFill>
            <a:prstDash val="solid"/>
            <a:miter lim="800000"/>
            <a:headEnd type="none" w="sm" len="sm"/>
            <a:tailEnd type="none" w="sm" len="sm"/>
          </a:ln>
        </p:spPr>
      </p:cxnSp>
      <p:cxnSp>
        <p:nvCxnSpPr>
          <p:cNvPr id="183" name="Google Shape;183;p13"/>
          <p:cNvCxnSpPr/>
          <p:nvPr/>
        </p:nvCxnSpPr>
        <p:spPr>
          <a:xfrm>
            <a:off x="0" y="1243562"/>
            <a:ext cx="12192000" cy="0"/>
          </a:xfrm>
          <a:prstGeom prst="straightConnector1">
            <a:avLst/>
          </a:prstGeom>
          <a:noFill/>
          <a:ln w="41275" cap="flat" cmpd="sng">
            <a:solidFill>
              <a:schemeClr val="lt1">
                <a:alpha val="89803"/>
              </a:schemeClr>
            </a:solidFill>
            <a:prstDash val="solid"/>
            <a:miter lim="800000"/>
            <a:headEnd type="none" w="sm" len="sm"/>
            <a:tailEnd type="none" w="sm" len="sm"/>
          </a:ln>
        </p:spPr>
      </p:cxnSp>
    </p:spTree>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14"/>
          <p:cNvSpPr txBox="1">
            <a:spLocks noGrp="1"/>
          </p:cNvSpPr>
          <p:nvPr>
            <p:ph type="title"/>
          </p:nvPr>
        </p:nvSpPr>
        <p:spPr>
          <a:xfrm>
            <a:off x="2218426" y="379502"/>
            <a:ext cx="7352581" cy="132556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4400"/>
              <a:buFont typeface="Play"/>
              <a:buNone/>
            </a:pPr>
            <a:endParaRPr b="1"/>
          </a:p>
          <a:p>
            <a:pPr marL="0" lvl="0" indent="0" algn="l" rtl="0">
              <a:lnSpc>
                <a:spcPct val="90000"/>
              </a:lnSpc>
              <a:spcBef>
                <a:spcPts val="0"/>
              </a:spcBef>
              <a:spcAft>
                <a:spcPts val="0"/>
              </a:spcAft>
              <a:buClr>
                <a:schemeClr val="dk1"/>
              </a:buClr>
              <a:buSzPts val="4400"/>
              <a:buFont typeface="Play"/>
              <a:buNone/>
            </a:pPr>
            <a:r>
              <a:rPr lang="es-ES" b="1"/>
              <a:t>Salario mínimo, vital y móvil:</a:t>
            </a:r>
            <a:endParaRPr/>
          </a:p>
        </p:txBody>
      </p:sp>
      <p:pic>
        <p:nvPicPr>
          <p:cNvPr id="189" name="Google Shape;189;p14"/>
          <p:cNvPicPr preferRelativeResize="0"/>
          <p:nvPr/>
        </p:nvPicPr>
        <p:blipFill rotWithShape="1">
          <a:blip r:embed="rId3">
            <a:alphaModFix/>
          </a:blip>
          <a:srcRect/>
          <a:stretch/>
        </p:blipFill>
        <p:spPr>
          <a:xfrm>
            <a:off x="3486868" y="1711266"/>
            <a:ext cx="4542525" cy="4585657"/>
          </a:xfrm>
          <a:prstGeom prst="rect">
            <a:avLst/>
          </a:prstGeom>
          <a:noFill/>
          <a:ln>
            <a:noFill/>
          </a:ln>
        </p:spPr>
      </p:pic>
    </p:spTree>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93"/>
        <p:cNvGrpSpPr/>
        <p:nvPr/>
      </p:nvGrpSpPr>
      <p:grpSpPr>
        <a:xfrm>
          <a:off x="0" y="0"/>
          <a:ext cx="0" cy="0"/>
          <a:chOff x="0" y="0"/>
          <a:chExt cx="0" cy="0"/>
        </a:xfrm>
      </p:grpSpPr>
      <p:sp>
        <p:nvSpPr>
          <p:cNvPr id="194" name="Google Shape;194;p15"/>
          <p:cNvSpPr/>
          <p:nvPr/>
        </p:nvSpPr>
        <p:spPr>
          <a:xfrm>
            <a:off x="0" y="0"/>
            <a:ext cx="12192000" cy="6858000"/>
          </a:xfrm>
          <a:prstGeom prst="rect">
            <a:avLst/>
          </a:prstGeom>
          <a:solidFill>
            <a:srgbClr val="3C4E5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95" name="Google Shape;195;p15"/>
          <p:cNvSpPr txBox="1">
            <a:spLocks noGrp="1"/>
          </p:cNvSpPr>
          <p:nvPr>
            <p:ph type="title"/>
          </p:nvPr>
        </p:nvSpPr>
        <p:spPr>
          <a:xfrm>
            <a:off x="9093496" y="532417"/>
            <a:ext cx="2901419" cy="488083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3100"/>
              <a:buFont typeface="Play"/>
              <a:buNone/>
            </a:pPr>
            <a:r>
              <a:rPr lang="es-ES" sz="3100" b="1">
                <a:solidFill>
                  <a:srgbClr val="FFFFFF"/>
                </a:solidFill>
              </a:rPr>
              <a:t>Igual remuneración por igual tarea:</a:t>
            </a:r>
            <a:endParaRPr sz="3100">
              <a:solidFill>
                <a:srgbClr val="FFFFFF"/>
              </a:solidFill>
            </a:endParaRPr>
          </a:p>
        </p:txBody>
      </p:sp>
      <p:sp>
        <p:nvSpPr>
          <p:cNvPr id="196" name="Google Shape;196;p15"/>
          <p:cNvSpPr/>
          <p:nvPr/>
        </p:nvSpPr>
        <p:spPr>
          <a:xfrm>
            <a:off x="493354" y="484632"/>
            <a:ext cx="8129016" cy="5724144"/>
          </a:xfrm>
          <a:prstGeom prst="roundRect">
            <a:avLst>
              <a:gd name="adj" fmla="val 0"/>
            </a:avLst>
          </a:prstGeom>
          <a:solidFill>
            <a:srgbClr val="FFFFFF"/>
          </a:solidFill>
          <a:ln w="9525" cap="flat" cmpd="sng">
            <a:solidFill>
              <a:srgbClr val="C8CACA"/>
            </a:solidFill>
            <a:prstDash val="solid"/>
            <a:miter lim="800000"/>
            <a:headEnd type="none" w="sm" len="sm"/>
            <a:tailEnd type="none" w="sm" len="sm"/>
          </a:ln>
          <a:effectLst>
            <a:outerShdw blurRad="57150" dist="19050" dir="5400000" algn="t"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97" name="Google Shape;197;p15" descr="Más precarizadas y con menores salarios: la situación económica de las  mujeres argentinas - Centro CEPA"/>
          <p:cNvPicPr preferRelativeResize="0"/>
          <p:nvPr/>
        </p:nvPicPr>
        <p:blipFill rotWithShape="1">
          <a:blip r:embed="rId3">
            <a:alphaModFix/>
          </a:blip>
          <a:srcRect l="11308" r="14204"/>
          <a:stretch/>
        </p:blipFill>
        <p:spPr>
          <a:xfrm>
            <a:off x="976251" y="942538"/>
            <a:ext cx="7163222" cy="4808332"/>
          </a:xfrm>
          <a:prstGeom prst="rect">
            <a:avLst/>
          </a:prstGeom>
          <a:noFill/>
          <a:ln>
            <a:noFill/>
          </a:ln>
        </p:spPr>
      </p:pic>
    </p:spTree>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1"/>
        <p:cNvGrpSpPr/>
        <p:nvPr/>
      </p:nvGrpSpPr>
      <p:grpSpPr>
        <a:xfrm>
          <a:off x="0" y="0"/>
          <a:ext cx="0" cy="0"/>
          <a:chOff x="0" y="0"/>
          <a:chExt cx="0" cy="0"/>
        </a:xfrm>
      </p:grpSpPr>
      <p:sp>
        <p:nvSpPr>
          <p:cNvPr id="202" name="Google Shape;202;p16"/>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03" name="Google Shape;203;p16"/>
          <p:cNvSpPr/>
          <p:nvPr/>
        </p:nvSpPr>
        <p:spPr>
          <a:xfrm rot="5400000" flipH="1">
            <a:off x="-638515" y="639280"/>
            <a:ext cx="6858000" cy="5579440"/>
          </a:xfrm>
          <a:prstGeom prst="rect">
            <a:avLst/>
          </a:prstGeom>
          <a:gradFill>
            <a:gsLst>
              <a:gs pos="0">
                <a:srgbClr val="000000"/>
              </a:gs>
              <a:gs pos="8000">
                <a:srgbClr val="000000"/>
              </a:gs>
              <a:gs pos="100000">
                <a:srgbClr val="0F4861"/>
              </a:gs>
            </a:gsLst>
            <a:lin ang="3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04" name="Google Shape;204;p16"/>
          <p:cNvSpPr/>
          <p:nvPr/>
        </p:nvSpPr>
        <p:spPr>
          <a:xfrm rot="5400000" flipH="1">
            <a:off x="-393206" y="395206"/>
            <a:ext cx="6346209" cy="5576080"/>
          </a:xfrm>
          <a:prstGeom prst="rect">
            <a:avLst/>
          </a:prstGeom>
          <a:gradFill>
            <a:gsLst>
              <a:gs pos="0">
                <a:srgbClr val="000000">
                  <a:alpha val="0"/>
                </a:srgbClr>
              </a:gs>
              <a:gs pos="99000">
                <a:srgbClr val="156082">
                  <a:alpha val="0"/>
                </a:srgbClr>
              </a:gs>
              <a:gs pos="100000">
                <a:srgbClr val="156082">
                  <a:alpha val="0"/>
                </a:srgbClr>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05" name="Google Shape;205;p16"/>
          <p:cNvSpPr/>
          <p:nvPr/>
        </p:nvSpPr>
        <p:spPr>
          <a:xfrm rot="5400000" flipH="1">
            <a:off x="1528907" y="2818967"/>
            <a:ext cx="2501979" cy="5576080"/>
          </a:xfrm>
          <a:prstGeom prst="rect">
            <a:avLst/>
          </a:prstGeom>
          <a:gradFill>
            <a:gsLst>
              <a:gs pos="0">
                <a:srgbClr val="156082">
                  <a:alpha val="28627"/>
                </a:srgbClr>
              </a:gs>
              <a:gs pos="2000">
                <a:srgbClr val="156082">
                  <a:alpha val="28627"/>
                </a:srgbClr>
              </a:gs>
              <a:gs pos="100000">
                <a:srgbClr val="000000">
                  <a:alpha val="29803"/>
                </a:srgbClr>
              </a:gs>
            </a:gsLst>
            <a:lin ang="7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06" name="Google Shape;206;p16"/>
          <p:cNvSpPr/>
          <p:nvPr/>
        </p:nvSpPr>
        <p:spPr>
          <a:xfrm rot="5400000" flipH="1">
            <a:off x="-425002" y="852793"/>
            <a:ext cx="6858001" cy="5152412"/>
          </a:xfrm>
          <a:prstGeom prst="rect">
            <a:avLst/>
          </a:prstGeom>
          <a:gradFill>
            <a:gsLst>
              <a:gs pos="0">
                <a:srgbClr val="000000">
                  <a:alpha val="0"/>
                </a:srgbClr>
              </a:gs>
              <a:gs pos="99000">
                <a:srgbClr val="156082">
                  <a:alpha val="10980"/>
                </a:srgbClr>
              </a:gs>
              <a:gs pos="100000">
                <a:srgbClr val="156082">
                  <a:alpha val="10980"/>
                </a:srgbClr>
              </a:gs>
            </a:gsLst>
            <a:lin ang="7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07" name="Google Shape;207;p16"/>
          <p:cNvSpPr/>
          <p:nvPr/>
        </p:nvSpPr>
        <p:spPr>
          <a:xfrm rot="6097846">
            <a:off x="818753" y="1128497"/>
            <a:ext cx="4318303" cy="4318303"/>
          </a:xfrm>
          <a:prstGeom prst="ellipse">
            <a:avLst/>
          </a:prstGeom>
          <a:gradFill>
            <a:gsLst>
              <a:gs pos="0">
                <a:srgbClr val="156082">
                  <a:alpha val="0"/>
                </a:srgbClr>
              </a:gs>
              <a:gs pos="39000">
                <a:srgbClr val="156082">
                  <a:alpha val="0"/>
                </a:srgbClr>
              </a:gs>
              <a:gs pos="100000">
                <a:srgbClr val="43AFE2">
                  <a:alpha val="14901"/>
                </a:srgbClr>
              </a:gs>
            </a:gsLst>
            <a:lin ang="17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08" name="Google Shape;208;p16"/>
          <p:cNvSpPr txBox="1">
            <a:spLocks noGrp="1"/>
          </p:cNvSpPr>
          <p:nvPr>
            <p:ph type="title"/>
          </p:nvPr>
        </p:nvSpPr>
        <p:spPr>
          <a:xfrm>
            <a:off x="660042" y="891652"/>
            <a:ext cx="4412021" cy="3030724"/>
          </a:xfrm>
          <a:prstGeom prst="rect">
            <a:avLst/>
          </a:prstGeom>
          <a:noFill/>
          <a:ln>
            <a:noFill/>
          </a:ln>
        </p:spPr>
        <p:txBody>
          <a:bodyPr spcFirstLastPara="1" wrap="square" lIns="91425" tIns="45700" rIns="91425" bIns="45700" anchor="b" anchorCtr="0">
            <a:normAutofit fontScale="90000"/>
          </a:bodyPr>
          <a:lstStyle/>
          <a:p>
            <a:pPr marL="0" lvl="0" indent="0" algn="r" rtl="0">
              <a:lnSpc>
                <a:spcPct val="90000"/>
              </a:lnSpc>
              <a:spcBef>
                <a:spcPts val="0"/>
              </a:spcBef>
              <a:spcAft>
                <a:spcPts val="0"/>
              </a:spcAft>
              <a:buClr>
                <a:srgbClr val="FFFFFF"/>
              </a:buClr>
              <a:buSzPts val="3400"/>
              <a:buFont typeface="Play"/>
              <a:buNone/>
            </a:pPr>
            <a:r>
              <a:rPr lang="es-ES" sz="3400" b="1">
                <a:solidFill>
                  <a:srgbClr val="FFFFFF"/>
                </a:solidFill>
                <a:latin typeface="Play"/>
                <a:ea typeface="Play"/>
                <a:cs typeface="Play"/>
                <a:sym typeface="Play"/>
              </a:rPr>
              <a:t>Participación en las ganancias de las empresas, con control de la producción y colaboración en la dirección: </a:t>
            </a:r>
            <a:endParaRPr sz="3400">
              <a:solidFill>
                <a:srgbClr val="FFFFFF"/>
              </a:solidFill>
              <a:latin typeface="Play"/>
              <a:ea typeface="Play"/>
              <a:cs typeface="Play"/>
              <a:sym typeface="Play"/>
            </a:endParaRPr>
          </a:p>
        </p:txBody>
      </p:sp>
      <p:pic>
        <p:nvPicPr>
          <p:cNvPr id="209" name="Google Shape;209;p16" descr="La participación en ganancias, ¿cambia esta pirámide? – ANRed"/>
          <p:cNvPicPr preferRelativeResize="0"/>
          <p:nvPr/>
        </p:nvPicPr>
        <p:blipFill rotWithShape="1">
          <a:blip r:embed="rId3">
            <a:alphaModFix/>
          </a:blip>
          <a:srcRect/>
          <a:stretch/>
        </p:blipFill>
        <p:spPr>
          <a:xfrm>
            <a:off x="6589272" y="457199"/>
            <a:ext cx="4621776" cy="5899152"/>
          </a:xfrm>
          <a:prstGeom prst="rect">
            <a:avLst/>
          </a:prstGeom>
          <a:noFill/>
          <a:ln>
            <a:noFill/>
          </a:ln>
        </p:spPr>
      </p:pic>
    </p:spTree>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3"/>
        <p:cNvGrpSpPr/>
        <p:nvPr/>
      </p:nvGrpSpPr>
      <p:grpSpPr>
        <a:xfrm>
          <a:off x="0" y="0"/>
          <a:ext cx="0" cy="0"/>
          <a:chOff x="0" y="0"/>
          <a:chExt cx="0" cy="0"/>
        </a:xfrm>
      </p:grpSpPr>
      <p:sp>
        <p:nvSpPr>
          <p:cNvPr id="214" name="Google Shape;214;p17"/>
          <p:cNvSpPr/>
          <p:nvPr/>
        </p:nvSpPr>
        <p:spPr>
          <a:xfrm rot="-5400000">
            <a:off x="800100" y="1491343"/>
            <a:ext cx="3333749" cy="3499103"/>
          </a:xfrm>
          <a:prstGeom prst="downArrow">
            <a:avLst>
              <a:gd name="adj1" fmla="val 100000"/>
              <a:gd name="adj2" fmla="val 15788"/>
            </a:avLst>
          </a:prstGeom>
          <a:solidFill>
            <a:srgbClr val="4040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15" name="Google Shape;215;p17"/>
          <p:cNvSpPr txBox="1">
            <a:spLocks noGrp="1"/>
          </p:cNvSpPr>
          <p:nvPr>
            <p:ph type="title"/>
          </p:nvPr>
        </p:nvSpPr>
        <p:spPr>
          <a:xfrm>
            <a:off x="1028700" y="1967266"/>
            <a:ext cx="2628900" cy="2547257"/>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3600"/>
              <a:buFont typeface="Play"/>
              <a:buNone/>
            </a:pPr>
            <a:r>
              <a:rPr lang="es-ES" sz="3600" b="1">
                <a:solidFill>
                  <a:srgbClr val="FFFFFF"/>
                </a:solidFill>
                <a:latin typeface="Play"/>
                <a:ea typeface="Play"/>
                <a:cs typeface="Play"/>
                <a:sym typeface="Play"/>
              </a:rPr>
              <a:t>Protección contra el despido arbitrario:</a:t>
            </a:r>
            <a:endParaRPr sz="3600">
              <a:solidFill>
                <a:srgbClr val="FFFFFF"/>
              </a:solidFill>
              <a:latin typeface="Play"/>
              <a:ea typeface="Play"/>
              <a:cs typeface="Play"/>
              <a:sym typeface="Play"/>
            </a:endParaRPr>
          </a:p>
        </p:txBody>
      </p:sp>
      <p:pic>
        <p:nvPicPr>
          <p:cNvPr id="216" name="Google Shape;216;p17" descr="DESPIDO INJUSTIFICADO EL TRABAJADOR DEBE INDICAR CIRCUNSTANCIAS DE TIEMPO,  MODO Y LUGAR EN QUE OCURRIO. - Grupo Serco | Servicios Corporativos  Integrados"/>
          <p:cNvPicPr preferRelativeResize="0"/>
          <p:nvPr/>
        </p:nvPicPr>
        <p:blipFill rotWithShape="1">
          <a:blip r:embed="rId3">
            <a:alphaModFix/>
          </a:blip>
          <a:srcRect/>
          <a:stretch/>
        </p:blipFill>
        <p:spPr>
          <a:xfrm>
            <a:off x="5082637" y="643466"/>
            <a:ext cx="6170058" cy="5568739"/>
          </a:xfrm>
          <a:prstGeom prst="rect">
            <a:avLst/>
          </a:prstGeom>
          <a:noFill/>
          <a:ln>
            <a:noFill/>
          </a:ln>
        </p:spPr>
      </p:pic>
    </p:spTree>
  </p:cSld>
  <p:clrMapOvr>
    <a:masterClrMapping/>
  </p:clrMapOvr>
  <p:transition spd="slow">
    <p:push/>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0"/>
        <p:cNvGrpSpPr/>
        <p:nvPr/>
      </p:nvGrpSpPr>
      <p:grpSpPr>
        <a:xfrm>
          <a:off x="0" y="0"/>
          <a:ext cx="0" cy="0"/>
          <a:chOff x="0" y="0"/>
          <a:chExt cx="0" cy="0"/>
        </a:xfrm>
      </p:grpSpPr>
      <p:sp>
        <p:nvSpPr>
          <p:cNvPr id="221" name="Google Shape;221;p18"/>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22" name="Google Shape;222;p18"/>
          <p:cNvSpPr/>
          <p:nvPr/>
        </p:nvSpPr>
        <p:spPr>
          <a:xfrm rot="5400000" flipH="1">
            <a:off x="-1417539" y="1417538"/>
            <a:ext cx="6875818" cy="4040744"/>
          </a:xfrm>
          <a:prstGeom prst="rect">
            <a:avLst/>
          </a:prstGeom>
          <a:gradFill>
            <a:gsLst>
              <a:gs pos="0">
                <a:srgbClr val="000000"/>
              </a:gs>
              <a:gs pos="100000">
                <a:srgbClr val="0F4861"/>
              </a:gs>
            </a:gsLst>
            <a:lin ang="18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23" name="Google Shape;223;p18"/>
          <p:cNvSpPr/>
          <p:nvPr/>
        </p:nvSpPr>
        <p:spPr>
          <a:xfrm rot="-5400000">
            <a:off x="-158495" y="2660473"/>
            <a:ext cx="4355594" cy="4038603"/>
          </a:xfrm>
          <a:prstGeom prst="rect">
            <a:avLst/>
          </a:prstGeom>
          <a:gradFill>
            <a:gsLst>
              <a:gs pos="0">
                <a:srgbClr val="156082">
                  <a:alpha val="49803"/>
                </a:srgbClr>
              </a:gs>
              <a:gs pos="100000">
                <a:srgbClr val="0A3041">
                  <a:alpha val="0"/>
                </a:srgbClr>
              </a:gs>
            </a:gsLst>
            <a:lin ang="11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24" name="Google Shape;224;p18"/>
          <p:cNvSpPr/>
          <p:nvPr/>
        </p:nvSpPr>
        <p:spPr>
          <a:xfrm rot="-5400000" flipH="1">
            <a:off x="-1180882" y="1638085"/>
            <a:ext cx="6857572" cy="3581401"/>
          </a:xfrm>
          <a:prstGeom prst="rect">
            <a:avLst/>
          </a:prstGeom>
          <a:gradFill>
            <a:gsLst>
              <a:gs pos="0">
                <a:srgbClr val="000000">
                  <a:alpha val="58823"/>
                </a:srgbClr>
              </a:gs>
              <a:gs pos="69000">
                <a:srgbClr val="156082">
                  <a:alpha val="0"/>
                </a:srgbClr>
              </a:gs>
              <a:gs pos="100000">
                <a:srgbClr val="156082">
                  <a:alpha val="0"/>
                </a:srgbClr>
              </a:gs>
            </a:gsLst>
            <a:lin ang="13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25" name="Google Shape;225;p18"/>
          <p:cNvSpPr/>
          <p:nvPr/>
        </p:nvSpPr>
        <p:spPr>
          <a:xfrm rot="6097846">
            <a:off x="-747355" y="1201312"/>
            <a:ext cx="4808302" cy="4088666"/>
          </a:xfrm>
          <a:custGeom>
            <a:avLst/>
            <a:gdLst/>
            <a:ahLst/>
            <a:cxnLst/>
            <a:rect l="l" t="t" r="r" b="b"/>
            <a:pathLst>
              <a:path w="4808302" h="4088666" extrusionOk="0">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0">
                <a:srgbClr val="43AFE2">
                  <a:alpha val="0"/>
                </a:srgbClr>
              </a:gs>
              <a:gs pos="39000">
                <a:srgbClr val="43AFE2">
                  <a:alpha val="0"/>
                </a:srgbClr>
              </a:gs>
              <a:gs pos="100000">
                <a:srgbClr val="0F4861">
                  <a:alpha val="25882"/>
                </a:srgbClr>
              </a:gs>
            </a:gsLst>
            <a:lin ang="18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26" name="Google Shape;226;p18"/>
          <p:cNvSpPr txBox="1">
            <a:spLocks noGrp="1"/>
          </p:cNvSpPr>
          <p:nvPr>
            <p:ph type="title"/>
          </p:nvPr>
        </p:nvSpPr>
        <p:spPr>
          <a:xfrm>
            <a:off x="660041" y="2767106"/>
            <a:ext cx="2880828" cy="3071906"/>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FFFFFF"/>
              </a:buClr>
              <a:buSzPts val="4000"/>
              <a:buFont typeface="Play"/>
              <a:buNone/>
            </a:pPr>
            <a:r>
              <a:rPr lang="es-ES" sz="4000" b="1">
                <a:solidFill>
                  <a:srgbClr val="FFFFFF"/>
                </a:solidFill>
                <a:latin typeface="Play"/>
                <a:ea typeface="Play"/>
                <a:cs typeface="Play"/>
                <a:sym typeface="Play"/>
              </a:rPr>
              <a:t>¿Qué es un despido arbitrario?</a:t>
            </a:r>
            <a:endParaRPr/>
          </a:p>
        </p:txBody>
      </p:sp>
      <p:pic>
        <p:nvPicPr>
          <p:cNvPr id="227" name="Google Shape;227;p18" descr="El inicio de la causa por despido arbitrario cuando se encontraba  prescripta constituyó obrar negligente del letrado que justifica la  indemnización reclamada. | Microjuris Argentina al Día"/>
          <p:cNvPicPr preferRelativeResize="0"/>
          <p:nvPr/>
        </p:nvPicPr>
        <p:blipFill rotWithShape="1">
          <a:blip r:embed="rId3">
            <a:alphaModFix/>
          </a:blip>
          <a:srcRect/>
          <a:stretch/>
        </p:blipFill>
        <p:spPr>
          <a:xfrm>
            <a:off x="4502428" y="637878"/>
            <a:ext cx="7225748" cy="5582244"/>
          </a:xfrm>
          <a:prstGeom prst="rect">
            <a:avLst/>
          </a:prstGeom>
          <a:noFill/>
          <a:ln>
            <a:noFill/>
          </a:ln>
        </p:spPr>
      </p:pic>
    </p:spTree>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1"/>
        <p:cNvGrpSpPr/>
        <p:nvPr/>
      </p:nvGrpSpPr>
      <p:grpSpPr>
        <a:xfrm>
          <a:off x="0" y="0"/>
          <a:ext cx="0" cy="0"/>
          <a:chOff x="0" y="0"/>
          <a:chExt cx="0" cy="0"/>
        </a:xfrm>
      </p:grpSpPr>
      <p:sp>
        <p:nvSpPr>
          <p:cNvPr id="232" name="Google Shape;232;p19"/>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33" name="Google Shape;233;p19"/>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34" name="Google Shape;234;p19"/>
          <p:cNvSpPr/>
          <p:nvPr/>
        </p:nvSpPr>
        <p:spPr>
          <a:xfrm rot="5400000" flipH="1">
            <a:off x="-1410084" y="1410082"/>
            <a:ext cx="6858000" cy="4037836"/>
          </a:xfrm>
          <a:prstGeom prst="rect">
            <a:avLst/>
          </a:prstGeom>
          <a:gradFill>
            <a:gsLst>
              <a:gs pos="0">
                <a:srgbClr val="000000"/>
              </a:gs>
              <a:gs pos="8000">
                <a:srgbClr val="000000"/>
              </a:gs>
              <a:gs pos="100000">
                <a:srgbClr val="0F4861"/>
              </a:gs>
            </a:gsLst>
            <a:lin ang="3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35" name="Google Shape;235;p19"/>
          <p:cNvSpPr/>
          <p:nvPr/>
        </p:nvSpPr>
        <p:spPr>
          <a:xfrm rot="5400000" flipH="1">
            <a:off x="-1410085" y="1420219"/>
            <a:ext cx="6857999" cy="4037839"/>
          </a:xfrm>
          <a:prstGeom prst="rect">
            <a:avLst/>
          </a:prstGeom>
          <a:gradFill>
            <a:gsLst>
              <a:gs pos="0">
                <a:srgbClr val="000000">
                  <a:alpha val="0"/>
                </a:srgbClr>
              </a:gs>
              <a:gs pos="99000">
                <a:srgbClr val="156082">
                  <a:alpha val="45882"/>
                </a:srgbClr>
              </a:gs>
              <a:gs pos="100000">
                <a:srgbClr val="156082">
                  <a:alpha val="45882"/>
                </a:srgbClr>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36" name="Google Shape;236;p19"/>
          <p:cNvSpPr/>
          <p:nvPr/>
        </p:nvSpPr>
        <p:spPr>
          <a:xfrm rot="5400000" flipH="1">
            <a:off x="767923" y="3588085"/>
            <a:ext cx="2501979" cy="4037841"/>
          </a:xfrm>
          <a:prstGeom prst="rect">
            <a:avLst/>
          </a:prstGeom>
          <a:gradFill>
            <a:gsLst>
              <a:gs pos="0">
                <a:srgbClr val="156082">
                  <a:alpha val="28627"/>
                </a:srgbClr>
              </a:gs>
              <a:gs pos="2000">
                <a:srgbClr val="156082">
                  <a:alpha val="28627"/>
                </a:srgbClr>
              </a:gs>
              <a:gs pos="100000">
                <a:srgbClr val="000000">
                  <a:alpha val="29803"/>
                </a:srgbClr>
              </a:gs>
            </a:gsLst>
            <a:lin ang="7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37" name="Google Shape;237;p19"/>
          <p:cNvSpPr/>
          <p:nvPr/>
        </p:nvSpPr>
        <p:spPr>
          <a:xfrm rot="-964587">
            <a:off x="-501737" y="969718"/>
            <a:ext cx="3900357" cy="4178958"/>
          </a:xfrm>
          <a:custGeom>
            <a:avLst/>
            <a:gdLst/>
            <a:ahLst/>
            <a:cxnLst/>
            <a:rect l="l" t="t" r="r" b="b"/>
            <a:pathLst>
              <a:path w="3900357" h="4178958" extrusionOk="0">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0">
                <a:srgbClr val="000000">
                  <a:alpha val="0"/>
                </a:srgbClr>
              </a:gs>
              <a:gs pos="29000">
                <a:srgbClr val="000000">
                  <a:alpha val="0"/>
                </a:srgbClr>
              </a:gs>
              <a:gs pos="100000">
                <a:srgbClr val="156082">
                  <a:alpha val="42745"/>
                </a:srgbClr>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38" name="Google Shape;238;p19"/>
          <p:cNvSpPr/>
          <p:nvPr/>
        </p:nvSpPr>
        <p:spPr>
          <a:xfrm rot="5400000" flipH="1">
            <a:off x="-1410093" y="1399943"/>
            <a:ext cx="6858003" cy="4037835"/>
          </a:xfrm>
          <a:prstGeom prst="rect">
            <a:avLst/>
          </a:prstGeom>
          <a:gradFill>
            <a:gsLst>
              <a:gs pos="0">
                <a:srgbClr val="000000">
                  <a:alpha val="0"/>
                </a:srgbClr>
              </a:gs>
              <a:gs pos="99000">
                <a:srgbClr val="43AFE2">
                  <a:alpha val="10980"/>
                </a:srgbClr>
              </a:gs>
              <a:gs pos="100000">
                <a:srgbClr val="43AFE2">
                  <a:alpha val="10980"/>
                </a:srgbClr>
              </a:gs>
            </a:gsLst>
            <a:lin ang="7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39" name="Google Shape;239;p19"/>
          <p:cNvSpPr txBox="1">
            <a:spLocks noGrp="1"/>
          </p:cNvSpPr>
          <p:nvPr>
            <p:ph type="title"/>
          </p:nvPr>
        </p:nvSpPr>
        <p:spPr>
          <a:xfrm>
            <a:off x="466722" y="586855"/>
            <a:ext cx="3201366" cy="3387497"/>
          </a:xfrm>
          <a:prstGeom prst="rect">
            <a:avLst/>
          </a:prstGeom>
          <a:noFill/>
          <a:ln>
            <a:noFill/>
          </a:ln>
        </p:spPr>
        <p:txBody>
          <a:bodyPr spcFirstLastPara="1" wrap="square" lIns="91425" tIns="45700" rIns="91425" bIns="45700" anchor="b" anchorCtr="0">
            <a:normAutofit/>
          </a:bodyPr>
          <a:lstStyle/>
          <a:p>
            <a:pPr marL="0" lvl="0" indent="0" algn="r" rtl="0">
              <a:lnSpc>
                <a:spcPct val="90000"/>
              </a:lnSpc>
              <a:spcBef>
                <a:spcPts val="0"/>
              </a:spcBef>
              <a:spcAft>
                <a:spcPts val="0"/>
              </a:spcAft>
              <a:buClr>
                <a:srgbClr val="FFFFFF"/>
              </a:buClr>
              <a:buSzPts val="3400"/>
              <a:buFont typeface="Play"/>
              <a:buNone/>
            </a:pPr>
            <a:r>
              <a:rPr lang="es-ES" sz="3200" b="1">
                <a:solidFill>
                  <a:srgbClr val="FFFFFF"/>
                </a:solidFill>
              </a:rPr>
              <a:t>Causas validas :</a:t>
            </a:r>
            <a:endParaRPr sz="4200"/>
          </a:p>
        </p:txBody>
      </p:sp>
      <p:sp>
        <p:nvSpPr>
          <p:cNvPr id="240" name="Google Shape;240;p19"/>
          <p:cNvSpPr txBox="1">
            <a:spLocks noGrp="1"/>
          </p:cNvSpPr>
          <p:nvPr>
            <p:ph type="body" idx="1"/>
          </p:nvPr>
        </p:nvSpPr>
        <p:spPr>
          <a:xfrm>
            <a:off x="4810259" y="649480"/>
            <a:ext cx="6555347" cy="5546047"/>
          </a:xfrm>
          <a:prstGeom prst="rect">
            <a:avLst/>
          </a:prstGeom>
          <a:noFill/>
          <a:ln>
            <a:noFill/>
          </a:ln>
        </p:spPr>
        <p:txBody>
          <a:bodyPr spcFirstLastPara="1" wrap="square" lIns="91425" tIns="45700" rIns="91425" bIns="45700" anchor="ctr" anchorCtr="0">
            <a:normAutofit/>
          </a:bodyPr>
          <a:lstStyle/>
          <a:p>
            <a:pPr marL="228600" lvl="0" indent="-228600" algn="l" rtl="0">
              <a:lnSpc>
                <a:spcPct val="90000"/>
              </a:lnSpc>
              <a:spcBef>
                <a:spcPts val="0"/>
              </a:spcBef>
              <a:spcAft>
                <a:spcPts val="0"/>
              </a:spcAft>
              <a:buClr>
                <a:schemeClr val="dk1"/>
              </a:buClr>
              <a:buSzPts val="2000"/>
              <a:buChar char="•"/>
            </a:pPr>
            <a:r>
              <a:rPr lang="es-ES" sz="2000">
                <a:latin typeface="Play"/>
                <a:ea typeface="Play"/>
                <a:cs typeface="Play"/>
                <a:sym typeface="Play"/>
              </a:rPr>
              <a:t>Engaño durante el proceso de contratación</a:t>
            </a:r>
            <a:endParaRPr sz="2000">
              <a:latin typeface="Play"/>
              <a:ea typeface="Play"/>
              <a:cs typeface="Play"/>
              <a:sym typeface="Play"/>
            </a:endParaRPr>
          </a:p>
          <a:p>
            <a:pPr marL="228600" lvl="0" indent="-228600" algn="l" rtl="0">
              <a:lnSpc>
                <a:spcPct val="90000"/>
              </a:lnSpc>
              <a:spcBef>
                <a:spcPts val="1000"/>
              </a:spcBef>
              <a:spcAft>
                <a:spcPts val="0"/>
              </a:spcAft>
              <a:buClr>
                <a:schemeClr val="dk1"/>
              </a:buClr>
              <a:buSzPts val="2000"/>
              <a:buChar char="•"/>
            </a:pPr>
            <a:r>
              <a:rPr lang="es-ES" sz="2000">
                <a:latin typeface="Play"/>
                <a:ea typeface="Play"/>
                <a:cs typeface="Play"/>
                <a:sym typeface="Play"/>
              </a:rPr>
              <a:t>Faltas de probidad u honradez:</a:t>
            </a:r>
            <a:endParaRPr/>
          </a:p>
          <a:p>
            <a:pPr marL="228600" lvl="0" indent="-228600" algn="l" rtl="0">
              <a:lnSpc>
                <a:spcPct val="90000"/>
              </a:lnSpc>
              <a:spcBef>
                <a:spcPts val="1000"/>
              </a:spcBef>
              <a:spcAft>
                <a:spcPts val="0"/>
              </a:spcAft>
              <a:buClr>
                <a:schemeClr val="dk1"/>
              </a:buClr>
              <a:buSzPts val="2000"/>
              <a:buChar char="•"/>
            </a:pPr>
            <a:r>
              <a:rPr lang="es-ES" sz="2000">
                <a:latin typeface="Play"/>
                <a:ea typeface="Play"/>
                <a:cs typeface="Play"/>
                <a:sym typeface="Play"/>
              </a:rPr>
              <a:t>Acoso laboral</a:t>
            </a:r>
            <a:endParaRPr sz="2000">
              <a:latin typeface="Play"/>
              <a:ea typeface="Play"/>
              <a:cs typeface="Play"/>
              <a:sym typeface="Play"/>
            </a:endParaRPr>
          </a:p>
          <a:p>
            <a:pPr marL="228600" lvl="0" indent="-228600" algn="l" rtl="0">
              <a:lnSpc>
                <a:spcPct val="90000"/>
              </a:lnSpc>
              <a:spcBef>
                <a:spcPts val="1000"/>
              </a:spcBef>
              <a:spcAft>
                <a:spcPts val="0"/>
              </a:spcAft>
              <a:buClr>
                <a:schemeClr val="dk1"/>
              </a:buClr>
              <a:buSzPts val="2000"/>
              <a:buChar char="•"/>
            </a:pPr>
            <a:r>
              <a:rPr lang="es-ES" sz="2000">
                <a:latin typeface="Play"/>
                <a:ea typeface="Play"/>
                <a:cs typeface="Play"/>
                <a:sym typeface="Play"/>
              </a:rPr>
              <a:t>Daños materiales intencionales o negligentes</a:t>
            </a:r>
            <a:endParaRPr/>
          </a:p>
          <a:p>
            <a:pPr marL="228600" lvl="0" indent="-228600" algn="l" rtl="0">
              <a:lnSpc>
                <a:spcPct val="90000"/>
              </a:lnSpc>
              <a:spcBef>
                <a:spcPts val="1000"/>
              </a:spcBef>
              <a:spcAft>
                <a:spcPts val="0"/>
              </a:spcAft>
              <a:buClr>
                <a:schemeClr val="dk1"/>
              </a:buClr>
              <a:buSzPts val="2000"/>
              <a:buChar char="•"/>
            </a:pPr>
            <a:r>
              <a:rPr lang="es-ES" sz="2000">
                <a:latin typeface="Play"/>
                <a:ea typeface="Play"/>
                <a:cs typeface="Play"/>
                <a:sym typeface="Play"/>
              </a:rPr>
              <a:t>Insubordinación</a:t>
            </a:r>
            <a:endParaRPr sz="2000">
              <a:latin typeface="Play"/>
              <a:ea typeface="Play"/>
              <a:cs typeface="Play"/>
              <a:sym typeface="Play"/>
            </a:endParaRPr>
          </a:p>
          <a:p>
            <a:pPr marL="228600" lvl="0" indent="-228600" algn="l" rtl="0">
              <a:lnSpc>
                <a:spcPct val="90000"/>
              </a:lnSpc>
              <a:spcBef>
                <a:spcPts val="1000"/>
              </a:spcBef>
              <a:spcAft>
                <a:spcPts val="0"/>
              </a:spcAft>
              <a:buClr>
                <a:schemeClr val="dk1"/>
              </a:buClr>
              <a:buSzPts val="2000"/>
              <a:buChar char="•"/>
            </a:pPr>
            <a:r>
              <a:rPr lang="es-ES" sz="2000">
                <a:latin typeface="Play"/>
                <a:ea typeface="Play"/>
                <a:cs typeface="Play"/>
                <a:sym typeface="Play"/>
              </a:rPr>
              <a:t>Presencia en el trabajo bajo la influencia de alcohol o drogas</a:t>
            </a:r>
            <a:endParaRPr sz="2000">
              <a:latin typeface="Play"/>
              <a:ea typeface="Play"/>
              <a:cs typeface="Play"/>
              <a:sym typeface="Play"/>
            </a:endParaRPr>
          </a:p>
          <a:p>
            <a:pPr marL="228600" lvl="0" indent="-228600" algn="l" rtl="0">
              <a:lnSpc>
                <a:spcPct val="90000"/>
              </a:lnSpc>
              <a:spcBef>
                <a:spcPts val="1000"/>
              </a:spcBef>
              <a:spcAft>
                <a:spcPts val="0"/>
              </a:spcAft>
              <a:buClr>
                <a:schemeClr val="dk1"/>
              </a:buClr>
              <a:buSzPts val="2000"/>
              <a:buChar char="•"/>
            </a:pPr>
            <a:r>
              <a:rPr lang="es-ES" sz="2000">
                <a:latin typeface="Play"/>
                <a:ea typeface="Play"/>
                <a:cs typeface="Play"/>
                <a:sym typeface="Play"/>
              </a:rPr>
              <a:t>Faltas de asistencia injustificadas</a:t>
            </a:r>
            <a:endParaRPr/>
          </a:p>
          <a:p>
            <a:pPr marL="228600" lvl="0" indent="-228600" algn="l" rtl="0">
              <a:lnSpc>
                <a:spcPct val="90000"/>
              </a:lnSpc>
              <a:spcBef>
                <a:spcPts val="1000"/>
              </a:spcBef>
              <a:spcAft>
                <a:spcPts val="0"/>
              </a:spcAft>
              <a:buClr>
                <a:schemeClr val="dk1"/>
              </a:buClr>
              <a:buSzPts val="2000"/>
              <a:buChar char="•"/>
            </a:pPr>
            <a:r>
              <a:rPr lang="es-ES" sz="2000">
                <a:latin typeface="Play"/>
                <a:ea typeface="Play"/>
                <a:cs typeface="Play"/>
                <a:sym typeface="Play"/>
              </a:rPr>
              <a:t>Revelación de secretos comerciales</a:t>
            </a:r>
            <a:endParaRPr sz="2000">
              <a:latin typeface="Play"/>
              <a:ea typeface="Play"/>
              <a:cs typeface="Play"/>
              <a:sym typeface="Play"/>
            </a:endParaRPr>
          </a:p>
        </p:txBody>
      </p:sp>
    </p:spTree>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44"/>
        <p:cNvGrpSpPr/>
        <p:nvPr/>
      </p:nvGrpSpPr>
      <p:grpSpPr>
        <a:xfrm>
          <a:off x="0" y="0"/>
          <a:ext cx="0" cy="0"/>
          <a:chOff x="0" y="0"/>
          <a:chExt cx="0" cy="0"/>
        </a:xfrm>
      </p:grpSpPr>
      <p:sp>
        <p:nvSpPr>
          <p:cNvPr id="245" name="Google Shape;245;p20"/>
          <p:cNvSpPr/>
          <p:nvPr/>
        </p:nvSpPr>
        <p:spPr>
          <a:xfrm>
            <a:off x="0" y="0"/>
            <a:ext cx="12192000" cy="6857999"/>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246" name="Google Shape;246;p20"/>
          <p:cNvPicPr preferRelativeResize="0"/>
          <p:nvPr/>
        </p:nvPicPr>
        <p:blipFill rotWithShape="1">
          <a:blip r:embed="rId3">
            <a:alphaModFix amt="50000"/>
          </a:blip>
          <a:srcRect r="6250" b="6250"/>
          <a:stretch/>
        </p:blipFill>
        <p:spPr>
          <a:xfrm>
            <a:off x="20" y="1"/>
            <a:ext cx="12191980" cy="6857999"/>
          </a:xfrm>
          <a:prstGeom prst="rect">
            <a:avLst/>
          </a:prstGeom>
          <a:noFill/>
          <a:ln>
            <a:noFill/>
          </a:ln>
        </p:spPr>
      </p:pic>
      <p:sp>
        <p:nvSpPr>
          <p:cNvPr id="247" name="Google Shape;247;p20"/>
          <p:cNvSpPr txBox="1">
            <a:spLocks noGrp="1"/>
          </p:cNvSpPr>
          <p:nvPr>
            <p:ph type="title"/>
          </p:nvPr>
        </p:nvSpPr>
        <p:spPr>
          <a:xfrm>
            <a:off x="762000" y="1122362"/>
            <a:ext cx="10739886" cy="3015536"/>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FFFFFF"/>
              </a:buClr>
              <a:buSzPts val="6000"/>
              <a:buFont typeface="Play"/>
              <a:buNone/>
            </a:pPr>
            <a:r>
              <a:rPr lang="es-ES" sz="6000" b="1">
                <a:solidFill>
                  <a:srgbClr val="FFFFFF"/>
                </a:solidFill>
              </a:rPr>
              <a:t>Estabilidad del empleo público:</a:t>
            </a:r>
            <a:endParaRPr sz="6000">
              <a:solidFill>
                <a:srgbClr val="FFFFFF"/>
              </a:solidFill>
            </a:endParaRPr>
          </a:p>
        </p:txBody>
      </p:sp>
      <p:sp>
        <p:nvSpPr>
          <p:cNvPr id="248" name="Google Shape;248;p20"/>
          <p:cNvSpPr txBox="1">
            <a:spLocks noGrp="1"/>
          </p:cNvSpPr>
          <p:nvPr>
            <p:ph type="body" idx="1"/>
          </p:nvPr>
        </p:nvSpPr>
        <p:spPr>
          <a:xfrm>
            <a:off x="1524000" y="4159404"/>
            <a:ext cx="9144000" cy="1098395"/>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FFFFFF"/>
              </a:buClr>
              <a:buSzPts val="2400"/>
              <a:buNone/>
            </a:pPr>
            <a:r>
              <a:rPr lang="es-ES" sz="2400">
                <a:solidFill>
                  <a:srgbClr val="FFFFFF"/>
                </a:solidFill>
              </a:rPr>
              <a:t>Si o si necesitas un motivo</a:t>
            </a:r>
            <a:endParaRPr/>
          </a:p>
        </p:txBody>
      </p:sp>
    </p:spTree>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2"/>
        <p:cNvGrpSpPr/>
        <p:nvPr/>
      </p:nvGrpSpPr>
      <p:grpSpPr>
        <a:xfrm>
          <a:off x="0" y="0"/>
          <a:ext cx="0" cy="0"/>
          <a:chOff x="0" y="0"/>
          <a:chExt cx="0" cy="0"/>
        </a:xfrm>
      </p:grpSpPr>
      <p:sp>
        <p:nvSpPr>
          <p:cNvPr id="253" name="Google Shape;253;p21"/>
          <p:cNvSpPr/>
          <p:nvPr/>
        </p:nvSpPr>
        <p:spPr>
          <a:xfrm>
            <a:off x="0" y="-1"/>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4" name="Google Shape;254;p21"/>
          <p:cNvSpPr/>
          <p:nvPr/>
        </p:nvSpPr>
        <p:spPr>
          <a:xfrm>
            <a:off x="0" y="0"/>
            <a:ext cx="12192000" cy="6858000"/>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000000"/>
              </a:solidFill>
              <a:latin typeface="Calibri"/>
              <a:ea typeface="Calibri"/>
              <a:cs typeface="Calibri"/>
              <a:sym typeface="Calibri"/>
            </a:endParaRPr>
          </a:p>
        </p:txBody>
      </p:sp>
      <p:pic>
        <p:nvPicPr>
          <p:cNvPr id="255" name="Google Shape;255;p21" descr="Organizadores de diferentes colores"/>
          <p:cNvPicPr preferRelativeResize="0"/>
          <p:nvPr/>
        </p:nvPicPr>
        <p:blipFill rotWithShape="1">
          <a:blip r:embed="rId3">
            <a:alphaModFix amt="60000"/>
          </a:blip>
          <a:srcRect r="-2" b="7019"/>
          <a:stretch/>
        </p:blipFill>
        <p:spPr>
          <a:xfrm>
            <a:off x="-1" y="10"/>
            <a:ext cx="12192001" cy="6857990"/>
          </a:xfrm>
          <a:prstGeom prst="rect">
            <a:avLst/>
          </a:prstGeom>
          <a:noFill/>
          <a:ln>
            <a:noFill/>
          </a:ln>
        </p:spPr>
      </p:pic>
      <p:sp>
        <p:nvSpPr>
          <p:cNvPr id="256" name="Google Shape;256;p21"/>
          <p:cNvSpPr txBox="1">
            <a:spLocks noGrp="1"/>
          </p:cNvSpPr>
          <p:nvPr>
            <p:ph type="title"/>
          </p:nvPr>
        </p:nvSpPr>
        <p:spPr>
          <a:xfrm>
            <a:off x="838200" y="914402"/>
            <a:ext cx="10515600" cy="2985923"/>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FFFFFF"/>
              </a:buClr>
              <a:buSzPts val="5200"/>
              <a:buFont typeface="Play"/>
              <a:buNone/>
            </a:pPr>
            <a:r>
              <a:rPr lang="es-ES" sz="5200" b="1">
                <a:solidFill>
                  <a:srgbClr val="FFFFFF"/>
                </a:solidFill>
              </a:rPr>
              <a:t>Organización sindical libre y democrática, reconocida por la simple inscripción en un registro especial:</a:t>
            </a:r>
            <a:endParaRPr sz="5200">
              <a:solidFill>
                <a:srgbClr val="FFFFFF"/>
              </a:solidFill>
            </a:endParaRPr>
          </a:p>
        </p:txBody>
      </p:sp>
    </p:spTree>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0"/>
        <p:cNvGrpSpPr/>
        <p:nvPr/>
      </p:nvGrpSpPr>
      <p:grpSpPr>
        <a:xfrm>
          <a:off x="0" y="0"/>
          <a:ext cx="0" cy="0"/>
          <a:chOff x="0" y="0"/>
          <a:chExt cx="0" cy="0"/>
        </a:xfrm>
      </p:grpSpPr>
      <p:sp>
        <p:nvSpPr>
          <p:cNvPr id="261" name="Google Shape;261;p22"/>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262" name="Google Shape;262;p22" descr="Se disponen recomendaciones a los fines del fortalecimiento, eficacia y  transparencia de los procesos eleccionarios en los gremios | Microjuris  Argentina al Día"/>
          <p:cNvPicPr preferRelativeResize="0"/>
          <p:nvPr/>
        </p:nvPicPr>
        <p:blipFill rotWithShape="1">
          <a:blip r:embed="rId3">
            <a:alphaModFix/>
          </a:blip>
          <a:srcRect/>
          <a:stretch/>
        </p:blipFill>
        <p:spPr>
          <a:xfrm>
            <a:off x="6095999" y="1546226"/>
            <a:ext cx="5260976" cy="3726524"/>
          </a:xfrm>
          <a:prstGeom prst="rect">
            <a:avLst/>
          </a:prstGeom>
          <a:noFill/>
          <a:ln>
            <a:noFill/>
          </a:ln>
        </p:spPr>
      </p:pic>
      <p:sp>
        <p:nvSpPr>
          <p:cNvPr id="263" name="Google Shape;263;p22"/>
          <p:cNvSpPr txBox="1"/>
          <p:nvPr/>
        </p:nvSpPr>
        <p:spPr>
          <a:xfrm>
            <a:off x="651295" y="732947"/>
            <a:ext cx="4779034" cy="2352884"/>
          </a:xfrm>
          <a:prstGeom prst="rect">
            <a:avLst/>
          </a:prstGeom>
          <a:noFill/>
          <a:ln>
            <a:noFill/>
          </a:ln>
        </p:spPr>
        <p:txBody>
          <a:bodyPr spcFirstLastPara="1" wrap="square" lIns="91425" tIns="45700" rIns="91425" bIns="45700" anchor="t" anchorCtr="0">
            <a:normAutofit fontScale="85000" lnSpcReduction="20000"/>
          </a:bodyPr>
          <a:lstStyle/>
          <a:p>
            <a:pPr marL="12700" marR="0" lvl="0" algn="l" rtl="0">
              <a:lnSpc>
                <a:spcPct val="90000"/>
              </a:lnSpc>
              <a:spcBef>
                <a:spcPts val="0"/>
              </a:spcBef>
              <a:spcAft>
                <a:spcPts val="0"/>
              </a:spcAft>
              <a:buClr>
                <a:schemeClr val="lt1"/>
              </a:buClr>
              <a:buSzPct val="100000"/>
            </a:pPr>
            <a:r>
              <a:rPr lang="es-ES" sz="4000" b="1" u="sng">
                <a:solidFill>
                  <a:schemeClr val="dk1"/>
                </a:solidFill>
                <a:latin typeface="Play"/>
                <a:ea typeface="Play"/>
                <a:cs typeface="Play"/>
                <a:sym typeface="Play"/>
              </a:rPr>
              <a:t>Gremio:</a:t>
            </a:r>
            <a:r>
              <a:rPr lang="es-ES" sz="4000" dirty="0">
                <a:solidFill>
                  <a:schemeClr val="dk1"/>
                </a:solidFill>
                <a:latin typeface="Play"/>
                <a:ea typeface="Play"/>
                <a:cs typeface="Play"/>
                <a:sym typeface="Play"/>
              </a:rPr>
              <a:t> </a:t>
            </a:r>
            <a:r>
              <a:rPr lang="es-ES" sz="4700">
                <a:solidFill>
                  <a:schemeClr val="dk1"/>
                </a:solidFill>
                <a:latin typeface="Play"/>
                <a:sym typeface="Play"/>
              </a:rPr>
              <a:t>Es una asociación a la que sí o sí se forma parte al ejercer esa actividad.</a:t>
            </a:r>
            <a:endParaRPr lang="es-ES" sz="4700">
              <a:solidFill>
                <a:schemeClr val="dk1"/>
              </a:solidFill>
              <a:latin typeface="Play"/>
            </a:endParaRPr>
          </a:p>
          <a:p>
            <a:pPr marL="228600" marR="0" lvl="0" indent="-165100" algn="l" rtl="0">
              <a:lnSpc>
                <a:spcPct val="90000"/>
              </a:lnSpc>
              <a:spcBef>
                <a:spcPts val="1000"/>
              </a:spcBef>
              <a:spcAft>
                <a:spcPts val="0"/>
              </a:spcAft>
              <a:buClr>
                <a:schemeClr val="dk1"/>
              </a:buClr>
              <a:buSzPct val="100000"/>
              <a:buFont typeface="Arial"/>
              <a:buNone/>
            </a:pPr>
            <a:endParaRPr sz="1000">
              <a:solidFill>
                <a:schemeClr val="dk1"/>
              </a:solidFill>
              <a:latin typeface="Arial"/>
              <a:ea typeface="Arial"/>
              <a:cs typeface="Arial"/>
              <a:sym typeface="Arial"/>
            </a:endParaRPr>
          </a:p>
          <a:p>
            <a:pPr marL="228600" marR="0" lvl="0" indent="-50800" algn="l" rtl="0">
              <a:lnSpc>
                <a:spcPct val="90000"/>
              </a:lnSpc>
              <a:spcBef>
                <a:spcPts val="1000"/>
              </a:spcBef>
              <a:spcAft>
                <a:spcPts val="0"/>
              </a:spcAft>
              <a:buClr>
                <a:schemeClr val="dk1"/>
              </a:buClr>
              <a:buSzPct val="100000"/>
              <a:buFont typeface="Arial"/>
              <a:buNone/>
            </a:pPr>
            <a:endParaRPr sz="2800">
              <a:solidFill>
                <a:schemeClr val="dk1"/>
              </a:solidFill>
              <a:latin typeface="Arial"/>
              <a:ea typeface="Arial"/>
              <a:cs typeface="Arial"/>
              <a:sym typeface="Arial"/>
            </a:endParaRPr>
          </a:p>
        </p:txBody>
      </p:sp>
      <p:sp>
        <p:nvSpPr>
          <p:cNvPr id="264" name="Google Shape;264;p22"/>
          <p:cNvSpPr txBox="1"/>
          <p:nvPr/>
        </p:nvSpPr>
        <p:spPr>
          <a:xfrm>
            <a:off x="577340" y="3088885"/>
            <a:ext cx="4942800" cy="298539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000">
              <a:solidFill>
                <a:schemeClr val="dk1"/>
              </a:solidFill>
              <a:latin typeface="Arial"/>
              <a:ea typeface="Arial"/>
              <a:cs typeface="Arial"/>
              <a:sym typeface="Arial"/>
            </a:endParaRPr>
          </a:p>
          <a:p>
            <a:pPr marR="0" lvl="0" algn="l" rtl="0">
              <a:spcBef>
                <a:spcPts val="0"/>
              </a:spcBef>
              <a:spcAft>
                <a:spcPts val="0"/>
              </a:spcAft>
              <a:buClr>
                <a:schemeClr val="dk1"/>
              </a:buClr>
              <a:buSzPts val="4000"/>
            </a:pPr>
            <a:r>
              <a:rPr lang="es-ES" sz="4000" b="1" u="sng" dirty="0">
                <a:solidFill>
                  <a:schemeClr val="dk1"/>
                </a:solidFill>
                <a:latin typeface="Play"/>
                <a:ea typeface="Play"/>
                <a:cs typeface="Play"/>
                <a:sym typeface="Play"/>
              </a:rPr>
              <a:t>Sindicato:</a:t>
            </a:r>
            <a:r>
              <a:rPr lang="es-ES" sz="4000" dirty="0">
                <a:solidFill>
                  <a:schemeClr val="dk1"/>
                </a:solidFill>
                <a:latin typeface="Play"/>
                <a:ea typeface="Play"/>
                <a:cs typeface="Play"/>
                <a:sym typeface="Play"/>
              </a:rPr>
              <a:t> mientras que este es un grupo en particular dentro del gremio.</a:t>
            </a:r>
            <a:endParaRPr sz="4000" dirty="0">
              <a:solidFill>
                <a:schemeClr val="dk1"/>
              </a:solidFill>
              <a:latin typeface="Play"/>
              <a:ea typeface="Play"/>
              <a:cs typeface="Play"/>
            </a:endParaRPr>
          </a:p>
          <a:p>
            <a:pPr marL="285750" marR="0" lvl="0" indent="-17145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Tree>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8"/>
        <p:cNvGrpSpPr/>
        <p:nvPr/>
      </p:nvGrpSpPr>
      <p:grpSpPr>
        <a:xfrm>
          <a:off x="0" y="0"/>
          <a:ext cx="0" cy="0"/>
          <a:chOff x="0" y="0"/>
          <a:chExt cx="0" cy="0"/>
        </a:xfrm>
      </p:grpSpPr>
      <p:sp>
        <p:nvSpPr>
          <p:cNvPr id="269" name="Google Shape;269;p23"/>
          <p:cNvSpPr/>
          <p:nvPr/>
        </p:nvSpPr>
        <p:spPr>
          <a:xfrm>
            <a:off x="-1"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270" name="Google Shape;270;p23" descr="Un grupo de figuras de palos de madera multicolores"/>
          <p:cNvPicPr preferRelativeResize="0"/>
          <p:nvPr/>
        </p:nvPicPr>
        <p:blipFill rotWithShape="1">
          <a:blip r:embed="rId3">
            <a:alphaModFix/>
          </a:blip>
          <a:srcRect t="10115" r="-2" b="8756"/>
          <a:stretch/>
        </p:blipFill>
        <p:spPr>
          <a:xfrm>
            <a:off x="-3047" y="10"/>
            <a:ext cx="12191999" cy="6857990"/>
          </a:xfrm>
          <a:prstGeom prst="rect">
            <a:avLst/>
          </a:prstGeom>
          <a:noFill/>
          <a:ln>
            <a:noFill/>
          </a:ln>
        </p:spPr>
      </p:pic>
      <p:sp>
        <p:nvSpPr>
          <p:cNvPr id="271" name="Google Shape;271;p23"/>
          <p:cNvSpPr/>
          <p:nvPr/>
        </p:nvSpPr>
        <p:spPr>
          <a:xfrm>
            <a:off x="0" y="2207602"/>
            <a:ext cx="12191999" cy="3162146"/>
          </a:xfrm>
          <a:prstGeom prst="rect">
            <a:avLst/>
          </a:prstGeom>
          <a:gradFill>
            <a:gsLst>
              <a:gs pos="0">
                <a:srgbClr val="000000">
                  <a:alpha val="0"/>
                </a:srgbClr>
              </a:gs>
              <a:gs pos="25000">
                <a:srgbClr val="000000">
                  <a:alpha val="14901"/>
                </a:srgbClr>
              </a:gs>
              <a:gs pos="50000">
                <a:srgbClr val="000000">
                  <a:alpha val="29803"/>
                </a:srgbClr>
              </a:gs>
              <a:gs pos="75000">
                <a:srgbClr val="000000">
                  <a:alpha val="14901"/>
                </a:srgbClr>
              </a:gs>
              <a:gs pos="100000">
                <a:srgbClr val="000000">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72" name="Google Shape;272;p23"/>
          <p:cNvSpPr txBox="1">
            <a:spLocks noGrp="1"/>
          </p:cNvSpPr>
          <p:nvPr>
            <p:ph type="title"/>
          </p:nvPr>
        </p:nvSpPr>
        <p:spPr>
          <a:xfrm>
            <a:off x="1097280" y="325550"/>
            <a:ext cx="10058400" cy="3574778"/>
          </a:xfrm>
          <a:prstGeom prst="rect">
            <a:avLst/>
          </a:prstGeom>
          <a:noFill/>
          <a:ln>
            <a:noFill/>
          </a:ln>
          <a:effectLst>
            <a:outerShdw blurRad="50800" dist="38100" dir="2700000" algn="tl" rotWithShape="0">
              <a:srgbClr val="000000">
                <a:alpha val="40000"/>
              </a:srgbClr>
            </a:outerShdw>
          </a:effectLst>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FFFFFF"/>
              </a:buClr>
              <a:buSzPts val="5200"/>
              <a:buFont typeface="Play"/>
              <a:buNone/>
            </a:pPr>
            <a:r>
              <a:rPr lang="es-ES" sz="5200" b="1">
                <a:solidFill>
                  <a:srgbClr val="FFFFFF"/>
                </a:solidFill>
              </a:rPr>
              <a:t>¿Un trabajador realmente tiene derechos?</a:t>
            </a:r>
            <a:endParaRPr/>
          </a:p>
        </p:txBody>
      </p:sp>
    </p:spTree>
  </p:cSld>
  <p:clrMapOvr>
    <a:masterClrMapping/>
  </p:clrMapOvr>
  <p:transition spd="slow">
    <p:push dir="u"/>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6"/>
        <p:cNvGrpSpPr/>
        <p:nvPr/>
      </p:nvGrpSpPr>
      <p:grpSpPr>
        <a:xfrm>
          <a:off x="0" y="0"/>
          <a:ext cx="0" cy="0"/>
          <a:chOff x="0" y="0"/>
          <a:chExt cx="0" cy="0"/>
        </a:xfrm>
      </p:grpSpPr>
      <p:sp>
        <p:nvSpPr>
          <p:cNvPr id="277" name="Google Shape;277;p24"/>
          <p:cNvSpPr/>
          <p:nvPr/>
        </p:nvSpPr>
        <p:spPr>
          <a:xfrm>
            <a:off x="1524" y="0"/>
            <a:ext cx="12188952" cy="6858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278" name="Google Shape;278;p24" descr="Gráfico, Gráfico de líneas&#10;&#10;Descripción generada automáticamente"/>
          <p:cNvPicPr preferRelativeResize="0">
            <a:picLocks noGrp="1"/>
          </p:cNvPicPr>
          <p:nvPr>
            <p:ph type="body" idx="1"/>
          </p:nvPr>
        </p:nvPicPr>
        <p:blipFill rotWithShape="1">
          <a:blip r:embed="rId3">
            <a:alphaModFix/>
          </a:blip>
          <a:srcRect t="14463"/>
          <a:stretch/>
        </p:blipFill>
        <p:spPr>
          <a:xfrm>
            <a:off x="20" y="1282"/>
            <a:ext cx="12191980" cy="6856718"/>
          </a:xfrm>
          <a:prstGeom prst="rect">
            <a:avLst/>
          </a:prstGeom>
          <a:noFill/>
          <a:ln>
            <a:noFill/>
          </a:ln>
        </p:spPr>
      </p:pic>
    </p:spTree>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82"/>
        <p:cNvGrpSpPr/>
        <p:nvPr/>
      </p:nvGrpSpPr>
      <p:grpSpPr>
        <a:xfrm>
          <a:off x="0" y="0"/>
          <a:ext cx="0" cy="0"/>
          <a:chOff x="0" y="0"/>
          <a:chExt cx="0" cy="0"/>
        </a:xfrm>
      </p:grpSpPr>
      <p:sp>
        <p:nvSpPr>
          <p:cNvPr id="283" name="Google Shape;283;p25"/>
          <p:cNvSpPr/>
          <p:nvPr/>
        </p:nvSpPr>
        <p:spPr>
          <a:xfrm>
            <a:off x="1524" y="0"/>
            <a:ext cx="12188952" cy="6858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284" name="Google Shape;284;p25" descr="Interfaz de usuario gráfica, Texto, Aplicación, Correo electrónico&#10;&#10;Descripción generada automáticamente"/>
          <p:cNvPicPr preferRelativeResize="0">
            <a:picLocks noGrp="1"/>
          </p:cNvPicPr>
          <p:nvPr>
            <p:ph type="body" idx="1"/>
          </p:nvPr>
        </p:nvPicPr>
        <p:blipFill rotWithShape="1">
          <a:blip r:embed="rId3">
            <a:alphaModFix/>
          </a:blip>
          <a:srcRect r="425" b="-1"/>
          <a:stretch/>
        </p:blipFill>
        <p:spPr>
          <a:xfrm>
            <a:off x="20" y="1282"/>
            <a:ext cx="12191980" cy="6856718"/>
          </a:xfrm>
          <a:prstGeom prst="rect">
            <a:avLst/>
          </a:prstGeom>
          <a:noFill/>
          <a:ln>
            <a:noFill/>
          </a:ln>
        </p:spPr>
      </p:pic>
    </p:spTree>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88"/>
        <p:cNvGrpSpPr/>
        <p:nvPr/>
      </p:nvGrpSpPr>
      <p:grpSpPr>
        <a:xfrm>
          <a:off x="0" y="0"/>
          <a:ext cx="0" cy="0"/>
          <a:chOff x="0" y="0"/>
          <a:chExt cx="0" cy="0"/>
        </a:xfrm>
      </p:grpSpPr>
      <p:graphicFrame>
        <p:nvGraphicFramePr>
          <p:cNvPr id="289" name="Google Shape;289;p26"/>
          <p:cNvGraphicFramePr/>
          <p:nvPr/>
        </p:nvGraphicFramePr>
        <p:xfrm>
          <a:off x="643467" y="688509"/>
          <a:ext cx="10905075" cy="5480800"/>
        </p:xfrm>
        <a:graphic>
          <a:graphicData uri="http://schemas.openxmlformats.org/drawingml/2006/table">
            <a:tbl>
              <a:tblPr firstRow="1" firstCol="1" bandRow="1">
                <a:noFill/>
                <a:tableStyleId>{267EEA3C-0EC6-4C09-844C-E520B854697A}</a:tableStyleId>
              </a:tblPr>
              <a:tblGrid>
                <a:gridCol w="3740450">
                  <a:extLst>
                    <a:ext uri="{9D8B030D-6E8A-4147-A177-3AD203B41FA5}">
                      <a16:colId xmlns:a16="http://schemas.microsoft.com/office/drawing/2014/main" val="20000"/>
                    </a:ext>
                  </a:extLst>
                </a:gridCol>
                <a:gridCol w="2414375">
                  <a:extLst>
                    <a:ext uri="{9D8B030D-6E8A-4147-A177-3AD203B41FA5}">
                      <a16:colId xmlns:a16="http://schemas.microsoft.com/office/drawing/2014/main" val="20001"/>
                    </a:ext>
                  </a:extLst>
                </a:gridCol>
                <a:gridCol w="2414375">
                  <a:extLst>
                    <a:ext uri="{9D8B030D-6E8A-4147-A177-3AD203B41FA5}">
                      <a16:colId xmlns:a16="http://schemas.microsoft.com/office/drawing/2014/main" val="20002"/>
                    </a:ext>
                  </a:extLst>
                </a:gridCol>
                <a:gridCol w="2335875">
                  <a:extLst>
                    <a:ext uri="{9D8B030D-6E8A-4147-A177-3AD203B41FA5}">
                      <a16:colId xmlns:a16="http://schemas.microsoft.com/office/drawing/2014/main" val="20003"/>
                    </a:ext>
                  </a:extLst>
                </a:gridCol>
              </a:tblGrid>
              <a:tr h="322400">
                <a:tc gridSpan="4">
                  <a:txBody>
                    <a:bodyPr/>
                    <a:lstStyle/>
                    <a:p>
                      <a:pPr marL="0" marR="0" lvl="0" indent="0" algn="ctr" rtl="0">
                        <a:spcBef>
                          <a:spcPts val="0"/>
                        </a:spcBef>
                        <a:spcAft>
                          <a:spcPts val="0"/>
                        </a:spcAft>
                        <a:buNone/>
                      </a:pPr>
                      <a:r>
                        <a:rPr lang="es-ES" sz="1900" b="1" u="none" strike="noStrike" cap="none">
                          <a:solidFill>
                            <a:srgbClr val="000000"/>
                          </a:solidFill>
                          <a:latin typeface="Calibri"/>
                          <a:ea typeface="Calibri"/>
                          <a:cs typeface="Calibri"/>
                          <a:sym typeface="Calibri"/>
                        </a:rPr>
                        <a:t>2024 (mayo)</a:t>
                      </a:r>
                      <a:endParaRPr sz="1900" u="none" strike="noStrike" cap="none"/>
                    </a:p>
                  </a:txBody>
                  <a:tcPr marL="46100" marR="4610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A6A6A6"/>
                    </a:solidFill>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10000"/>
                  </a:ext>
                </a:extLst>
              </a:tr>
              <a:tr h="322400">
                <a:tc>
                  <a:txBody>
                    <a:bodyPr/>
                    <a:lstStyle/>
                    <a:p>
                      <a:pPr marL="0" marR="0" lvl="0" indent="0" algn="l" rtl="0">
                        <a:spcBef>
                          <a:spcPts val="0"/>
                        </a:spcBef>
                        <a:spcAft>
                          <a:spcPts val="0"/>
                        </a:spcAft>
                        <a:buNone/>
                      </a:pPr>
                      <a:r>
                        <a:rPr lang="es-ES" sz="1900" b="1" u="none" strike="noStrike" cap="none">
                          <a:solidFill>
                            <a:srgbClr val="000000"/>
                          </a:solidFill>
                          <a:latin typeface="Calibri"/>
                          <a:ea typeface="Calibri"/>
                          <a:cs typeface="Calibri"/>
                          <a:sym typeface="Calibri"/>
                        </a:rPr>
                        <a:t> </a:t>
                      </a:r>
                      <a:endParaRPr sz="1900"/>
                    </a:p>
                  </a:txBody>
                  <a:tcPr marL="46100" marR="4610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A6A6A6"/>
                    </a:solidFill>
                  </a:tcPr>
                </a:tc>
                <a:tc>
                  <a:txBody>
                    <a:bodyPr/>
                    <a:lstStyle/>
                    <a:p>
                      <a:pPr marL="0" marR="0" lvl="0" indent="0" algn="l" rtl="0">
                        <a:spcBef>
                          <a:spcPts val="0"/>
                        </a:spcBef>
                        <a:spcAft>
                          <a:spcPts val="0"/>
                        </a:spcAft>
                        <a:buNone/>
                      </a:pPr>
                      <a:r>
                        <a:rPr lang="es-ES" sz="1900" b="1">
                          <a:solidFill>
                            <a:srgbClr val="000000"/>
                          </a:solidFill>
                          <a:latin typeface="Calibri"/>
                          <a:ea typeface="Calibri"/>
                          <a:cs typeface="Calibri"/>
                          <a:sym typeface="Calibri"/>
                        </a:rPr>
                        <a:t>Salario mínimo</a:t>
                      </a:r>
                      <a:endParaRPr sz="1900"/>
                    </a:p>
                  </a:txBody>
                  <a:tcPr marL="46100" marR="4610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A6A6A6"/>
                    </a:solidFill>
                  </a:tcPr>
                </a:tc>
                <a:tc>
                  <a:txBody>
                    <a:bodyPr/>
                    <a:lstStyle/>
                    <a:p>
                      <a:pPr marL="0" marR="0" lvl="0" indent="0" algn="l" rtl="0">
                        <a:spcBef>
                          <a:spcPts val="0"/>
                        </a:spcBef>
                        <a:spcAft>
                          <a:spcPts val="0"/>
                        </a:spcAft>
                        <a:buNone/>
                      </a:pPr>
                      <a:r>
                        <a:rPr lang="es-ES" sz="1900" b="1">
                          <a:solidFill>
                            <a:srgbClr val="000000"/>
                          </a:solidFill>
                          <a:latin typeface="Calibri"/>
                          <a:ea typeface="Calibri"/>
                          <a:cs typeface="Calibri"/>
                          <a:sym typeface="Calibri"/>
                        </a:rPr>
                        <a:t>Clase media</a:t>
                      </a:r>
                      <a:endParaRPr sz="1900"/>
                    </a:p>
                  </a:txBody>
                  <a:tcPr marL="46100" marR="4610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A6A6A6"/>
                    </a:solidFill>
                  </a:tcPr>
                </a:tc>
                <a:tc>
                  <a:txBody>
                    <a:bodyPr/>
                    <a:lstStyle/>
                    <a:p>
                      <a:pPr marL="0" marR="0" lvl="0" indent="0" algn="l" rtl="0">
                        <a:spcBef>
                          <a:spcPts val="0"/>
                        </a:spcBef>
                        <a:spcAft>
                          <a:spcPts val="0"/>
                        </a:spcAft>
                        <a:buNone/>
                      </a:pPr>
                      <a:r>
                        <a:rPr lang="es-ES" sz="1900" b="1">
                          <a:solidFill>
                            <a:srgbClr val="000000"/>
                          </a:solidFill>
                          <a:latin typeface="Calibri"/>
                          <a:ea typeface="Calibri"/>
                          <a:cs typeface="Calibri"/>
                          <a:sym typeface="Calibri"/>
                        </a:rPr>
                        <a:t>Clase alta</a:t>
                      </a:r>
                      <a:endParaRPr sz="1900"/>
                    </a:p>
                  </a:txBody>
                  <a:tcPr marL="46100" marR="4610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A6A6A6"/>
                    </a:solidFill>
                  </a:tcPr>
                </a:tc>
                <a:extLst>
                  <a:ext uri="{0D108BD9-81ED-4DB2-BD59-A6C34878D82A}">
                    <a16:rowId xmlns:a16="http://schemas.microsoft.com/office/drawing/2014/main" val="10001"/>
                  </a:ext>
                </a:extLst>
              </a:tr>
              <a:tr h="322400">
                <a:tc>
                  <a:txBody>
                    <a:bodyPr/>
                    <a:lstStyle/>
                    <a:p>
                      <a:pPr marL="0" marR="0" lvl="0" indent="0" algn="l" rtl="0">
                        <a:spcBef>
                          <a:spcPts val="0"/>
                        </a:spcBef>
                        <a:spcAft>
                          <a:spcPts val="0"/>
                        </a:spcAft>
                        <a:buNone/>
                      </a:pPr>
                      <a:r>
                        <a:rPr lang="es-ES" sz="1900" b="1">
                          <a:solidFill>
                            <a:srgbClr val="000000"/>
                          </a:solidFill>
                          <a:latin typeface="Calibri"/>
                          <a:ea typeface="Calibri"/>
                          <a:cs typeface="Calibri"/>
                          <a:sym typeface="Calibri"/>
                        </a:rPr>
                        <a:t> </a:t>
                      </a:r>
                      <a:endParaRPr sz="1900"/>
                    </a:p>
                  </a:txBody>
                  <a:tcPr marL="46100" marR="4610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A6A6A6"/>
                    </a:solidFill>
                  </a:tcPr>
                </a:tc>
                <a:tc>
                  <a:txBody>
                    <a:bodyPr/>
                    <a:lstStyle/>
                    <a:p>
                      <a:pPr marL="0" marR="0" lvl="0" indent="0" algn="l" rtl="0">
                        <a:spcBef>
                          <a:spcPts val="0"/>
                        </a:spcBef>
                        <a:spcAft>
                          <a:spcPts val="0"/>
                        </a:spcAft>
                        <a:buNone/>
                      </a:pPr>
                      <a:r>
                        <a:rPr lang="es-ES" sz="1900">
                          <a:solidFill>
                            <a:srgbClr val="000000"/>
                          </a:solidFill>
                          <a:latin typeface="Calibri"/>
                          <a:ea typeface="Calibri"/>
                          <a:cs typeface="Calibri"/>
                          <a:sym typeface="Calibri"/>
                        </a:rPr>
                        <a:t> $     234.315,00 </a:t>
                      </a:r>
                      <a:endParaRPr sz="1900"/>
                    </a:p>
                  </a:txBody>
                  <a:tcPr marL="46100" marR="4610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A6A6A6"/>
                    </a:solidFill>
                  </a:tcPr>
                </a:tc>
                <a:tc>
                  <a:txBody>
                    <a:bodyPr/>
                    <a:lstStyle/>
                    <a:p>
                      <a:pPr marL="0" marR="0" lvl="0" indent="0" algn="l" rtl="0">
                        <a:spcBef>
                          <a:spcPts val="0"/>
                        </a:spcBef>
                        <a:spcAft>
                          <a:spcPts val="0"/>
                        </a:spcAft>
                        <a:buNone/>
                      </a:pPr>
                      <a:r>
                        <a:rPr lang="es-ES" sz="1900">
                          <a:solidFill>
                            <a:srgbClr val="000000"/>
                          </a:solidFill>
                          <a:latin typeface="Calibri"/>
                          <a:ea typeface="Calibri"/>
                          <a:cs typeface="Calibri"/>
                          <a:sym typeface="Calibri"/>
                        </a:rPr>
                        <a:t> $   1.260.000,00 </a:t>
                      </a:r>
                      <a:endParaRPr sz="1900"/>
                    </a:p>
                  </a:txBody>
                  <a:tcPr marL="46100" marR="4610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A6A6A6"/>
                    </a:solidFill>
                  </a:tcPr>
                </a:tc>
                <a:tc>
                  <a:txBody>
                    <a:bodyPr/>
                    <a:lstStyle/>
                    <a:p>
                      <a:pPr marL="0" marR="0" lvl="0" indent="0" algn="l" rtl="0">
                        <a:spcBef>
                          <a:spcPts val="0"/>
                        </a:spcBef>
                        <a:spcAft>
                          <a:spcPts val="0"/>
                        </a:spcAft>
                        <a:buNone/>
                      </a:pPr>
                      <a:r>
                        <a:rPr lang="es-ES" sz="1900">
                          <a:solidFill>
                            <a:srgbClr val="000000"/>
                          </a:solidFill>
                          <a:latin typeface="Calibri"/>
                          <a:ea typeface="Calibri"/>
                          <a:cs typeface="Calibri"/>
                          <a:sym typeface="Calibri"/>
                        </a:rPr>
                        <a:t> $   4.046.114,00 </a:t>
                      </a:r>
                      <a:endParaRPr sz="1900"/>
                    </a:p>
                  </a:txBody>
                  <a:tcPr marL="46100" marR="4610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A6A6A6"/>
                    </a:solidFill>
                  </a:tcPr>
                </a:tc>
                <a:extLst>
                  <a:ext uri="{0D108BD9-81ED-4DB2-BD59-A6C34878D82A}">
                    <a16:rowId xmlns:a16="http://schemas.microsoft.com/office/drawing/2014/main" val="10002"/>
                  </a:ext>
                </a:extLst>
              </a:tr>
              <a:tr h="322400">
                <a:tc rowSpan="2">
                  <a:txBody>
                    <a:bodyPr/>
                    <a:lstStyle/>
                    <a:p>
                      <a:pPr marL="0" marR="0" lvl="0" indent="0" algn="ctr" rtl="0">
                        <a:spcBef>
                          <a:spcPts val="0"/>
                        </a:spcBef>
                        <a:spcAft>
                          <a:spcPts val="0"/>
                        </a:spcAft>
                        <a:buNone/>
                      </a:pPr>
                      <a:r>
                        <a:rPr lang="es-ES" sz="1900" b="1">
                          <a:solidFill>
                            <a:srgbClr val="000000"/>
                          </a:solidFill>
                          <a:latin typeface="Calibri"/>
                          <a:ea typeface="Calibri"/>
                          <a:cs typeface="Calibri"/>
                          <a:sym typeface="Calibri"/>
                        </a:rPr>
                        <a:t>Canasta básica (4 personas)</a:t>
                      </a:r>
                      <a:endParaRPr sz="1900"/>
                    </a:p>
                  </a:txBody>
                  <a:tcPr marL="46100" marR="4610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6DCE4"/>
                    </a:solidFill>
                  </a:tcPr>
                </a:tc>
                <a:tc gridSpan="3">
                  <a:txBody>
                    <a:bodyPr/>
                    <a:lstStyle/>
                    <a:p>
                      <a:pPr marL="0" marR="0" lvl="0" indent="0" algn="ctr" rtl="0">
                        <a:spcBef>
                          <a:spcPts val="0"/>
                        </a:spcBef>
                        <a:spcAft>
                          <a:spcPts val="0"/>
                        </a:spcAft>
                        <a:buNone/>
                      </a:pPr>
                      <a:r>
                        <a:rPr lang="es-ES" sz="1900">
                          <a:solidFill>
                            <a:srgbClr val="000000"/>
                          </a:solidFill>
                          <a:latin typeface="Calibri"/>
                          <a:ea typeface="Calibri"/>
                          <a:cs typeface="Calibri"/>
                          <a:sym typeface="Calibri"/>
                        </a:rPr>
                        <a:t> $                                                                         308.079,00 </a:t>
                      </a:r>
                      <a:endParaRPr sz="1900"/>
                    </a:p>
                  </a:txBody>
                  <a:tcPr marL="46100" marR="4610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6DCE4"/>
                    </a:solidFill>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10003"/>
                  </a:ext>
                </a:extLst>
              </a:tr>
              <a:tr h="322400">
                <a:tc vMerge="1">
                  <a:txBody>
                    <a:bodyPr/>
                    <a:lstStyle/>
                    <a:p>
                      <a:endParaRPr lang="es-ES"/>
                    </a:p>
                  </a:txBody>
                  <a:tcPr/>
                </a:tc>
                <a:tc>
                  <a:txBody>
                    <a:bodyPr/>
                    <a:lstStyle/>
                    <a:p>
                      <a:pPr marL="0" marR="0" lvl="0" indent="0" algn="l" rtl="0">
                        <a:spcBef>
                          <a:spcPts val="0"/>
                        </a:spcBef>
                        <a:spcAft>
                          <a:spcPts val="0"/>
                        </a:spcAft>
                        <a:buNone/>
                      </a:pPr>
                      <a:r>
                        <a:rPr lang="es-ES" sz="1900">
                          <a:solidFill>
                            <a:srgbClr val="000000"/>
                          </a:solidFill>
                          <a:latin typeface="Calibri"/>
                          <a:ea typeface="Calibri"/>
                          <a:cs typeface="Calibri"/>
                          <a:sym typeface="Calibri"/>
                        </a:rPr>
                        <a:t>                      0,76 </a:t>
                      </a:r>
                      <a:endParaRPr sz="1900"/>
                    </a:p>
                  </a:txBody>
                  <a:tcPr marL="46100" marR="4610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6DCE4"/>
                    </a:solidFill>
                  </a:tcPr>
                </a:tc>
                <a:tc>
                  <a:txBody>
                    <a:bodyPr/>
                    <a:lstStyle/>
                    <a:p>
                      <a:pPr marL="0" marR="0" lvl="0" indent="0" algn="l" rtl="0">
                        <a:spcBef>
                          <a:spcPts val="0"/>
                        </a:spcBef>
                        <a:spcAft>
                          <a:spcPts val="0"/>
                        </a:spcAft>
                        <a:buNone/>
                      </a:pPr>
                      <a:r>
                        <a:rPr lang="es-ES" sz="1900">
                          <a:solidFill>
                            <a:srgbClr val="000000"/>
                          </a:solidFill>
                          <a:latin typeface="Calibri"/>
                          <a:ea typeface="Calibri"/>
                          <a:cs typeface="Calibri"/>
                          <a:sym typeface="Calibri"/>
                        </a:rPr>
                        <a:t>                       4,09 </a:t>
                      </a:r>
                      <a:endParaRPr sz="1900"/>
                    </a:p>
                  </a:txBody>
                  <a:tcPr marL="46100" marR="4610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6DCE4"/>
                    </a:solidFill>
                  </a:tcPr>
                </a:tc>
                <a:tc>
                  <a:txBody>
                    <a:bodyPr/>
                    <a:lstStyle/>
                    <a:p>
                      <a:pPr marL="0" marR="0" lvl="0" indent="0" algn="l" rtl="0">
                        <a:spcBef>
                          <a:spcPts val="0"/>
                        </a:spcBef>
                        <a:spcAft>
                          <a:spcPts val="0"/>
                        </a:spcAft>
                        <a:buNone/>
                      </a:pPr>
                      <a:r>
                        <a:rPr lang="es-ES" sz="1900">
                          <a:solidFill>
                            <a:srgbClr val="000000"/>
                          </a:solidFill>
                          <a:latin typeface="Calibri"/>
                          <a:ea typeface="Calibri"/>
                          <a:cs typeface="Calibri"/>
                          <a:sym typeface="Calibri"/>
                        </a:rPr>
                        <a:t>                    13,13 </a:t>
                      </a:r>
                      <a:endParaRPr sz="1900"/>
                    </a:p>
                  </a:txBody>
                  <a:tcPr marL="46100" marR="4610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6DCE4"/>
                    </a:solidFill>
                  </a:tcPr>
                </a:tc>
                <a:extLst>
                  <a:ext uri="{0D108BD9-81ED-4DB2-BD59-A6C34878D82A}">
                    <a16:rowId xmlns:a16="http://schemas.microsoft.com/office/drawing/2014/main" val="10004"/>
                  </a:ext>
                </a:extLst>
              </a:tr>
              <a:tr h="322400">
                <a:tc rowSpan="2">
                  <a:txBody>
                    <a:bodyPr/>
                    <a:lstStyle/>
                    <a:p>
                      <a:pPr marL="0" marR="0" lvl="0" indent="0" algn="ctr" rtl="0">
                        <a:spcBef>
                          <a:spcPts val="0"/>
                        </a:spcBef>
                        <a:spcAft>
                          <a:spcPts val="0"/>
                        </a:spcAft>
                        <a:buNone/>
                      </a:pPr>
                      <a:r>
                        <a:rPr lang="es-ES" sz="1900" b="1">
                          <a:solidFill>
                            <a:srgbClr val="000000"/>
                          </a:solidFill>
                          <a:latin typeface="Calibri"/>
                          <a:ea typeface="Calibri"/>
                          <a:cs typeface="Calibri"/>
                          <a:sym typeface="Calibri"/>
                        </a:rPr>
                        <a:t>Canasta básica total</a:t>
                      </a:r>
                      <a:endParaRPr sz="1900"/>
                    </a:p>
                  </a:txBody>
                  <a:tcPr marL="46100" marR="4610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CE4D6"/>
                    </a:solidFill>
                  </a:tcPr>
                </a:tc>
                <a:tc gridSpan="3">
                  <a:txBody>
                    <a:bodyPr/>
                    <a:lstStyle/>
                    <a:p>
                      <a:pPr marL="0" marR="0" lvl="0" indent="0" algn="ctr" rtl="0">
                        <a:spcBef>
                          <a:spcPts val="0"/>
                        </a:spcBef>
                        <a:spcAft>
                          <a:spcPts val="0"/>
                        </a:spcAft>
                        <a:buNone/>
                      </a:pPr>
                      <a:r>
                        <a:rPr lang="es-ES" sz="1900">
                          <a:solidFill>
                            <a:srgbClr val="000000"/>
                          </a:solidFill>
                          <a:latin typeface="Calibri"/>
                          <a:ea typeface="Calibri"/>
                          <a:cs typeface="Calibri"/>
                          <a:sym typeface="Calibri"/>
                        </a:rPr>
                        <a:t> $                                                                         851.351,00 </a:t>
                      </a:r>
                      <a:endParaRPr sz="1900"/>
                    </a:p>
                  </a:txBody>
                  <a:tcPr marL="46100" marR="4610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CE4D6"/>
                    </a:solidFill>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10005"/>
                  </a:ext>
                </a:extLst>
              </a:tr>
              <a:tr h="322400">
                <a:tc vMerge="1">
                  <a:txBody>
                    <a:bodyPr/>
                    <a:lstStyle/>
                    <a:p>
                      <a:endParaRPr lang="es-ES"/>
                    </a:p>
                  </a:txBody>
                  <a:tcPr/>
                </a:tc>
                <a:tc>
                  <a:txBody>
                    <a:bodyPr/>
                    <a:lstStyle/>
                    <a:p>
                      <a:pPr marL="0" marR="0" lvl="0" indent="0" algn="l" rtl="0">
                        <a:spcBef>
                          <a:spcPts val="0"/>
                        </a:spcBef>
                        <a:spcAft>
                          <a:spcPts val="0"/>
                        </a:spcAft>
                        <a:buNone/>
                      </a:pPr>
                      <a:r>
                        <a:rPr lang="es-ES" sz="1900">
                          <a:solidFill>
                            <a:srgbClr val="000000"/>
                          </a:solidFill>
                          <a:latin typeface="Calibri"/>
                          <a:ea typeface="Calibri"/>
                          <a:cs typeface="Calibri"/>
                          <a:sym typeface="Calibri"/>
                        </a:rPr>
                        <a:t>                      0,28 </a:t>
                      </a:r>
                      <a:endParaRPr sz="1900"/>
                    </a:p>
                  </a:txBody>
                  <a:tcPr marL="46100" marR="4610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CE4D6"/>
                    </a:solidFill>
                  </a:tcPr>
                </a:tc>
                <a:tc>
                  <a:txBody>
                    <a:bodyPr/>
                    <a:lstStyle/>
                    <a:p>
                      <a:pPr marL="0" marR="0" lvl="0" indent="0" algn="l" rtl="0">
                        <a:spcBef>
                          <a:spcPts val="0"/>
                        </a:spcBef>
                        <a:spcAft>
                          <a:spcPts val="0"/>
                        </a:spcAft>
                        <a:buNone/>
                      </a:pPr>
                      <a:r>
                        <a:rPr lang="es-ES" sz="1900">
                          <a:solidFill>
                            <a:srgbClr val="000000"/>
                          </a:solidFill>
                          <a:latin typeface="Calibri"/>
                          <a:ea typeface="Calibri"/>
                          <a:cs typeface="Calibri"/>
                          <a:sym typeface="Calibri"/>
                        </a:rPr>
                        <a:t>                       1,48 </a:t>
                      </a:r>
                      <a:endParaRPr sz="1900"/>
                    </a:p>
                  </a:txBody>
                  <a:tcPr marL="46100" marR="4610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CE4D6"/>
                    </a:solidFill>
                  </a:tcPr>
                </a:tc>
                <a:tc>
                  <a:txBody>
                    <a:bodyPr/>
                    <a:lstStyle/>
                    <a:p>
                      <a:pPr marL="0" marR="0" lvl="0" indent="0" algn="l" rtl="0">
                        <a:spcBef>
                          <a:spcPts val="0"/>
                        </a:spcBef>
                        <a:spcAft>
                          <a:spcPts val="0"/>
                        </a:spcAft>
                        <a:buNone/>
                      </a:pPr>
                      <a:r>
                        <a:rPr lang="es-ES" sz="1900">
                          <a:solidFill>
                            <a:srgbClr val="000000"/>
                          </a:solidFill>
                          <a:latin typeface="Calibri"/>
                          <a:ea typeface="Calibri"/>
                          <a:cs typeface="Calibri"/>
                          <a:sym typeface="Calibri"/>
                        </a:rPr>
                        <a:t>                       4,75 </a:t>
                      </a:r>
                      <a:endParaRPr sz="1900"/>
                    </a:p>
                  </a:txBody>
                  <a:tcPr marL="46100" marR="4610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CE4D6"/>
                    </a:solidFill>
                  </a:tcPr>
                </a:tc>
                <a:extLst>
                  <a:ext uri="{0D108BD9-81ED-4DB2-BD59-A6C34878D82A}">
                    <a16:rowId xmlns:a16="http://schemas.microsoft.com/office/drawing/2014/main" val="10006"/>
                  </a:ext>
                </a:extLst>
              </a:tr>
              <a:tr h="322400">
                <a:tc rowSpan="2">
                  <a:txBody>
                    <a:bodyPr/>
                    <a:lstStyle/>
                    <a:p>
                      <a:pPr marL="0" marR="0" lvl="0" indent="0" algn="ctr" rtl="0">
                        <a:spcBef>
                          <a:spcPts val="0"/>
                        </a:spcBef>
                        <a:spcAft>
                          <a:spcPts val="0"/>
                        </a:spcAft>
                        <a:buNone/>
                      </a:pPr>
                      <a:r>
                        <a:rPr lang="es-ES" sz="1900" b="1">
                          <a:solidFill>
                            <a:srgbClr val="000000"/>
                          </a:solidFill>
                          <a:latin typeface="Calibri"/>
                          <a:ea typeface="Calibri"/>
                          <a:cs typeface="Calibri"/>
                          <a:sym typeface="Calibri"/>
                        </a:rPr>
                        <a:t>Línea de pobreza</a:t>
                      </a:r>
                      <a:endParaRPr sz="1900"/>
                    </a:p>
                  </a:txBody>
                  <a:tcPr marL="46100" marR="4610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9D9D9"/>
                    </a:solidFill>
                  </a:tcPr>
                </a:tc>
                <a:tc gridSpan="3">
                  <a:txBody>
                    <a:bodyPr/>
                    <a:lstStyle/>
                    <a:p>
                      <a:pPr marL="0" marR="0" lvl="0" indent="0" algn="ctr" rtl="0">
                        <a:spcBef>
                          <a:spcPts val="0"/>
                        </a:spcBef>
                        <a:spcAft>
                          <a:spcPts val="0"/>
                        </a:spcAft>
                        <a:buNone/>
                      </a:pPr>
                      <a:r>
                        <a:rPr lang="es-ES" sz="1900">
                          <a:solidFill>
                            <a:srgbClr val="000000"/>
                          </a:solidFill>
                          <a:latin typeface="Calibri"/>
                          <a:ea typeface="Calibri"/>
                          <a:cs typeface="Calibri"/>
                          <a:sym typeface="Calibri"/>
                        </a:rPr>
                        <a:t> $                                                                         825.000,00 </a:t>
                      </a:r>
                      <a:endParaRPr sz="1900"/>
                    </a:p>
                  </a:txBody>
                  <a:tcPr marL="46100" marR="4610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9D9D9"/>
                    </a:solidFill>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10007"/>
                  </a:ext>
                </a:extLst>
              </a:tr>
              <a:tr h="322400">
                <a:tc vMerge="1">
                  <a:txBody>
                    <a:bodyPr/>
                    <a:lstStyle/>
                    <a:p>
                      <a:endParaRPr lang="es-ES"/>
                    </a:p>
                  </a:txBody>
                  <a:tcPr/>
                </a:tc>
                <a:tc>
                  <a:txBody>
                    <a:bodyPr/>
                    <a:lstStyle/>
                    <a:p>
                      <a:pPr marL="0" marR="0" lvl="0" indent="0" algn="l" rtl="0">
                        <a:spcBef>
                          <a:spcPts val="0"/>
                        </a:spcBef>
                        <a:spcAft>
                          <a:spcPts val="0"/>
                        </a:spcAft>
                        <a:buNone/>
                      </a:pPr>
                      <a:r>
                        <a:rPr lang="es-ES" sz="1900">
                          <a:solidFill>
                            <a:srgbClr val="000000"/>
                          </a:solidFill>
                          <a:latin typeface="Calibri"/>
                          <a:ea typeface="Calibri"/>
                          <a:cs typeface="Calibri"/>
                          <a:sym typeface="Calibri"/>
                        </a:rPr>
                        <a:t>                      0,28 </a:t>
                      </a:r>
                      <a:endParaRPr sz="1900"/>
                    </a:p>
                  </a:txBody>
                  <a:tcPr marL="46100" marR="4610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9D9D9"/>
                    </a:solidFill>
                  </a:tcPr>
                </a:tc>
                <a:tc>
                  <a:txBody>
                    <a:bodyPr/>
                    <a:lstStyle/>
                    <a:p>
                      <a:pPr marL="0" marR="0" lvl="0" indent="0" algn="l" rtl="0">
                        <a:spcBef>
                          <a:spcPts val="0"/>
                        </a:spcBef>
                        <a:spcAft>
                          <a:spcPts val="0"/>
                        </a:spcAft>
                        <a:buNone/>
                      </a:pPr>
                      <a:r>
                        <a:rPr lang="es-ES" sz="1900">
                          <a:solidFill>
                            <a:srgbClr val="000000"/>
                          </a:solidFill>
                          <a:latin typeface="Calibri"/>
                          <a:ea typeface="Calibri"/>
                          <a:cs typeface="Calibri"/>
                          <a:sym typeface="Calibri"/>
                        </a:rPr>
                        <a:t>                       1,53 </a:t>
                      </a:r>
                      <a:endParaRPr sz="1900"/>
                    </a:p>
                  </a:txBody>
                  <a:tcPr marL="46100" marR="4610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9D9D9"/>
                    </a:solidFill>
                  </a:tcPr>
                </a:tc>
                <a:tc>
                  <a:txBody>
                    <a:bodyPr/>
                    <a:lstStyle/>
                    <a:p>
                      <a:pPr marL="0" marR="0" lvl="0" indent="0" algn="l" rtl="0">
                        <a:spcBef>
                          <a:spcPts val="0"/>
                        </a:spcBef>
                        <a:spcAft>
                          <a:spcPts val="0"/>
                        </a:spcAft>
                        <a:buNone/>
                      </a:pPr>
                      <a:r>
                        <a:rPr lang="es-ES" sz="1900">
                          <a:solidFill>
                            <a:srgbClr val="000000"/>
                          </a:solidFill>
                          <a:latin typeface="Calibri"/>
                          <a:ea typeface="Calibri"/>
                          <a:cs typeface="Calibri"/>
                          <a:sym typeface="Calibri"/>
                        </a:rPr>
                        <a:t>                       4,90 </a:t>
                      </a:r>
                      <a:endParaRPr sz="1900"/>
                    </a:p>
                  </a:txBody>
                  <a:tcPr marL="46100" marR="4610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9D9D9"/>
                    </a:solidFill>
                  </a:tcPr>
                </a:tc>
                <a:extLst>
                  <a:ext uri="{0D108BD9-81ED-4DB2-BD59-A6C34878D82A}">
                    <a16:rowId xmlns:a16="http://schemas.microsoft.com/office/drawing/2014/main" val="10008"/>
                  </a:ext>
                </a:extLst>
              </a:tr>
              <a:tr h="322400">
                <a:tc rowSpan="2">
                  <a:txBody>
                    <a:bodyPr/>
                    <a:lstStyle/>
                    <a:p>
                      <a:pPr marL="0" marR="0" lvl="0" indent="0" algn="ctr" rtl="0">
                        <a:spcBef>
                          <a:spcPts val="0"/>
                        </a:spcBef>
                        <a:spcAft>
                          <a:spcPts val="0"/>
                        </a:spcAft>
                        <a:buNone/>
                      </a:pPr>
                      <a:r>
                        <a:rPr lang="es-ES" sz="1900" b="1">
                          <a:solidFill>
                            <a:srgbClr val="000000"/>
                          </a:solidFill>
                          <a:latin typeface="Calibri"/>
                          <a:ea typeface="Calibri"/>
                          <a:cs typeface="Calibri"/>
                          <a:sym typeface="Calibri"/>
                        </a:rPr>
                        <a:t>Para no ser indigente</a:t>
                      </a:r>
                      <a:endParaRPr sz="1900"/>
                    </a:p>
                  </a:txBody>
                  <a:tcPr marL="46100" marR="4610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EDEDED"/>
                    </a:solidFill>
                  </a:tcPr>
                </a:tc>
                <a:tc gridSpan="3">
                  <a:txBody>
                    <a:bodyPr/>
                    <a:lstStyle/>
                    <a:p>
                      <a:pPr marL="0" marR="0" lvl="0" indent="0" algn="ctr" rtl="0">
                        <a:spcBef>
                          <a:spcPts val="0"/>
                        </a:spcBef>
                        <a:spcAft>
                          <a:spcPts val="0"/>
                        </a:spcAft>
                        <a:buNone/>
                      </a:pPr>
                      <a:r>
                        <a:rPr lang="es-ES" sz="1900">
                          <a:solidFill>
                            <a:srgbClr val="000000"/>
                          </a:solidFill>
                          <a:latin typeface="Calibri"/>
                          <a:ea typeface="Calibri"/>
                          <a:cs typeface="Calibri"/>
                          <a:sym typeface="Calibri"/>
                        </a:rPr>
                        <a:t> $                                                                         467.000,00 </a:t>
                      </a:r>
                      <a:endParaRPr sz="1900"/>
                    </a:p>
                  </a:txBody>
                  <a:tcPr marL="46100" marR="4610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EDEDED"/>
                    </a:solidFill>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10009"/>
                  </a:ext>
                </a:extLst>
              </a:tr>
              <a:tr h="322400">
                <a:tc vMerge="1">
                  <a:txBody>
                    <a:bodyPr/>
                    <a:lstStyle/>
                    <a:p>
                      <a:endParaRPr lang="es-ES"/>
                    </a:p>
                  </a:txBody>
                  <a:tcPr/>
                </a:tc>
                <a:tc>
                  <a:txBody>
                    <a:bodyPr/>
                    <a:lstStyle/>
                    <a:p>
                      <a:pPr marL="0" marR="0" lvl="0" indent="0" algn="l" rtl="0">
                        <a:spcBef>
                          <a:spcPts val="0"/>
                        </a:spcBef>
                        <a:spcAft>
                          <a:spcPts val="0"/>
                        </a:spcAft>
                        <a:buNone/>
                      </a:pPr>
                      <a:r>
                        <a:rPr lang="es-ES" sz="1900">
                          <a:solidFill>
                            <a:srgbClr val="000000"/>
                          </a:solidFill>
                          <a:latin typeface="Calibri"/>
                          <a:ea typeface="Calibri"/>
                          <a:cs typeface="Calibri"/>
                          <a:sym typeface="Calibri"/>
                        </a:rPr>
                        <a:t>                      0,50 </a:t>
                      </a:r>
                      <a:endParaRPr sz="1900"/>
                    </a:p>
                  </a:txBody>
                  <a:tcPr marL="46100" marR="4610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EDEDED"/>
                    </a:solidFill>
                  </a:tcPr>
                </a:tc>
                <a:tc>
                  <a:txBody>
                    <a:bodyPr/>
                    <a:lstStyle/>
                    <a:p>
                      <a:pPr marL="0" marR="0" lvl="0" indent="0" algn="l" rtl="0">
                        <a:spcBef>
                          <a:spcPts val="0"/>
                        </a:spcBef>
                        <a:spcAft>
                          <a:spcPts val="0"/>
                        </a:spcAft>
                        <a:buNone/>
                      </a:pPr>
                      <a:r>
                        <a:rPr lang="es-ES" sz="1900">
                          <a:solidFill>
                            <a:srgbClr val="000000"/>
                          </a:solidFill>
                          <a:latin typeface="Calibri"/>
                          <a:ea typeface="Calibri"/>
                          <a:cs typeface="Calibri"/>
                          <a:sym typeface="Calibri"/>
                        </a:rPr>
                        <a:t>                       2,70 </a:t>
                      </a:r>
                      <a:endParaRPr sz="1900"/>
                    </a:p>
                  </a:txBody>
                  <a:tcPr marL="46100" marR="4610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EDEDED"/>
                    </a:solidFill>
                  </a:tcPr>
                </a:tc>
                <a:tc>
                  <a:txBody>
                    <a:bodyPr/>
                    <a:lstStyle/>
                    <a:p>
                      <a:pPr marL="0" marR="0" lvl="0" indent="0" algn="l" rtl="0">
                        <a:spcBef>
                          <a:spcPts val="0"/>
                        </a:spcBef>
                        <a:spcAft>
                          <a:spcPts val="0"/>
                        </a:spcAft>
                        <a:buNone/>
                      </a:pPr>
                      <a:r>
                        <a:rPr lang="es-ES" sz="1900">
                          <a:solidFill>
                            <a:srgbClr val="000000"/>
                          </a:solidFill>
                          <a:latin typeface="Calibri"/>
                          <a:ea typeface="Calibri"/>
                          <a:cs typeface="Calibri"/>
                          <a:sym typeface="Calibri"/>
                        </a:rPr>
                        <a:t>                       8,66 </a:t>
                      </a:r>
                      <a:endParaRPr sz="1900"/>
                    </a:p>
                  </a:txBody>
                  <a:tcPr marL="46100" marR="4610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EDEDED"/>
                    </a:solidFill>
                  </a:tcPr>
                </a:tc>
                <a:extLst>
                  <a:ext uri="{0D108BD9-81ED-4DB2-BD59-A6C34878D82A}">
                    <a16:rowId xmlns:a16="http://schemas.microsoft.com/office/drawing/2014/main" val="10010"/>
                  </a:ext>
                </a:extLst>
              </a:tr>
              <a:tr h="322400">
                <a:tc gridSpan="4">
                  <a:txBody>
                    <a:bodyPr/>
                    <a:lstStyle/>
                    <a:p>
                      <a:pPr marL="0" marR="0" lvl="0" indent="0" algn="ctr" rtl="0">
                        <a:spcBef>
                          <a:spcPts val="0"/>
                        </a:spcBef>
                        <a:spcAft>
                          <a:spcPts val="0"/>
                        </a:spcAft>
                        <a:buNone/>
                      </a:pPr>
                      <a:r>
                        <a:rPr lang="es-ES" sz="1900" b="1">
                          <a:solidFill>
                            <a:srgbClr val="000000"/>
                          </a:solidFill>
                          <a:latin typeface="Calibri"/>
                          <a:ea typeface="Calibri"/>
                          <a:cs typeface="Calibri"/>
                          <a:sym typeface="Calibri"/>
                        </a:rPr>
                        <a:t>Dólar blue venta de mayo 2024 ($1280)</a:t>
                      </a:r>
                      <a:endParaRPr sz="1900"/>
                    </a:p>
                  </a:txBody>
                  <a:tcPr marL="46100" marR="4610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00B050"/>
                    </a:solidFill>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10011"/>
                  </a:ext>
                </a:extLst>
              </a:tr>
              <a:tr h="322400">
                <a:tc>
                  <a:txBody>
                    <a:bodyPr/>
                    <a:lstStyle/>
                    <a:p>
                      <a:pPr marL="0" marR="0" lvl="0" indent="0" algn="l" rtl="0">
                        <a:spcBef>
                          <a:spcPts val="0"/>
                        </a:spcBef>
                        <a:spcAft>
                          <a:spcPts val="0"/>
                        </a:spcAft>
                        <a:buNone/>
                      </a:pPr>
                      <a:r>
                        <a:rPr lang="es-ES" sz="1900" b="1">
                          <a:solidFill>
                            <a:srgbClr val="000000"/>
                          </a:solidFill>
                          <a:latin typeface="Calibri"/>
                          <a:ea typeface="Calibri"/>
                          <a:cs typeface="Calibri"/>
                          <a:sym typeface="Calibri"/>
                        </a:rPr>
                        <a:t>Salarios</a:t>
                      </a:r>
                      <a:endParaRPr sz="1900"/>
                    </a:p>
                  </a:txBody>
                  <a:tcPr marL="46100" marR="4610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00B050"/>
                    </a:solidFill>
                  </a:tcPr>
                </a:tc>
                <a:tc>
                  <a:txBody>
                    <a:bodyPr/>
                    <a:lstStyle/>
                    <a:p>
                      <a:pPr marL="0" marR="0" lvl="0" indent="0" algn="l" rtl="0">
                        <a:spcBef>
                          <a:spcPts val="0"/>
                        </a:spcBef>
                        <a:spcAft>
                          <a:spcPts val="0"/>
                        </a:spcAft>
                        <a:buNone/>
                      </a:pPr>
                      <a:r>
                        <a:rPr lang="es-ES" sz="1900">
                          <a:solidFill>
                            <a:srgbClr val="000000"/>
                          </a:solidFill>
                          <a:latin typeface="Calibri"/>
                          <a:ea typeface="Calibri"/>
                          <a:cs typeface="Calibri"/>
                          <a:sym typeface="Calibri"/>
                        </a:rPr>
                        <a:t> $              183,06 </a:t>
                      </a:r>
                      <a:endParaRPr sz="1900"/>
                    </a:p>
                  </a:txBody>
                  <a:tcPr marL="46100" marR="4610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00B050"/>
                    </a:solidFill>
                  </a:tcPr>
                </a:tc>
                <a:tc>
                  <a:txBody>
                    <a:bodyPr/>
                    <a:lstStyle/>
                    <a:p>
                      <a:pPr marL="0" marR="0" lvl="0" indent="0" algn="l" rtl="0">
                        <a:spcBef>
                          <a:spcPts val="0"/>
                        </a:spcBef>
                        <a:spcAft>
                          <a:spcPts val="0"/>
                        </a:spcAft>
                        <a:buNone/>
                      </a:pPr>
                      <a:r>
                        <a:rPr lang="es-ES" sz="1900">
                          <a:solidFill>
                            <a:srgbClr val="000000"/>
                          </a:solidFill>
                          <a:latin typeface="Calibri"/>
                          <a:ea typeface="Calibri"/>
                          <a:cs typeface="Calibri"/>
                          <a:sym typeface="Calibri"/>
                        </a:rPr>
                        <a:t> $               984,38 </a:t>
                      </a:r>
                      <a:endParaRPr sz="1900"/>
                    </a:p>
                  </a:txBody>
                  <a:tcPr marL="46100" marR="4610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00B050"/>
                    </a:solidFill>
                  </a:tcPr>
                </a:tc>
                <a:tc>
                  <a:txBody>
                    <a:bodyPr/>
                    <a:lstStyle/>
                    <a:p>
                      <a:pPr marL="0" marR="0" lvl="0" indent="0" algn="l" rtl="0">
                        <a:spcBef>
                          <a:spcPts val="0"/>
                        </a:spcBef>
                        <a:spcAft>
                          <a:spcPts val="0"/>
                        </a:spcAft>
                        <a:buNone/>
                      </a:pPr>
                      <a:r>
                        <a:rPr lang="es-ES" sz="1900">
                          <a:solidFill>
                            <a:srgbClr val="000000"/>
                          </a:solidFill>
                          <a:latin typeface="Calibri"/>
                          <a:ea typeface="Calibri"/>
                          <a:cs typeface="Calibri"/>
                          <a:sym typeface="Calibri"/>
                        </a:rPr>
                        <a:t> $           3.161,03 </a:t>
                      </a:r>
                      <a:endParaRPr sz="1900"/>
                    </a:p>
                  </a:txBody>
                  <a:tcPr marL="46100" marR="4610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00B050"/>
                    </a:solidFill>
                  </a:tcPr>
                </a:tc>
                <a:extLst>
                  <a:ext uri="{0D108BD9-81ED-4DB2-BD59-A6C34878D82A}">
                    <a16:rowId xmlns:a16="http://schemas.microsoft.com/office/drawing/2014/main" val="10012"/>
                  </a:ext>
                </a:extLst>
              </a:tr>
              <a:tr h="322400">
                <a:tc>
                  <a:txBody>
                    <a:bodyPr/>
                    <a:lstStyle/>
                    <a:p>
                      <a:pPr marL="0" marR="0" lvl="0" indent="0" algn="l" rtl="0">
                        <a:spcBef>
                          <a:spcPts val="0"/>
                        </a:spcBef>
                        <a:spcAft>
                          <a:spcPts val="0"/>
                        </a:spcAft>
                        <a:buNone/>
                      </a:pPr>
                      <a:r>
                        <a:rPr lang="es-ES" sz="1900" b="1">
                          <a:solidFill>
                            <a:srgbClr val="000000"/>
                          </a:solidFill>
                          <a:latin typeface="Calibri"/>
                          <a:ea typeface="Calibri"/>
                          <a:cs typeface="Calibri"/>
                          <a:sym typeface="Calibri"/>
                        </a:rPr>
                        <a:t>Canasta básica (4 personas)</a:t>
                      </a:r>
                      <a:endParaRPr sz="1900"/>
                    </a:p>
                  </a:txBody>
                  <a:tcPr marL="46100" marR="4610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6DCE4"/>
                    </a:solidFill>
                  </a:tcPr>
                </a:tc>
                <a:tc gridSpan="3">
                  <a:txBody>
                    <a:bodyPr/>
                    <a:lstStyle/>
                    <a:p>
                      <a:pPr marL="0" marR="0" lvl="0" indent="0" algn="ctr" rtl="0">
                        <a:spcBef>
                          <a:spcPts val="0"/>
                        </a:spcBef>
                        <a:spcAft>
                          <a:spcPts val="0"/>
                        </a:spcAft>
                        <a:buNone/>
                      </a:pPr>
                      <a:r>
                        <a:rPr lang="es-ES" sz="1900">
                          <a:solidFill>
                            <a:srgbClr val="000000"/>
                          </a:solidFill>
                          <a:latin typeface="Calibri"/>
                          <a:ea typeface="Calibri"/>
                          <a:cs typeface="Calibri"/>
                          <a:sym typeface="Calibri"/>
                        </a:rPr>
                        <a:t> $                                                                                  240,69 </a:t>
                      </a:r>
                      <a:endParaRPr sz="1900"/>
                    </a:p>
                  </a:txBody>
                  <a:tcPr marL="46100" marR="4610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6DCE4"/>
                    </a:solidFill>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10013"/>
                  </a:ext>
                </a:extLst>
              </a:tr>
              <a:tr h="322400">
                <a:tc>
                  <a:txBody>
                    <a:bodyPr/>
                    <a:lstStyle/>
                    <a:p>
                      <a:pPr marL="0" marR="0" lvl="0" indent="0" algn="l" rtl="0">
                        <a:spcBef>
                          <a:spcPts val="0"/>
                        </a:spcBef>
                        <a:spcAft>
                          <a:spcPts val="0"/>
                        </a:spcAft>
                        <a:buNone/>
                      </a:pPr>
                      <a:r>
                        <a:rPr lang="es-ES" sz="1900" b="1">
                          <a:solidFill>
                            <a:srgbClr val="000000"/>
                          </a:solidFill>
                          <a:latin typeface="Calibri"/>
                          <a:ea typeface="Calibri"/>
                          <a:cs typeface="Calibri"/>
                          <a:sym typeface="Calibri"/>
                        </a:rPr>
                        <a:t>Canasta básica total</a:t>
                      </a:r>
                      <a:endParaRPr sz="1900"/>
                    </a:p>
                  </a:txBody>
                  <a:tcPr marL="46100" marR="4610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CE4D6"/>
                    </a:solidFill>
                  </a:tcPr>
                </a:tc>
                <a:tc gridSpan="3">
                  <a:txBody>
                    <a:bodyPr/>
                    <a:lstStyle/>
                    <a:p>
                      <a:pPr marL="0" marR="0" lvl="0" indent="0" algn="ctr" rtl="0">
                        <a:spcBef>
                          <a:spcPts val="0"/>
                        </a:spcBef>
                        <a:spcAft>
                          <a:spcPts val="0"/>
                        </a:spcAft>
                        <a:buNone/>
                      </a:pPr>
                      <a:r>
                        <a:rPr lang="es-ES" sz="1900">
                          <a:solidFill>
                            <a:srgbClr val="000000"/>
                          </a:solidFill>
                          <a:latin typeface="Calibri"/>
                          <a:ea typeface="Calibri"/>
                          <a:cs typeface="Calibri"/>
                          <a:sym typeface="Calibri"/>
                        </a:rPr>
                        <a:t> $                                                                                  665,12 </a:t>
                      </a:r>
                      <a:endParaRPr sz="1900"/>
                    </a:p>
                  </a:txBody>
                  <a:tcPr marL="46100" marR="4610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CE4D6"/>
                    </a:solidFill>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10014"/>
                  </a:ext>
                </a:extLst>
              </a:tr>
              <a:tr h="322400">
                <a:tc>
                  <a:txBody>
                    <a:bodyPr/>
                    <a:lstStyle/>
                    <a:p>
                      <a:pPr marL="0" marR="0" lvl="0" indent="0" algn="l" rtl="0">
                        <a:spcBef>
                          <a:spcPts val="0"/>
                        </a:spcBef>
                        <a:spcAft>
                          <a:spcPts val="0"/>
                        </a:spcAft>
                        <a:buNone/>
                      </a:pPr>
                      <a:r>
                        <a:rPr lang="es-ES" sz="1900" b="1">
                          <a:solidFill>
                            <a:srgbClr val="000000"/>
                          </a:solidFill>
                          <a:latin typeface="Calibri"/>
                          <a:ea typeface="Calibri"/>
                          <a:cs typeface="Calibri"/>
                          <a:sym typeface="Calibri"/>
                        </a:rPr>
                        <a:t>Línea de pobreza</a:t>
                      </a:r>
                      <a:endParaRPr sz="1900"/>
                    </a:p>
                  </a:txBody>
                  <a:tcPr marL="46100" marR="4610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9D9D9"/>
                    </a:solidFill>
                  </a:tcPr>
                </a:tc>
                <a:tc gridSpan="3">
                  <a:txBody>
                    <a:bodyPr/>
                    <a:lstStyle/>
                    <a:p>
                      <a:pPr marL="0" marR="0" lvl="0" indent="0" algn="ctr" rtl="0">
                        <a:spcBef>
                          <a:spcPts val="0"/>
                        </a:spcBef>
                        <a:spcAft>
                          <a:spcPts val="0"/>
                        </a:spcAft>
                        <a:buNone/>
                      </a:pPr>
                      <a:r>
                        <a:rPr lang="es-ES" sz="1900">
                          <a:solidFill>
                            <a:srgbClr val="000000"/>
                          </a:solidFill>
                          <a:latin typeface="Calibri"/>
                          <a:ea typeface="Calibri"/>
                          <a:cs typeface="Calibri"/>
                          <a:sym typeface="Calibri"/>
                        </a:rPr>
                        <a:t> $                                                                                  644,53 </a:t>
                      </a:r>
                      <a:endParaRPr sz="1900"/>
                    </a:p>
                  </a:txBody>
                  <a:tcPr marL="46100" marR="4610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9D9D9"/>
                    </a:solidFill>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10015"/>
                  </a:ext>
                </a:extLst>
              </a:tr>
              <a:tr h="322400">
                <a:tc>
                  <a:txBody>
                    <a:bodyPr/>
                    <a:lstStyle/>
                    <a:p>
                      <a:pPr marL="0" marR="0" lvl="0" indent="0" algn="l" rtl="0">
                        <a:spcBef>
                          <a:spcPts val="0"/>
                        </a:spcBef>
                        <a:spcAft>
                          <a:spcPts val="0"/>
                        </a:spcAft>
                        <a:buNone/>
                      </a:pPr>
                      <a:r>
                        <a:rPr lang="es-ES" sz="1900" b="1">
                          <a:solidFill>
                            <a:srgbClr val="000000"/>
                          </a:solidFill>
                          <a:latin typeface="Calibri"/>
                          <a:ea typeface="Calibri"/>
                          <a:cs typeface="Calibri"/>
                          <a:sym typeface="Calibri"/>
                        </a:rPr>
                        <a:t>Para no ser indigente</a:t>
                      </a:r>
                      <a:endParaRPr sz="1900"/>
                    </a:p>
                  </a:txBody>
                  <a:tcPr marL="46100" marR="4610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EDEDED"/>
                    </a:solidFill>
                  </a:tcPr>
                </a:tc>
                <a:tc gridSpan="3">
                  <a:txBody>
                    <a:bodyPr/>
                    <a:lstStyle/>
                    <a:p>
                      <a:pPr marL="0" marR="0" lvl="0" indent="0" algn="ctr" rtl="0">
                        <a:spcBef>
                          <a:spcPts val="0"/>
                        </a:spcBef>
                        <a:spcAft>
                          <a:spcPts val="0"/>
                        </a:spcAft>
                        <a:buNone/>
                      </a:pPr>
                      <a:r>
                        <a:rPr lang="es-ES" sz="1900">
                          <a:solidFill>
                            <a:srgbClr val="000000"/>
                          </a:solidFill>
                          <a:latin typeface="Calibri"/>
                          <a:ea typeface="Calibri"/>
                          <a:cs typeface="Calibri"/>
                          <a:sym typeface="Calibri"/>
                        </a:rPr>
                        <a:t> $                                                                                  364,84 </a:t>
                      </a:r>
                      <a:endParaRPr sz="1900"/>
                    </a:p>
                  </a:txBody>
                  <a:tcPr marL="46100" marR="4610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EDEDED"/>
                    </a:solidFill>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10016"/>
                  </a:ext>
                </a:extLst>
              </a:tr>
            </a:tbl>
          </a:graphicData>
        </a:graphic>
      </p:graphicFrame>
    </p:spTree>
  </p:cSld>
  <p:clrMapOvr>
    <a:masterClrMapping/>
  </p:clrMapOvr>
  <p:transition spd="slow">
    <p:push/>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93"/>
        <p:cNvGrpSpPr/>
        <p:nvPr/>
      </p:nvGrpSpPr>
      <p:grpSpPr>
        <a:xfrm>
          <a:off x="0" y="0"/>
          <a:ext cx="0" cy="0"/>
          <a:chOff x="0" y="0"/>
          <a:chExt cx="0" cy="0"/>
        </a:xfrm>
      </p:grpSpPr>
      <p:sp>
        <p:nvSpPr>
          <p:cNvPr id="294" name="Google Shape;294;p27"/>
          <p:cNvSpPr/>
          <p:nvPr/>
        </p:nvSpPr>
        <p:spPr>
          <a:xfrm rot="-5400000">
            <a:off x="800100" y="1491343"/>
            <a:ext cx="3333749" cy="3499103"/>
          </a:xfrm>
          <a:prstGeom prst="downArrow">
            <a:avLst>
              <a:gd name="adj1" fmla="val 100000"/>
              <a:gd name="adj2" fmla="val 15788"/>
            </a:avLst>
          </a:prstGeom>
          <a:solidFill>
            <a:srgbClr val="4040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95" name="Google Shape;295;p27"/>
          <p:cNvSpPr txBox="1">
            <a:spLocks noGrp="1"/>
          </p:cNvSpPr>
          <p:nvPr>
            <p:ph type="title"/>
          </p:nvPr>
        </p:nvSpPr>
        <p:spPr>
          <a:xfrm>
            <a:off x="1028700" y="1967266"/>
            <a:ext cx="2628900" cy="2547257"/>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3300"/>
              <a:buFont typeface="Play"/>
              <a:buNone/>
            </a:pPr>
            <a:r>
              <a:rPr lang="es-ES" sz="3300" b="1">
                <a:solidFill>
                  <a:srgbClr val="FFFFFF"/>
                </a:solidFill>
                <a:latin typeface="Play"/>
                <a:ea typeface="Play"/>
                <a:cs typeface="Play"/>
                <a:sym typeface="Play"/>
              </a:rPr>
              <a:t>Que ocasionó todos estos derechos en la argentina</a:t>
            </a:r>
            <a:endParaRPr sz="3300">
              <a:solidFill>
                <a:srgbClr val="FFFFFF"/>
              </a:solidFill>
              <a:latin typeface="Play"/>
              <a:ea typeface="Play"/>
              <a:cs typeface="Play"/>
              <a:sym typeface="Play"/>
            </a:endParaRPr>
          </a:p>
        </p:txBody>
      </p:sp>
      <p:pic>
        <p:nvPicPr>
          <p:cNvPr id="296" name="Google Shape;296;p27" descr="Icono de Signo de pregunta contorno dibujado a mano"/>
          <p:cNvPicPr preferRelativeResize="0"/>
          <p:nvPr/>
        </p:nvPicPr>
        <p:blipFill rotWithShape="1">
          <a:blip r:embed="rId3">
            <a:alphaModFix/>
          </a:blip>
          <a:srcRect/>
          <a:stretch/>
        </p:blipFill>
        <p:spPr>
          <a:xfrm>
            <a:off x="5383296" y="643466"/>
            <a:ext cx="5568739" cy="5568739"/>
          </a:xfrm>
          <a:prstGeom prst="rect">
            <a:avLst/>
          </a:prstGeom>
          <a:noFill/>
          <a:ln>
            <a:noFill/>
          </a:ln>
        </p:spPr>
      </p:pic>
    </p:spTree>
  </p:cSld>
  <p:clrMapOvr>
    <a:masterClrMapping/>
  </p:clrMapOvr>
  <p:transition spd="slow">
    <p:push dir="u"/>
  </p:transition>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10"/>
        <p:cNvGrpSpPr/>
        <p:nvPr/>
      </p:nvGrpSpPr>
      <p:grpSpPr>
        <a:xfrm>
          <a:off x="0" y="0"/>
          <a:ext cx="0" cy="0"/>
          <a:chOff x="0" y="0"/>
          <a:chExt cx="0" cy="0"/>
        </a:xfrm>
      </p:grpSpPr>
      <p:pic>
        <p:nvPicPr>
          <p:cNvPr id="311" name="Google Shape;311;p29"/>
          <p:cNvPicPr preferRelativeResize="0">
            <a:picLocks noGrp="1"/>
          </p:cNvPicPr>
          <p:nvPr>
            <p:ph type="body" idx="1"/>
          </p:nvPr>
        </p:nvPicPr>
        <p:blipFill rotWithShape="1">
          <a:blip r:embed="rId3">
            <a:alphaModFix/>
          </a:blip>
          <a:srcRect t="10763" r="-2" b="-1"/>
          <a:stretch/>
        </p:blipFill>
        <p:spPr>
          <a:xfrm>
            <a:off x="-6588" y="10"/>
            <a:ext cx="12198588" cy="6857990"/>
          </a:xfrm>
          <a:prstGeom prst="rect">
            <a:avLst/>
          </a:prstGeom>
          <a:noFill/>
          <a:ln>
            <a:noFill/>
          </a:ln>
        </p:spPr>
      </p:pic>
      <p:sp>
        <p:nvSpPr>
          <p:cNvPr id="312" name="Google Shape;312;p29"/>
          <p:cNvSpPr txBox="1"/>
          <p:nvPr/>
        </p:nvSpPr>
        <p:spPr>
          <a:xfrm>
            <a:off x="1023937" y="404812"/>
            <a:ext cx="10320067"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4000">
                <a:solidFill>
                  <a:schemeClr val="lt1"/>
                </a:solidFill>
                <a:latin typeface="Play"/>
                <a:ea typeface="Play"/>
                <a:cs typeface="Play"/>
                <a:sym typeface="Play"/>
              </a:rPr>
              <a:t>Huelga de la FORA en La Forestal (1906)</a:t>
            </a:r>
            <a:endParaRPr sz="4000">
              <a:solidFill>
                <a:schemeClr val="lt1"/>
              </a:solidFill>
              <a:latin typeface="Play"/>
              <a:ea typeface="Play"/>
              <a:cs typeface="Play"/>
              <a:sym typeface="Play"/>
            </a:endParaRPr>
          </a:p>
        </p:txBody>
      </p:sp>
    </p:spTree>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00"/>
        <p:cNvGrpSpPr/>
        <p:nvPr/>
      </p:nvGrpSpPr>
      <p:grpSpPr>
        <a:xfrm>
          <a:off x="0" y="0"/>
          <a:ext cx="0" cy="0"/>
          <a:chOff x="0" y="0"/>
          <a:chExt cx="0" cy="0"/>
        </a:xfrm>
      </p:grpSpPr>
      <p:pic>
        <p:nvPicPr>
          <p:cNvPr id="301" name="Google Shape;301;p28" descr="Exposición múltiple de fachadas de edificios"/>
          <p:cNvPicPr preferRelativeResize="0"/>
          <p:nvPr/>
        </p:nvPicPr>
        <p:blipFill rotWithShape="1">
          <a:blip r:embed="rId3">
            <a:alphaModFix/>
          </a:blip>
          <a:srcRect t="7162" r="-2" b="8441"/>
          <a:stretch/>
        </p:blipFill>
        <p:spPr>
          <a:xfrm>
            <a:off x="3" y="10"/>
            <a:ext cx="12191997" cy="6857988"/>
          </a:xfrm>
          <a:prstGeom prst="rect">
            <a:avLst/>
          </a:prstGeom>
          <a:noFill/>
          <a:ln>
            <a:noFill/>
          </a:ln>
        </p:spPr>
      </p:pic>
      <p:sp>
        <p:nvSpPr>
          <p:cNvPr id="302" name="Google Shape;302;p28"/>
          <p:cNvSpPr/>
          <p:nvPr/>
        </p:nvSpPr>
        <p:spPr>
          <a:xfrm rot="5400000">
            <a:off x="-2235031" y="2213145"/>
            <a:ext cx="6864098" cy="2425614"/>
          </a:xfrm>
          <a:prstGeom prst="rect">
            <a:avLst/>
          </a:prstGeom>
          <a:gradFill>
            <a:gsLst>
              <a:gs pos="0">
                <a:srgbClr val="D86CCC"/>
              </a:gs>
              <a:gs pos="43000">
                <a:srgbClr val="E97132">
                  <a:alpha val="0"/>
                </a:srgbClr>
              </a:gs>
              <a:gs pos="100000">
                <a:srgbClr val="E97132">
                  <a:alpha val="0"/>
                </a:srgbClr>
              </a:gs>
            </a:gsLst>
            <a:lin ang="15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03" name="Google Shape;303;p28"/>
          <p:cNvSpPr/>
          <p:nvPr/>
        </p:nvSpPr>
        <p:spPr>
          <a:xfrm rot="10800000">
            <a:off x="5162550" y="0"/>
            <a:ext cx="7048678" cy="6858000"/>
          </a:xfrm>
          <a:prstGeom prst="rect">
            <a:avLst/>
          </a:prstGeom>
          <a:gradFill>
            <a:gsLst>
              <a:gs pos="0">
                <a:srgbClr val="000000">
                  <a:alpha val="58823"/>
                </a:srgbClr>
              </a:gs>
              <a:gs pos="19000">
                <a:srgbClr val="000000">
                  <a:alpha val="58823"/>
                </a:srgbClr>
              </a:gs>
              <a:gs pos="100000">
                <a:srgbClr val="000000">
                  <a:alpha val="0"/>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04" name="Google Shape;304;p28"/>
          <p:cNvSpPr/>
          <p:nvPr/>
        </p:nvSpPr>
        <p:spPr>
          <a:xfrm rot="5400000">
            <a:off x="5286455" y="-60677"/>
            <a:ext cx="6864096" cy="6985449"/>
          </a:xfrm>
          <a:prstGeom prst="rect">
            <a:avLst/>
          </a:prstGeom>
          <a:gradFill>
            <a:gsLst>
              <a:gs pos="0">
                <a:schemeClr val="accent5"/>
              </a:gs>
              <a:gs pos="64000">
                <a:srgbClr val="E97132">
                  <a:alpha val="0"/>
                </a:srgbClr>
              </a:gs>
              <a:gs pos="100000">
                <a:srgbClr val="E97132">
                  <a:alpha val="0"/>
                </a:srgbClr>
              </a:gs>
            </a:gsLst>
            <a:lin ang="7200000" scaled="0"/>
          </a:grad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lt1"/>
              </a:solidFill>
              <a:latin typeface="Arial"/>
              <a:ea typeface="Arial"/>
              <a:cs typeface="Arial"/>
              <a:sym typeface="Arial"/>
            </a:endParaRPr>
          </a:p>
        </p:txBody>
      </p:sp>
      <p:sp>
        <p:nvSpPr>
          <p:cNvPr id="305" name="Google Shape;305;p28"/>
          <p:cNvSpPr/>
          <p:nvPr/>
        </p:nvSpPr>
        <p:spPr>
          <a:xfrm rot="-5400000" flipH="1">
            <a:off x="4695591" y="-647892"/>
            <a:ext cx="2839273" cy="12192001"/>
          </a:xfrm>
          <a:prstGeom prst="rect">
            <a:avLst/>
          </a:prstGeom>
          <a:gradFill>
            <a:gsLst>
              <a:gs pos="0">
                <a:schemeClr val="accent2"/>
              </a:gs>
              <a:gs pos="52999">
                <a:srgbClr val="A02B93">
                  <a:alpha val="0"/>
                </a:srgbClr>
              </a:gs>
              <a:gs pos="100000">
                <a:srgbClr val="A02B93">
                  <a:alpha val="0"/>
                </a:srgbClr>
              </a:gs>
            </a:gsLst>
            <a:lin ang="11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06" name="Google Shape;306;p28"/>
          <p:cNvSpPr txBox="1">
            <a:spLocks noGrp="1"/>
          </p:cNvSpPr>
          <p:nvPr>
            <p:ph type="title"/>
          </p:nvPr>
        </p:nvSpPr>
        <p:spPr>
          <a:xfrm>
            <a:off x="6078072" y="2138209"/>
            <a:ext cx="5366216" cy="2839273"/>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FFFFFF"/>
              </a:buClr>
              <a:buSzPts val="3600"/>
              <a:buFont typeface="Play"/>
              <a:buNone/>
            </a:pPr>
            <a:r>
              <a:rPr lang="es-ES" sz="3600" b="1">
                <a:solidFill>
                  <a:srgbClr val="FFFFFF"/>
                </a:solidFill>
              </a:rPr>
              <a:t>Huelga de Inquilinos (1907)</a:t>
            </a:r>
            <a:endParaRPr lang="es-ES"/>
          </a:p>
        </p:txBody>
      </p:sp>
    </p:spTree>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27"/>
        <p:cNvGrpSpPr/>
        <p:nvPr/>
      </p:nvGrpSpPr>
      <p:grpSpPr>
        <a:xfrm>
          <a:off x="0" y="0"/>
          <a:ext cx="0" cy="0"/>
          <a:chOff x="0" y="0"/>
          <a:chExt cx="0" cy="0"/>
        </a:xfrm>
      </p:grpSpPr>
      <p:sp>
        <p:nvSpPr>
          <p:cNvPr id="328" name="Google Shape;328;p31"/>
          <p:cNvSpPr/>
          <p:nvPr/>
        </p:nvSpPr>
        <p:spPr>
          <a:xfrm>
            <a:off x="0" y="0"/>
            <a:ext cx="12192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29" name="Google Shape;329;p31"/>
          <p:cNvSpPr/>
          <p:nvPr/>
        </p:nvSpPr>
        <p:spPr>
          <a:xfrm>
            <a:off x="0" y="0"/>
            <a:ext cx="2013557" cy="6858000"/>
          </a:xfrm>
          <a:prstGeom prst="rect">
            <a:avLst/>
          </a:prstGeom>
          <a:solidFill>
            <a:srgbClr val="38537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30" name="Google Shape;330;p31"/>
          <p:cNvSpPr>
            <a:spLocks noGrp="1"/>
          </p:cNvSpPr>
          <p:nvPr>
            <p:ph type="title"/>
          </p:nvPr>
        </p:nvSpPr>
        <p:spPr>
          <a:xfrm>
            <a:off x="395665" y="2002477"/>
            <a:ext cx="3111787" cy="2781161"/>
          </a:xfrm>
          <a:prstGeom prst="ellipse">
            <a:avLst/>
          </a:prstGeom>
          <a:solidFill>
            <a:srgbClr val="262626"/>
          </a:solidFill>
          <a:ln w="174625" cap="flat" cmpd="thinThick">
            <a:solidFill>
              <a:srgbClr val="262626"/>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2400"/>
              <a:buFont typeface="Play"/>
              <a:buNone/>
            </a:pPr>
            <a:r>
              <a:rPr lang="es-ES" sz="2400" b="1">
                <a:solidFill>
                  <a:srgbClr val="FFFFFF"/>
                </a:solidFill>
                <a:latin typeface="Play"/>
                <a:ea typeface="Play"/>
                <a:cs typeface="Play"/>
                <a:sym typeface="Play"/>
              </a:rPr>
              <a:t>Huelga de los trabajadores portuarios (1916)</a:t>
            </a:r>
            <a:endParaRPr/>
          </a:p>
        </p:txBody>
      </p:sp>
      <p:pic>
        <p:nvPicPr>
          <p:cNvPr id="331" name="Google Shape;331;p31" descr="Huelga de trabajadores portuarios paraliza las exportaciones de Sudáfrica"/>
          <p:cNvPicPr preferRelativeResize="0">
            <a:picLocks noGrp="1"/>
          </p:cNvPicPr>
          <p:nvPr>
            <p:ph type="body" idx="1"/>
          </p:nvPr>
        </p:nvPicPr>
        <p:blipFill rotWithShape="1">
          <a:blip r:embed="rId3">
            <a:alphaModFix/>
          </a:blip>
          <a:srcRect/>
          <a:stretch/>
        </p:blipFill>
        <p:spPr>
          <a:xfrm>
            <a:off x="4038600" y="1263384"/>
            <a:ext cx="7188199" cy="4327842"/>
          </a:xfrm>
          <a:prstGeom prst="rect">
            <a:avLst/>
          </a:prstGeom>
          <a:noFill/>
          <a:ln>
            <a:noFill/>
          </a:ln>
        </p:spPr>
      </p:pic>
    </p:spTree>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16"/>
        <p:cNvGrpSpPr/>
        <p:nvPr/>
      </p:nvGrpSpPr>
      <p:grpSpPr>
        <a:xfrm>
          <a:off x="0" y="0"/>
          <a:ext cx="0" cy="0"/>
          <a:chOff x="0" y="0"/>
          <a:chExt cx="0" cy="0"/>
        </a:xfrm>
      </p:grpSpPr>
      <p:sp>
        <p:nvSpPr>
          <p:cNvPr id="317" name="Google Shape;317;p30"/>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18" name="Google Shape;318;p30"/>
          <p:cNvSpPr/>
          <p:nvPr/>
        </p:nvSpPr>
        <p:spPr>
          <a:xfrm rot="5400000" flipH="1">
            <a:off x="-1417539" y="1417538"/>
            <a:ext cx="6875818" cy="4040744"/>
          </a:xfrm>
          <a:prstGeom prst="rect">
            <a:avLst/>
          </a:prstGeom>
          <a:gradFill>
            <a:gsLst>
              <a:gs pos="0">
                <a:srgbClr val="000000"/>
              </a:gs>
              <a:gs pos="100000">
                <a:srgbClr val="0F4861"/>
              </a:gs>
            </a:gsLst>
            <a:lin ang="18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19" name="Google Shape;319;p30"/>
          <p:cNvSpPr/>
          <p:nvPr/>
        </p:nvSpPr>
        <p:spPr>
          <a:xfrm rot="-5400000">
            <a:off x="-158495" y="2660473"/>
            <a:ext cx="4355594" cy="4038603"/>
          </a:xfrm>
          <a:prstGeom prst="rect">
            <a:avLst/>
          </a:prstGeom>
          <a:gradFill>
            <a:gsLst>
              <a:gs pos="0">
                <a:srgbClr val="156082">
                  <a:alpha val="49803"/>
                </a:srgbClr>
              </a:gs>
              <a:gs pos="100000">
                <a:srgbClr val="0A3041">
                  <a:alpha val="0"/>
                </a:srgbClr>
              </a:gs>
            </a:gsLst>
            <a:lin ang="11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20" name="Google Shape;320;p30"/>
          <p:cNvSpPr/>
          <p:nvPr/>
        </p:nvSpPr>
        <p:spPr>
          <a:xfrm rot="-5400000" flipH="1">
            <a:off x="-1180882" y="1638085"/>
            <a:ext cx="6857572" cy="3581401"/>
          </a:xfrm>
          <a:prstGeom prst="rect">
            <a:avLst/>
          </a:prstGeom>
          <a:gradFill>
            <a:gsLst>
              <a:gs pos="0">
                <a:srgbClr val="000000">
                  <a:alpha val="58823"/>
                </a:srgbClr>
              </a:gs>
              <a:gs pos="69000">
                <a:srgbClr val="156082">
                  <a:alpha val="0"/>
                </a:srgbClr>
              </a:gs>
              <a:gs pos="100000">
                <a:srgbClr val="156082">
                  <a:alpha val="0"/>
                </a:srgbClr>
              </a:gs>
            </a:gsLst>
            <a:lin ang="13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21" name="Google Shape;321;p30"/>
          <p:cNvSpPr/>
          <p:nvPr/>
        </p:nvSpPr>
        <p:spPr>
          <a:xfrm rot="6097846">
            <a:off x="-747355" y="1201312"/>
            <a:ext cx="4808302" cy="4088666"/>
          </a:xfrm>
          <a:custGeom>
            <a:avLst/>
            <a:gdLst/>
            <a:ahLst/>
            <a:cxnLst/>
            <a:rect l="l" t="t" r="r" b="b"/>
            <a:pathLst>
              <a:path w="4808302" h="4088666" extrusionOk="0">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0">
                <a:srgbClr val="43AFE2">
                  <a:alpha val="0"/>
                </a:srgbClr>
              </a:gs>
              <a:gs pos="39000">
                <a:srgbClr val="43AFE2">
                  <a:alpha val="0"/>
                </a:srgbClr>
              </a:gs>
              <a:gs pos="100000">
                <a:srgbClr val="0F4861">
                  <a:alpha val="25882"/>
                </a:srgbClr>
              </a:gs>
            </a:gsLst>
            <a:lin ang="18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22" name="Google Shape;322;p30"/>
          <p:cNvSpPr txBox="1">
            <a:spLocks noGrp="1"/>
          </p:cNvSpPr>
          <p:nvPr>
            <p:ph type="title"/>
          </p:nvPr>
        </p:nvSpPr>
        <p:spPr>
          <a:xfrm>
            <a:off x="660041" y="2767106"/>
            <a:ext cx="2880828" cy="3071906"/>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FFFFFF"/>
              </a:buClr>
              <a:buSzPts val="2200"/>
              <a:buFont typeface="Play"/>
              <a:buNone/>
            </a:pPr>
            <a:r>
              <a:rPr lang="es-ES" sz="2200" b="1">
                <a:solidFill>
                  <a:srgbClr val="FFFFFF"/>
                </a:solidFill>
                <a:latin typeface="Play"/>
                <a:ea typeface="Play"/>
                <a:cs typeface="Play"/>
                <a:sym typeface="Play"/>
              </a:rPr>
              <a:t>Huelga de los Talleres Vasena (metalúrgica)(1919) </a:t>
            </a:r>
            <a:endParaRPr sz="2200">
              <a:solidFill>
                <a:srgbClr val="FFFFFF"/>
              </a:solidFill>
              <a:latin typeface="Play"/>
              <a:ea typeface="Play"/>
              <a:cs typeface="Play"/>
              <a:sym typeface="Play"/>
            </a:endParaRPr>
          </a:p>
        </p:txBody>
      </p:sp>
      <p:pic>
        <p:nvPicPr>
          <p:cNvPr id="323" name="Google Shape;323;p30"/>
          <p:cNvPicPr preferRelativeResize="0"/>
          <p:nvPr/>
        </p:nvPicPr>
        <p:blipFill rotWithShape="1">
          <a:blip r:embed="rId3">
            <a:alphaModFix/>
          </a:blip>
          <a:srcRect/>
          <a:stretch/>
        </p:blipFill>
        <p:spPr>
          <a:xfrm>
            <a:off x="4502428" y="863859"/>
            <a:ext cx="7225748" cy="5130281"/>
          </a:xfrm>
          <a:prstGeom prst="rect">
            <a:avLst/>
          </a:prstGeom>
          <a:noFill/>
          <a:ln>
            <a:noFill/>
          </a:ln>
        </p:spPr>
      </p:pic>
    </p:spTree>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35"/>
        <p:cNvGrpSpPr/>
        <p:nvPr/>
      </p:nvGrpSpPr>
      <p:grpSpPr>
        <a:xfrm>
          <a:off x="0" y="0"/>
          <a:ext cx="0" cy="0"/>
          <a:chOff x="0" y="0"/>
          <a:chExt cx="0" cy="0"/>
        </a:xfrm>
      </p:grpSpPr>
      <p:sp>
        <p:nvSpPr>
          <p:cNvPr id="336" name="Google Shape;336;p32"/>
          <p:cNvSpPr/>
          <p:nvPr/>
        </p:nvSpPr>
        <p:spPr>
          <a:xfrm rot="-5400000">
            <a:off x="800100" y="1491343"/>
            <a:ext cx="3333749" cy="3499103"/>
          </a:xfrm>
          <a:prstGeom prst="downArrow">
            <a:avLst>
              <a:gd name="adj1" fmla="val 100000"/>
              <a:gd name="adj2" fmla="val 15788"/>
            </a:avLst>
          </a:prstGeom>
          <a:solidFill>
            <a:srgbClr val="4040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37" name="Google Shape;337;p32"/>
          <p:cNvSpPr txBox="1">
            <a:spLocks noGrp="1"/>
          </p:cNvSpPr>
          <p:nvPr>
            <p:ph type="title"/>
          </p:nvPr>
        </p:nvSpPr>
        <p:spPr>
          <a:xfrm>
            <a:off x="1028700" y="1967266"/>
            <a:ext cx="2628900" cy="2547257"/>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rgbClr val="FFFFFF"/>
              </a:buClr>
              <a:buSzPts val="3600"/>
              <a:buFont typeface="Play"/>
              <a:buNone/>
            </a:pPr>
            <a:r>
              <a:rPr lang="es-ES" sz="3600">
                <a:solidFill>
                  <a:srgbClr val="FFFFFF"/>
                </a:solidFill>
                <a:latin typeface="Play"/>
                <a:ea typeface="Play"/>
                <a:cs typeface="Play"/>
                <a:sym typeface="Play"/>
              </a:rPr>
              <a:t>La Patagonia Rebelde (1920-1922)</a:t>
            </a:r>
            <a:endParaRPr/>
          </a:p>
        </p:txBody>
      </p:sp>
      <p:pic>
        <p:nvPicPr>
          <p:cNvPr id="4" name="Elementos multimedia en línea 3" title="PATAGONIA REBELDE: EL IMPACTO DE LA REPRESIÓN MÁS TRÁGICA: HUELGAS | HISTORIA ARGENTINA | RESUMEN *">
            <a:hlinkClick r:id="" action="ppaction://media"/>
            <a:extLst>
              <a:ext uri="{FF2B5EF4-FFF2-40B4-BE49-F238E27FC236}">
                <a16:creationId xmlns:a16="http://schemas.microsoft.com/office/drawing/2014/main" id="{21A6B12F-444A-4D4A-B913-313B47345F79}"/>
              </a:ext>
            </a:extLst>
          </p:cNvPr>
          <p:cNvPicPr>
            <a:picLocks noRot="1" noChangeAspect="1"/>
          </p:cNvPicPr>
          <p:nvPr>
            <a:videoFile r:link="rId1"/>
          </p:nvPr>
        </p:nvPicPr>
        <p:blipFill>
          <a:blip r:embed="rId4"/>
          <a:stretch>
            <a:fillRect/>
          </a:stretch>
        </p:blipFill>
        <p:spPr>
          <a:xfrm>
            <a:off x="4527803" y="1190204"/>
            <a:ext cx="7238169" cy="4089565"/>
          </a:xfrm>
          <a:prstGeom prst="rect">
            <a:avLst/>
          </a:prstGeom>
        </p:spPr>
      </p:pic>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42"/>
        <p:cNvGrpSpPr/>
        <p:nvPr/>
      </p:nvGrpSpPr>
      <p:grpSpPr>
        <a:xfrm>
          <a:off x="0" y="0"/>
          <a:ext cx="0" cy="0"/>
          <a:chOff x="0" y="0"/>
          <a:chExt cx="0" cy="0"/>
        </a:xfrm>
      </p:grpSpPr>
      <p:sp>
        <p:nvSpPr>
          <p:cNvPr id="343" name="Google Shape;343;p3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44" name="Google Shape;344;p33"/>
          <p:cNvSpPr/>
          <p:nvPr/>
        </p:nvSpPr>
        <p:spPr>
          <a:xfrm rot="5400000" flipH="1">
            <a:off x="-1417539" y="1417538"/>
            <a:ext cx="6875818" cy="4040744"/>
          </a:xfrm>
          <a:prstGeom prst="rect">
            <a:avLst/>
          </a:prstGeom>
          <a:gradFill>
            <a:gsLst>
              <a:gs pos="0">
                <a:srgbClr val="000000"/>
              </a:gs>
              <a:gs pos="100000">
                <a:srgbClr val="0F4861"/>
              </a:gs>
            </a:gsLst>
            <a:lin ang="18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45" name="Google Shape;345;p33"/>
          <p:cNvSpPr/>
          <p:nvPr/>
        </p:nvSpPr>
        <p:spPr>
          <a:xfrm rot="-5400000">
            <a:off x="-158495" y="2660473"/>
            <a:ext cx="4355594" cy="4038603"/>
          </a:xfrm>
          <a:prstGeom prst="rect">
            <a:avLst/>
          </a:prstGeom>
          <a:gradFill>
            <a:gsLst>
              <a:gs pos="0">
                <a:srgbClr val="156082">
                  <a:alpha val="49803"/>
                </a:srgbClr>
              </a:gs>
              <a:gs pos="100000">
                <a:srgbClr val="0A3041">
                  <a:alpha val="0"/>
                </a:srgbClr>
              </a:gs>
            </a:gsLst>
            <a:lin ang="11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46" name="Google Shape;346;p33"/>
          <p:cNvSpPr/>
          <p:nvPr/>
        </p:nvSpPr>
        <p:spPr>
          <a:xfrm rot="-5400000" flipH="1">
            <a:off x="-1180882" y="1638085"/>
            <a:ext cx="6857572" cy="3581401"/>
          </a:xfrm>
          <a:prstGeom prst="rect">
            <a:avLst/>
          </a:prstGeom>
          <a:gradFill>
            <a:gsLst>
              <a:gs pos="0">
                <a:srgbClr val="000000">
                  <a:alpha val="58823"/>
                </a:srgbClr>
              </a:gs>
              <a:gs pos="69000">
                <a:srgbClr val="156082">
                  <a:alpha val="0"/>
                </a:srgbClr>
              </a:gs>
              <a:gs pos="100000">
                <a:srgbClr val="156082">
                  <a:alpha val="0"/>
                </a:srgbClr>
              </a:gs>
            </a:gsLst>
            <a:lin ang="13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47" name="Google Shape;347;p33"/>
          <p:cNvSpPr/>
          <p:nvPr/>
        </p:nvSpPr>
        <p:spPr>
          <a:xfrm rot="6097846">
            <a:off x="-747355" y="1201312"/>
            <a:ext cx="4808302" cy="4088666"/>
          </a:xfrm>
          <a:custGeom>
            <a:avLst/>
            <a:gdLst/>
            <a:ahLst/>
            <a:cxnLst/>
            <a:rect l="l" t="t" r="r" b="b"/>
            <a:pathLst>
              <a:path w="4808302" h="4088666" extrusionOk="0">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0">
                <a:srgbClr val="43AFE2">
                  <a:alpha val="0"/>
                </a:srgbClr>
              </a:gs>
              <a:gs pos="39000">
                <a:srgbClr val="43AFE2">
                  <a:alpha val="0"/>
                </a:srgbClr>
              </a:gs>
              <a:gs pos="100000">
                <a:srgbClr val="0F4861">
                  <a:alpha val="25882"/>
                </a:srgbClr>
              </a:gs>
            </a:gsLst>
            <a:lin ang="18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48" name="Google Shape;348;p33"/>
          <p:cNvSpPr txBox="1">
            <a:spLocks noGrp="1"/>
          </p:cNvSpPr>
          <p:nvPr>
            <p:ph type="title"/>
          </p:nvPr>
        </p:nvSpPr>
        <p:spPr>
          <a:xfrm>
            <a:off x="660041" y="2767106"/>
            <a:ext cx="2880828" cy="3071906"/>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FFFFFF"/>
              </a:buClr>
              <a:buSzPts val="4000"/>
              <a:buFont typeface="Play"/>
              <a:buNone/>
            </a:pPr>
            <a:r>
              <a:rPr lang="es-ES" sz="4000" b="1">
                <a:solidFill>
                  <a:srgbClr val="FFFFFF"/>
                </a:solidFill>
                <a:latin typeface="Play"/>
                <a:ea typeface="Play"/>
                <a:cs typeface="Play"/>
                <a:sym typeface="Play"/>
              </a:rPr>
              <a:t>Huelga del Frigorífico Anglo (1930) </a:t>
            </a:r>
            <a:endParaRPr/>
          </a:p>
          <a:p>
            <a:pPr marL="0" lvl="0" indent="0" algn="l" rtl="0">
              <a:lnSpc>
                <a:spcPct val="90000"/>
              </a:lnSpc>
              <a:spcBef>
                <a:spcPts val="0"/>
              </a:spcBef>
              <a:spcAft>
                <a:spcPts val="0"/>
              </a:spcAft>
              <a:buClr>
                <a:schemeClr val="dk1"/>
              </a:buClr>
              <a:buSzPts val="4000"/>
              <a:buFont typeface="Play"/>
              <a:buNone/>
            </a:pPr>
            <a:endParaRPr sz="4000">
              <a:solidFill>
                <a:srgbClr val="FFFFFF"/>
              </a:solidFill>
              <a:latin typeface="Play"/>
              <a:ea typeface="Play"/>
              <a:cs typeface="Play"/>
              <a:sym typeface="Play"/>
            </a:endParaRPr>
          </a:p>
        </p:txBody>
      </p:sp>
      <p:pic>
        <p:nvPicPr>
          <p:cNvPr id="349" name="Google Shape;349;p33" descr="Imagen que contiene foto, hombre, mujer, parado&#10;&#10;Descripción generada automáticamente"/>
          <p:cNvPicPr preferRelativeResize="0">
            <a:picLocks noGrp="1"/>
          </p:cNvPicPr>
          <p:nvPr>
            <p:ph type="body" idx="1"/>
          </p:nvPr>
        </p:nvPicPr>
        <p:blipFill rotWithShape="1">
          <a:blip r:embed="rId3">
            <a:alphaModFix/>
          </a:blip>
          <a:srcRect/>
          <a:stretch/>
        </p:blipFill>
        <p:spPr>
          <a:xfrm>
            <a:off x="4502428" y="1234179"/>
            <a:ext cx="7225748" cy="4389641"/>
          </a:xfrm>
          <a:prstGeom prst="rect">
            <a:avLst/>
          </a:prstGeom>
          <a:noFill/>
          <a:ln>
            <a:noFill/>
          </a:ln>
        </p:spPr>
      </p:pic>
    </p:spTree>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53"/>
        <p:cNvGrpSpPr/>
        <p:nvPr/>
      </p:nvGrpSpPr>
      <p:grpSpPr>
        <a:xfrm>
          <a:off x="0" y="0"/>
          <a:ext cx="0" cy="0"/>
          <a:chOff x="0" y="0"/>
          <a:chExt cx="0" cy="0"/>
        </a:xfrm>
      </p:grpSpPr>
      <p:sp>
        <p:nvSpPr>
          <p:cNvPr id="354" name="Google Shape;354;p34"/>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55" name="Google Shape;355;p34"/>
          <p:cNvSpPr/>
          <p:nvPr/>
        </p:nvSpPr>
        <p:spPr>
          <a:xfrm rot="5400000" flipH="1">
            <a:off x="-1417539" y="1417538"/>
            <a:ext cx="6875818" cy="4040744"/>
          </a:xfrm>
          <a:prstGeom prst="rect">
            <a:avLst/>
          </a:prstGeom>
          <a:gradFill>
            <a:gsLst>
              <a:gs pos="0">
                <a:srgbClr val="000000"/>
              </a:gs>
              <a:gs pos="100000">
                <a:srgbClr val="0F4861"/>
              </a:gs>
            </a:gsLst>
            <a:lin ang="18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56" name="Google Shape;356;p34"/>
          <p:cNvSpPr/>
          <p:nvPr/>
        </p:nvSpPr>
        <p:spPr>
          <a:xfrm rot="-5400000">
            <a:off x="-158495" y="2660473"/>
            <a:ext cx="4355594" cy="4038603"/>
          </a:xfrm>
          <a:prstGeom prst="rect">
            <a:avLst/>
          </a:prstGeom>
          <a:gradFill>
            <a:gsLst>
              <a:gs pos="0">
                <a:srgbClr val="156082">
                  <a:alpha val="49803"/>
                </a:srgbClr>
              </a:gs>
              <a:gs pos="100000">
                <a:srgbClr val="0A3041">
                  <a:alpha val="0"/>
                </a:srgbClr>
              </a:gs>
            </a:gsLst>
            <a:lin ang="11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57" name="Google Shape;357;p34"/>
          <p:cNvSpPr/>
          <p:nvPr/>
        </p:nvSpPr>
        <p:spPr>
          <a:xfrm rot="-5400000" flipH="1">
            <a:off x="-1180882" y="1638085"/>
            <a:ext cx="6857572" cy="3581401"/>
          </a:xfrm>
          <a:prstGeom prst="rect">
            <a:avLst/>
          </a:prstGeom>
          <a:gradFill>
            <a:gsLst>
              <a:gs pos="0">
                <a:srgbClr val="000000">
                  <a:alpha val="58823"/>
                </a:srgbClr>
              </a:gs>
              <a:gs pos="69000">
                <a:srgbClr val="156082">
                  <a:alpha val="0"/>
                </a:srgbClr>
              </a:gs>
              <a:gs pos="100000">
                <a:srgbClr val="156082">
                  <a:alpha val="0"/>
                </a:srgbClr>
              </a:gs>
            </a:gsLst>
            <a:lin ang="13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58" name="Google Shape;358;p34"/>
          <p:cNvSpPr/>
          <p:nvPr/>
        </p:nvSpPr>
        <p:spPr>
          <a:xfrm rot="6097846">
            <a:off x="-747355" y="1201312"/>
            <a:ext cx="4808302" cy="4088666"/>
          </a:xfrm>
          <a:custGeom>
            <a:avLst/>
            <a:gdLst/>
            <a:ahLst/>
            <a:cxnLst/>
            <a:rect l="l" t="t" r="r" b="b"/>
            <a:pathLst>
              <a:path w="4808302" h="4088666" extrusionOk="0">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0">
                <a:srgbClr val="43AFE2">
                  <a:alpha val="0"/>
                </a:srgbClr>
              </a:gs>
              <a:gs pos="39000">
                <a:srgbClr val="43AFE2">
                  <a:alpha val="0"/>
                </a:srgbClr>
              </a:gs>
              <a:gs pos="100000">
                <a:srgbClr val="0F4861">
                  <a:alpha val="25882"/>
                </a:srgbClr>
              </a:gs>
            </a:gsLst>
            <a:lin ang="18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59" name="Google Shape;359;p34"/>
          <p:cNvSpPr txBox="1">
            <a:spLocks noGrp="1"/>
          </p:cNvSpPr>
          <p:nvPr>
            <p:ph type="title"/>
          </p:nvPr>
        </p:nvSpPr>
        <p:spPr>
          <a:xfrm>
            <a:off x="660041" y="2767106"/>
            <a:ext cx="3139620" cy="310066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FFFFFF"/>
              </a:buClr>
              <a:buSzPts val="4000"/>
              <a:buFont typeface="Play"/>
              <a:buNone/>
            </a:pPr>
            <a:r>
              <a:rPr lang="es-ES" sz="4000" b="1">
                <a:solidFill>
                  <a:srgbClr val="FFFFFF"/>
                </a:solidFill>
                <a:latin typeface="Play"/>
                <a:ea typeface="Play"/>
                <a:cs typeface="Play"/>
                <a:sym typeface="Play"/>
              </a:rPr>
              <a:t>Huelgas Ferroviarias (1940s) </a:t>
            </a:r>
            <a:endParaRPr/>
          </a:p>
        </p:txBody>
      </p:sp>
      <p:pic>
        <p:nvPicPr>
          <p:cNvPr id="360" name="Google Shape;360;p34" descr="Foto en blanco y negro de una multitud de gente&#10;&#10;Descripción generada automáticamente"/>
          <p:cNvPicPr preferRelativeResize="0">
            <a:picLocks noGrp="1"/>
          </p:cNvPicPr>
          <p:nvPr>
            <p:ph type="body" idx="1"/>
          </p:nvPr>
        </p:nvPicPr>
        <p:blipFill rotWithShape="1">
          <a:blip r:embed="rId3">
            <a:alphaModFix/>
          </a:blip>
          <a:srcRect/>
          <a:stretch/>
        </p:blipFill>
        <p:spPr>
          <a:xfrm>
            <a:off x="4502428" y="963214"/>
            <a:ext cx="7225748" cy="4931572"/>
          </a:xfrm>
          <a:prstGeom prst="rect">
            <a:avLst/>
          </a:prstGeom>
          <a:noFill/>
          <a:ln>
            <a:noFill/>
          </a:ln>
        </p:spPr>
      </p:pic>
    </p:spTree>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64"/>
        <p:cNvGrpSpPr/>
        <p:nvPr/>
      </p:nvGrpSpPr>
      <p:grpSpPr>
        <a:xfrm>
          <a:off x="0" y="0"/>
          <a:ext cx="0" cy="0"/>
          <a:chOff x="0" y="0"/>
          <a:chExt cx="0" cy="0"/>
        </a:xfrm>
      </p:grpSpPr>
      <p:sp>
        <p:nvSpPr>
          <p:cNvPr id="365" name="Google Shape;365;p35"/>
          <p:cNvSpPr/>
          <p:nvPr/>
        </p:nvSpPr>
        <p:spPr>
          <a:xfrm rot="-5400000">
            <a:off x="800100" y="1491343"/>
            <a:ext cx="3333749" cy="3499103"/>
          </a:xfrm>
          <a:prstGeom prst="downArrow">
            <a:avLst>
              <a:gd name="adj1" fmla="val 100000"/>
              <a:gd name="adj2" fmla="val 15788"/>
            </a:avLst>
          </a:prstGeom>
          <a:solidFill>
            <a:srgbClr val="4040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66" name="Google Shape;366;p35"/>
          <p:cNvSpPr txBox="1">
            <a:spLocks noGrp="1"/>
          </p:cNvSpPr>
          <p:nvPr>
            <p:ph type="title"/>
          </p:nvPr>
        </p:nvSpPr>
        <p:spPr>
          <a:xfrm>
            <a:off x="1028700" y="1967266"/>
            <a:ext cx="2628900" cy="2547257"/>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3600"/>
              <a:buFont typeface="Play"/>
              <a:buNone/>
            </a:pPr>
            <a:r>
              <a:rPr lang="es-ES" sz="3600" b="1">
                <a:solidFill>
                  <a:srgbClr val="FFFFFF"/>
                </a:solidFill>
              </a:rPr>
              <a:t>Huelga General de 1956</a:t>
            </a:r>
            <a:endParaRPr sz="3600" b="1"/>
          </a:p>
          <a:p>
            <a:pPr marL="0" lvl="0" indent="0" algn="ctr" rtl="0">
              <a:lnSpc>
                <a:spcPct val="90000"/>
              </a:lnSpc>
              <a:spcBef>
                <a:spcPts val="0"/>
              </a:spcBef>
              <a:spcAft>
                <a:spcPts val="0"/>
              </a:spcAft>
              <a:buClr>
                <a:schemeClr val="dk1"/>
              </a:buClr>
              <a:buSzPts val="3600"/>
              <a:buFont typeface="Play"/>
              <a:buNone/>
            </a:pPr>
            <a:endParaRPr sz="3600" b="1">
              <a:solidFill>
                <a:srgbClr val="FFFFFF"/>
              </a:solidFill>
              <a:latin typeface="Play"/>
              <a:ea typeface="Play"/>
              <a:cs typeface="Play"/>
              <a:sym typeface="Play"/>
            </a:endParaRPr>
          </a:p>
          <a:p>
            <a:pPr marL="0" lvl="0" indent="0" algn="ctr" rtl="0">
              <a:lnSpc>
                <a:spcPct val="90000"/>
              </a:lnSpc>
              <a:spcBef>
                <a:spcPts val="0"/>
              </a:spcBef>
              <a:spcAft>
                <a:spcPts val="0"/>
              </a:spcAft>
              <a:buClr>
                <a:schemeClr val="dk1"/>
              </a:buClr>
              <a:buSzPts val="3600"/>
              <a:buFont typeface="Play"/>
              <a:buNone/>
            </a:pPr>
            <a:endParaRPr sz="3600">
              <a:solidFill>
                <a:srgbClr val="FFFFFF"/>
              </a:solidFill>
              <a:latin typeface="Play"/>
              <a:ea typeface="Play"/>
              <a:cs typeface="Play"/>
              <a:sym typeface="Play"/>
            </a:endParaRPr>
          </a:p>
        </p:txBody>
      </p:sp>
      <p:pic>
        <p:nvPicPr>
          <p:cNvPr id="367" name="Google Shape;367;p35" descr="Foto en blanco y negro de una multitud de gente&#10;&#10;Descripción generada automáticamente"/>
          <p:cNvPicPr preferRelativeResize="0">
            <a:picLocks noGrp="1"/>
          </p:cNvPicPr>
          <p:nvPr>
            <p:ph type="body" idx="1"/>
          </p:nvPr>
        </p:nvPicPr>
        <p:blipFill rotWithShape="1">
          <a:blip r:embed="rId3">
            <a:alphaModFix/>
          </a:blip>
          <a:srcRect/>
          <a:stretch/>
        </p:blipFill>
        <p:spPr>
          <a:xfrm>
            <a:off x="4777316" y="1325056"/>
            <a:ext cx="6780700" cy="4205558"/>
          </a:xfrm>
          <a:prstGeom prst="rect">
            <a:avLst/>
          </a:prstGeom>
          <a:noFill/>
          <a:ln>
            <a:noFill/>
          </a:ln>
        </p:spPr>
      </p:pic>
    </p:spTree>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71"/>
        <p:cNvGrpSpPr/>
        <p:nvPr/>
      </p:nvGrpSpPr>
      <p:grpSpPr>
        <a:xfrm>
          <a:off x="0" y="0"/>
          <a:ext cx="0" cy="0"/>
          <a:chOff x="0" y="0"/>
          <a:chExt cx="0" cy="0"/>
        </a:xfrm>
      </p:grpSpPr>
      <p:sp>
        <p:nvSpPr>
          <p:cNvPr id="372" name="Google Shape;372;p36"/>
          <p:cNvSpPr/>
          <p:nvPr/>
        </p:nvSpPr>
        <p:spPr>
          <a:xfrm rot="-5400000">
            <a:off x="800100" y="1491343"/>
            <a:ext cx="3333749" cy="3499103"/>
          </a:xfrm>
          <a:prstGeom prst="downArrow">
            <a:avLst>
              <a:gd name="adj1" fmla="val 100000"/>
              <a:gd name="adj2" fmla="val 15788"/>
            </a:avLst>
          </a:prstGeom>
          <a:solidFill>
            <a:srgbClr val="4040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73" name="Google Shape;373;p36"/>
          <p:cNvSpPr txBox="1">
            <a:spLocks noGrp="1"/>
          </p:cNvSpPr>
          <p:nvPr>
            <p:ph type="title"/>
          </p:nvPr>
        </p:nvSpPr>
        <p:spPr>
          <a:xfrm>
            <a:off x="1028700" y="1967266"/>
            <a:ext cx="2628900" cy="2547257"/>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3600"/>
              <a:buFont typeface="Play"/>
              <a:buNone/>
            </a:pPr>
            <a:r>
              <a:rPr lang="es-ES" sz="3600" b="1">
                <a:solidFill>
                  <a:srgbClr val="FFFFFF"/>
                </a:solidFill>
                <a:latin typeface="Play"/>
                <a:ea typeface="Play"/>
                <a:cs typeface="Play"/>
                <a:sym typeface="Play"/>
              </a:rPr>
              <a:t>El Cordobazo (1969)</a:t>
            </a:r>
            <a:endParaRPr/>
          </a:p>
          <a:p>
            <a:pPr marL="0" lvl="0" indent="0" algn="ctr" rtl="0">
              <a:lnSpc>
                <a:spcPct val="90000"/>
              </a:lnSpc>
              <a:spcBef>
                <a:spcPts val="0"/>
              </a:spcBef>
              <a:spcAft>
                <a:spcPts val="0"/>
              </a:spcAft>
              <a:buClr>
                <a:schemeClr val="dk1"/>
              </a:buClr>
              <a:buSzPts val="3600"/>
              <a:buFont typeface="Play"/>
              <a:buNone/>
            </a:pPr>
            <a:endParaRPr sz="3600">
              <a:solidFill>
                <a:srgbClr val="FFFFFF"/>
              </a:solidFill>
              <a:latin typeface="Play"/>
              <a:ea typeface="Play"/>
              <a:cs typeface="Play"/>
              <a:sym typeface="Play"/>
            </a:endParaRPr>
          </a:p>
        </p:txBody>
      </p:sp>
      <p:pic>
        <p:nvPicPr>
          <p:cNvPr id="374" name="Google Shape;374;p36" descr="Foto en blanco y negro de un grupo de gente&#10;&#10;Descripción generada automáticamente"/>
          <p:cNvPicPr preferRelativeResize="0">
            <a:picLocks noGrp="1"/>
          </p:cNvPicPr>
          <p:nvPr>
            <p:ph type="body" idx="1"/>
          </p:nvPr>
        </p:nvPicPr>
        <p:blipFill rotWithShape="1">
          <a:blip r:embed="rId3">
            <a:alphaModFix/>
          </a:blip>
          <a:srcRect/>
          <a:stretch/>
        </p:blipFill>
        <p:spPr>
          <a:xfrm>
            <a:off x="4777316" y="2055128"/>
            <a:ext cx="6780700" cy="2745414"/>
          </a:xfrm>
          <a:prstGeom prst="rect">
            <a:avLst/>
          </a:prstGeom>
          <a:noFill/>
          <a:ln>
            <a:noFill/>
          </a:ln>
        </p:spPr>
      </p:pic>
    </p:spTree>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78"/>
        <p:cNvGrpSpPr/>
        <p:nvPr/>
      </p:nvGrpSpPr>
      <p:grpSpPr>
        <a:xfrm>
          <a:off x="0" y="0"/>
          <a:ext cx="0" cy="0"/>
          <a:chOff x="0" y="0"/>
          <a:chExt cx="0" cy="0"/>
        </a:xfrm>
      </p:grpSpPr>
      <p:sp>
        <p:nvSpPr>
          <p:cNvPr id="379" name="Google Shape;379;p37"/>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80" name="Google Shape;380;p37"/>
          <p:cNvSpPr/>
          <p:nvPr/>
        </p:nvSpPr>
        <p:spPr>
          <a:xfrm rot="5400000" flipH="1">
            <a:off x="-1417539" y="1417538"/>
            <a:ext cx="6875818" cy="4040744"/>
          </a:xfrm>
          <a:prstGeom prst="rect">
            <a:avLst/>
          </a:prstGeom>
          <a:gradFill>
            <a:gsLst>
              <a:gs pos="0">
                <a:srgbClr val="000000"/>
              </a:gs>
              <a:gs pos="100000">
                <a:srgbClr val="0F4861"/>
              </a:gs>
            </a:gsLst>
            <a:lin ang="18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81" name="Google Shape;381;p37"/>
          <p:cNvSpPr/>
          <p:nvPr/>
        </p:nvSpPr>
        <p:spPr>
          <a:xfrm rot="-5400000">
            <a:off x="-158495" y="2660473"/>
            <a:ext cx="4355594" cy="4038603"/>
          </a:xfrm>
          <a:prstGeom prst="rect">
            <a:avLst/>
          </a:prstGeom>
          <a:gradFill>
            <a:gsLst>
              <a:gs pos="0">
                <a:srgbClr val="156082">
                  <a:alpha val="49803"/>
                </a:srgbClr>
              </a:gs>
              <a:gs pos="100000">
                <a:srgbClr val="0A3041">
                  <a:alpha val="0"/>
                </a:srgbClr>
              </a:gs>
            </a:gsLst>
            <a:lin ang="11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82" name="Google Shape;382;p37"/>
          <p:cNvSpPr/>
          <p:nvPr/>
        </p:nvSpPr>
        <p:spPr>
          <a:xfrm rot="-5400000" flipH="1">
            <a:off x="-1180882" y="1638085"/>
            <a:ext cx="6857572" cy="3581401"/>
          </a:xfrm>
          <a:prstGeom prst="rect">
            <a:avLst/>
          </a:prstGeom>
          <a:gradFill>
            <a:gsLst>
              <a:gs pos="0">
                <a:srgbClr val="000000">
                  <a:alpha val="58823"/>
                </a:srgbClr>
              </a:gs>
              <a:gs pos="69000">
                <a:srgbClr val="156082">
                  <a:alpha val="0"/>
                </a:srgbClr>
              </a:gs>
              <a:gs pos="100000">
                <a:srgbClr val="156082">
                  <a:alpha val="0"/>
                </a:srgbClr>
              </a:gs>
            </a:gsLst>
            <a:lin ang="13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83" name="Google Shape;383;p37"/>
          <p:cNvSpPr/>
          <p:nvPr/>
        </p:nvSpPr>
        <p:spPr>
          <a:xfrm rot="6097846">
            <a:off x="-747355" y="1201312"/>
            <a:ext cx="4808302" cy="4088666"/>
          </a:xfrm>
          <a:custGeom>
            <a:avLst/>
            <a:gdLst/>
            <a:ahLst/>
            <a:cxnLst/>
            <a:rect l="l" t="t" r="r" b="b"/>
            <a:pathLst>
              <a:path w="4808302" h="4088666" extrusionOk="0">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0">
                <a:srgbClr val="43AFE2">
                  <a:alpha val="0"/>
                </a:srgbClr>
              </a:gs>
              <a:gs pos="39000">
                <a:srgbClr val="43AFE2">
                  <a:alpha val="0"/>
                </a:srgbClr>
              </a:gs>
              <a:gs pos="100000">
                <a:srgbClr val="0F4861">
                  <a:alpha val="25882"/>
                </a:srgbClr>
              </a:gs>
            </a:gsLst>
            <a:lin ang="18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84" name="Google Shape;384;p37"/>
          <p:cNvSpPr txBox="1">
            <a:spLocks noGrp="1"/>
          </p:cNvSpPr>
          <p:nvPr>
            <p:ph type="title"/>
          </p:nvPr>
        </p:nvSpPr>
        <p:spPr>
          <a:xfrm>
            <a:off x="660041" y="2767106"/>
            <a:ext cx="2880828" cy="3071906"/>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FFFFFF"/>
              </a:buClr>
              <a:buSzPts val="4000"/>
              <a:buFont typeface="Play"/>
              <a:buNone/>
            </a:pPr>
            <a:r>
              <a:rPr lang="es-ES" sz="4000" b="1">
                <a:solidFill>
                  <a:srgbClr val="FFFFFF"/>
                </a:solidFill>
                <a:latin typeface="Play"/>
                <a:ea typeface="Play"/>
                <a:cs typeface="Play"/>
                <a:sym typeface="Play"/>
              </a:rPr>
              <a:t>Huelga de SMATA (1975)</a:t>
            </a:r>
            <a:endParaRPr/>
          </a:p>
          <a:p>
            <a:pPr marL="0" lvl="0" indent="0" algn="l" rtl="0">
              <a:lnSpc>
                <a:spcPct val="90000"/>
              </a:lnSpc>
              <a:spcBef>
                <a:spcPts val="0"/>
              </a:spcBef>
              <a:spcAft>
                <a:spcPts val="0"/>
              </a:spcAft>
              <a:buClr>
                <a:schemeClr val="dk1"/>
              </a:buClr>
              <a:buSzPts val="4000"/>
              <a:buFont typeface="Play"/>
              <a:buNone/>
            </a:pPr>
            <a:endParaRPr sz="4000">
              <a:solidFill>
                <a:srgbClr val="FFFFFF"/>
              </a:solidFill>
              <a:latin typeface="Play"/>
              <a:ea typeface="Play"/>
              <a:cs typeface="Play"/>
              <a:sym typeface="Play"/>
            </a:endParaRPr>
          </a:p>
        </p:txBody>
      </p:sp>
      <p:pic>
        <p:nvPicPr>
          <p:cNvPr id="385" name="Google Shape;385;p37" descr="Foto en blanco y negro de una multitud de gente&#10;&#10;Descripción generada automáticamente"/>
          <p:cNvPicPr preferRelativeResize="0">
            <a:picLocks noGrp="1"/>
          </p:cNvPicPr>
          <p:nvPr>
            <p:ph type="body" idx="1"/>
          </p:nvPr>
        </p:nvPicPr>
        <p:blipFill rotWithShape="1">
          <a:blip r:embed="rId3">
            <a:alphaModFix/>
          </a:blip>
          <a:srcRect/>
          <a:stretch/>
        </p:blipFill>
        <p:spPr>
          <a:xfrm>
            <a:off x="4502428" y="1062568"/>
            <a:ext cx="7225748" cy="4732864"/>
          </a:xfrm>
          <a:prstGeom prst="rect">
            <a:avLst/>
          </a:prstGeom>
          <a:noFill/>
          <a:ln>
            <a:noFill/>
          </a:ln>
        </p:spPr>
      </p:pic>
    </p:spTree>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389"/>
        <p:cNvGrpSpPr/>
        <p:nvPr/>
      </p:nvGrpSpPr>
      <p:grpSpPr>
        <a:xfrm>
          <a:off x="0" y="0"/>
          <a:ext cx="0" cy="0"/>
          <a:chOff x="0" y="0"/>
          <a:chExt cx="0" cy="0"/>
        </a:xfrm>
      </p:grpSpPr>
      <p:sp>
        <p:nvSpPr>
          <p:cNvPr id="390" name="Google Shape;390;p38"/>
          <p:cNvSpPr txBox="1">
            <a:spLocks noGrp="1"/>
          </p:cNvSpPr>
          <p:nvPr>
            <p:ph type="title"/>
          </p:nvPr>
        </p:nvSpPr>
        <p:spPr>
          <a:xfrm>
            <a:off x="981974" y="1026483"/>
            <a:ext cx="11924579" cy="1354317"/>
          </a:xfrm>
          <a:prstGeom prst="rect">
            <a:avLst/>
          </a:prstGeom>
          <a:noFill/>
          <a:ln>
            <a:noFill/>
          </a:ln>
        </p:spPr>
        <p:txBody>
          <a:bodyPr spcFirstLastPara="1" wrap="square" lIns="91425" tIns="45700" rIns="91425" bIns="45700" anchor="ctr" anchorCtr="0">
            <a:normAutofit/>
          </a:bodyPr>
          <a:lstStyle/>
          <a:p>
            <a:pPr marL="571500" lvl="0" indent="-571500" algn="l" rtl="0">
              <a:lnSpc>
                <a:spcPct val="90000"/>
              </a:lnSpc>
              <a:spcBef>
                <a:spcPts val="0"/>
              </a:spcBef>
              <a:spcAft>
                <a:spcPts val="0"/>
              </a:spcAft>
              <a:buClr>
                <a:schemeClr val="lt1"/>
              </a:buClr>
              <a:buSzPts val="4400"/>
              <a:buFont typeface="Arial"/>
              <a:buChar char="•"/>
            </a:pPr>
            <a:r>
              <a:rPr lang="es-ES" b="1">
                <a:solidFill>
                  <a:schemeClr val="lt1"/>
                </a:solidFill>
              </a:rPr>
              <a:t>Huelgas de los 80s durante la Dictadura Militar</a:t>
            </a:r>
            <a:endParaRPr>
              <a:solidFill>
                <a:schemeClr val="lt1"/>
              </a:solidFill>
            </a:endParaRPr>
          </a:p>
        </p:txBody>
      </p:sp>
      <p:sp>
        <p:nvSpPr>
          <p:cNvPr id="391" name="Google Shape;391;p38"/>
          <p:cNvSpPr txBox="1"/>
          <p:nvPr/>
        </p:nvSpPr>
        <p:spPr>
          <a:xfrm>
            <a:off x="983501" y="2912762"/>
            <a:ext cx="11211464" cy="1046440"/>
          </a:xfrm>
          <a:prstGeom prst="rect">
            <a:avLst/>
          </a:prstGeom>
          <a:noFill/>
          <a:ln>
            <a:noFill/>
          </a:ln>
        </p:spPr>
        <p:txBody>
          <a:bodyPr spcFirstLastPara="1" wrap="square" lIns="91425" tIns="45700" rIns="91425" bIns="45700" anchor="t" anchorCtr="0">
            <a:spAutoFit/>
          </a:bodyPr>
          <a:lstStyle/>
          <a:p>
            <a:pPr marL="571500" marR="0" lvl="0" indent="-571500" algn="l" rtl="0">
              <a:spcBef>
                <a:spcPts val="0"/>
              </a:spcBef>
              <a:spcAft>
                <a:spcPts val="0"/>
              </a:spcAft>
              <a:buClr>
                <a:schemeClr val="lt1"/>
              </a:buClr>
              <a:buSzPts val="4400"/>
              <a:buFont typeface="Arial"/>
              <a:buChar char="•"/>
            </a:pPr>
            <a:r>
              <a:rPr lang="es-ES" sz="4400" b="1">
                <a:solidFill>
                  <a:schemeClr val="lt1"/>
                </a:solidFill>
                <a:latin typeface="Play"/>
                <a:ea typeface="Play"/>
                <a:cs typeface="Play"/>
                <a:sym typeface="Play"/>
              </a:rPr>
              <a:t>Paro General de la CGT (1982)</a:t>
            </a:r>
            <a:endParaRPr sz="4400" b="1">
              <a:solidFill>
                <a:schemeClr val="lt1"/>
              </a:solidFill>
              <a:latin typeface="Play"/>
              <a:ea typeface="Play"/>
              <a:cs typeface="Play"/>
              <a:sym typeface="Play"/>
            </a:endParaRPr>
          </a:p>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92" name="Google Shape;392;p38"/>
          <p:cNvSpPr txBox="1"/>
          <p:nvPr/>
        </p:nvSpPr>
        <p:spPr>
          <a:xfrm>
            <a:off x="894092" y="4372513"/>
            <a:ext cx="10636370" cy="1723549"/>
          </a:xfrm>
          <a:prstGeom prst="rect">
            <a:avLst/>
          </a:prstGeom>
          <a:noFill/>
          <a:ln>
            <a:noFill/>
          </a:ln>
        </p:spPr>
        <p:txBody>
          <a:bodyPr spcFirstLastPara="1" wrap="square" lIns="91425" tIns="45700" rIns="91425" bIns="45700" anchor="t" anchorCtr="0">
            <a:spAutoFit/>
          </a:bodyPr>
          <a:lstStyle/>
          <a:p>
            <a:pPr marL="571500" marR="0" lvl="0" indent="-571500" algn="l" rtl="0">
              <a:spcBef>
                <a:spcPts val="0"/>
              </a:spcBef>
              <a:spcAft>
                <a:spcPts val="0"/>
              </a:spcAft>
              <a:buClr>
                <a:schemeClr val="lt1"/>
              </a:buClr>
              <a:buSzPts val="4400"/>
              <a:buFont typeface="Arial"/>
              <a:buChar char="•"/>
            </a:pPr>
            <a:r>
              <a:rPr lang="es-ES" sz="4400" b="1">
                <a:solidFill>
                  <a:schemeClr val="lt1"/>
                </a:solidFill>
                <a:latin typeface="Play"/>
                <a:ea typeface="Play"/>
                <a:cs typeface="Play"/>
                <a:sym typeface="Play"/>
              </a:rPr>
              <a:t>Huelgas contra las Reformas Neoliberales (1990s)</a:t>
            </a:r>
            <a:endParaRPr sz="4400" b="1">
              <a:solidFill>
                <a:schemeClr val="lt1"/>
              </a:solidFill>
              <a:latin typeface="Play"/>
              <a:ea typeface="Play"/>
              <a:cs typeface="Play"/>
              <a:sym typeface="Play"/>
            </a:endParaRPr>
          </a:p>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Tree>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96"/>
        <p:cNvGrpSpPr/>
        <p:nvPr/>
      </p:nvGrpSpPr>
      <p:grpSpPr>
        <a:xfrm>
          <a:off x="0" y="0"/>
          <a:ext cx="0" cy="0"/>
          <a:chOff x="0" y="0"/>
          <a:chExt cx="0" cy="0"/>
        </a:xfrm>
      </p:grpSpPr>
      <p:sp>
        <p:nvSpPr>
          <p:cNvPr id="397" name="Google Shape;397;p39"/>
          <p:cNvSpPr/>
          <p:nvPr/>
        </p:nvSpPr>
        <p:spPr>
          <a:xfrm>
            <a:off x="0" y="0"/>
            <a:ext cx="12192000" cy="68580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98" name="Google Shape;398;p39"/>
          <p:cNvSpPr txBox="1">
            <a:spLocks noGrp="1"/>
          </p:cNvSpPr>
          <p:nvPr>
            <p:ph type="title"/>
          </p:nvPr>
        </p:nvSpPr>
        <p:spPr>
          <a:xfrm>
            <a:off x="1331088" y="565739"/>
            <a:ext cx="9745883" cy="112494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700"/>
              <a:buFont typeface="Play"/>
              <a:buNone/>
            </a:pPr>
            <a:r>
              <a:rPr lang="es-ES" sz="3700" b="1">
                <a:solidFill>
                  <a:schemeClr val="lt1"/>
                </a:solidFill>
              </a:rPr>
              <a:t>Cuáles son los derechos con los que nos debemos quedar:</a:t>
            </a:r>
            <a:endParaRPr sz="3700">
              <a:solidFill>
                <a:schemeClr val="lt1"/>
              </a:solidFill>
            </a:endParaRPr>
          </a:p>
        </p:txBody>
      </p:sp>
      <p:sp>
        <p:nvSpPr>
          <p:cNvPr id="399" name="Google Shape;399;p39"/>
          <p:cNvSpPr/>
          <p:nvPr/>
        </p:nvSpPr>
        <p:spPr>
          <a:xfrm>
            <a:off x="0" y="681037"/>
            <a:ext cx="1170294" cy="274629"/>
          </a:xfrm>
          <a:custGeom>
            <a:avLst/>
            <a:gdLst/>
            <a:ahLst/>
            <a:cxnLst/>
            <a:rect l="l" t="t" r="r" b="b"/>
            <a:pathLst>
              <a:path w="1170294" h="274629" extrusionOk="0">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00" name="Google Shape;400;p39"/>
          <p:cNvSpPr/>
          <p:nvPr/>
        </p:nvSpPr>
        <p:spPr>
          <a:xfrm>
            <a:off x="0" y="1116069"/>
            <a:ext cx="1170294" cy="274629"/>
          </a:xfrm>
          <a:custGeom>
            <a:avLst/>
            <a:gdLst/>
            <a:ahLst/>
            <a:cxnLst/>
            <a:rect l="l" t="t" r="r" b="b"/>
            <a:pathLst>
              <a:path w="1170294" h="274629" extrusionOk="0">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01" name="Google Shape;401;p39"/>
          <p:cNvSpPr/>
          <p:nvPr/>
        </p:nvSpPr>
        <p:spPr>
          <a:xfrm>
            <a:off x="836766" y="2256427"/>
            <a:ext cx="10855283" cy="3963398"/>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02" name="Google Shape;402;p39"/>
          <p:cNvSpPr/>
          <p:nvPr/>
        </p:nvSpPr>
        <p:spPr>
          <a:xfrm>
            <a:off x="838200" y="2256427"/>
            <a:ext cx="10853849" cy="3955009"/>
          </a:xfrm>
          <a:prstGeom prst="rect">
            <a:avLst/>
          </a:prstGeom>
          <a:solidFill>
            <a:schemeClr val="dk1"/>
          </a:solidFill>
          <a:ln w="28575"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03" name="Google Shape;403;p39"/>
          <p:cNvSpPr/>
          <p:nvPr/>
        </p:nvSpPr>
        <p:spPr>
          <a:xfrm>
            <a:off x="735106" y="2125615"/>
            <a:ext cx="10855283" cy="3974760"/>
          </a:xfrm>
          <a:prstGeom prst="rect">
            <a:avLst/>
          </a:prstGeom>
          <a:solidFill>
            <a:schemeClr val="lt1"/>
          </a:solidFill>
          <a:ln w="28575"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404" name="Google Shape;404;p39"/>
          <p:cNvGrpSpPr/>
          <p:nvPr/>
        </p:nvGrpSpPr>
        <p:grpSpPr>
          <a:xfrm>
            <a:off x="1135934" y="2536390"/>
            <a:ext cx="10175625" cy="3150000"/>
            <a:chOff x="42240" y="110785"/>
            <a:chExt cx="10175625" cy="3150000"/>
          </a:xfrm>
        </p:grpSpPr>
        <p:sp>
          <p:nvSpPr>
            <p:cNvPr id="405" name="Google Shape;405;p39"/>
            <p:cNvSpPr/>
            <p:nvPr/>
          </p:nvSpPr>
          <p:spPr>
            <a:xfrm>
              <a:off x="634552" y="110785"/>
              <a:ext cx="1852875" cy="1852875"/>
            </a:xfrm>
            <a:prstGeom prst="ellipse">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39"/>
            <p:cNvSpPr/>
            <p:nvPr/>
          </p:nvSpPr>
          <p:spPr>
            <a:xfrm>
              <a:off x="1029427" y="505660"/>
              <a:ext cx="1063125" cy="1063125"/>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39"/>
            <p:cNvSpPr/>
            <p:nvPr/>
          </p:nvSpPr>
          <p:spPr>
            <a:xfrm>
              <a:off x="42240" y="2540785"/>
              <a:ext cx="3037500" cy="72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39"/>
            <p:cNvSpPr txBox="1"/>
            <p:nvPr/>
          </p:nvSpPr>
          <p:spPr>
            <a:xfrm>
              <a:off x="42240" y="2540785"/>
              <a:ext cx="3037500" cy="7200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1"/>
                </a:buClr>
                <a:buSzPts val="2500"/>
                <a:buFont typeface="Arial"/>
                <a:buNone/>
              </a:pPr>
              <a:r>
                <a:rPr lang="es-ES" sz="2500" b="1" cap="none">
                  <a:solidFill>
                    <a:schemeClr val="dk1"/>
                  </a:solidFill>
                  <a:latin typeface="Arial"/>
                  <a:ea typeface="Arial"/>
                  <a:cs typeface="Arial"/>
                  <a:sym typeface="Arial"/>
                </a:rPr>
                <a:t>JORNADA DE 8 HORAS</a:t>
              </a:r>
              <a:endParaRPr sz="2500">
                <a:solidFill>
                  <a:schemeClr val="dk1"/>
                </a:solidFill>
                <a:latin typeface="Arial"/>
                <a:ea typeface="Arial"/>
                <a:cs typeface="Arial"/>
                <a:sym typeface="Arial"/>
              </a:endParaRPr>
            </a:p>
          </p:txBody>
        </p:sp>
        <p:sp>
          <p:nvSpPr>
            <p:cNvPr id="409" name="Google Shape;409;p39"/>
            <p:cNvSpPr/>
            <p:nvPr/>
          </p:nvSpPr>
          <p:spPr>
            <a:xfrm>
              <a:off x="4203615" y="110785"/>
              <a:ext cx="1852875" cy="1852875"/>
            </a:xfrm>
            <a:prstGeom prst="ellipse">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9"/>
            <p:cNvSpPr/>
            <p:nvPr/>
          </p:nvSpPr>
          <p:spPr>
            <a:xfrm>
              <a:off x="4598490" y="505660"/>
              <a:ext cx="1063125" cy="1063125"/>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39"/>
            <p:cNvSpPr/>
            <p:nvPr/>
          </p:nvSpPr>
          <p:spPr>
            <a:xfrm>
              <a:off x="3611303" y="2540785"/>
              <a:ext cx="3037500" cy="72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39"/>
            <p:cNvSpPr txBox="1"/>
            <p:nvPr/>
          </p:nvSpPr>
          <p:spPr>
            <a:xfrm>
              <a:off x="3611303" y="2540785"/>
              <a:ext cx="3037500" cy="7200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1"/>
                </a:buClr>
                <a:buSzPts val="2500"/>
                <a:buFont typeface="Arial"/>
                <a:buNone/>
              </a:pPr>
              <a:r>
                <a:rPr lang="es-ES" sz="2500" b="1" cap="none">
                  <a:solidFill>
                    <a:schemeClr val="dk1"/>
                  </a:solidFill>
                  <a:latin typeface="Arial"/>
                  <a:ea typeface="Arial"/>
                  <a:cs typeface="Arial"/>
                  <a:sym typeface="Arial"/>
                </a:rPr>
                <a:t>VACACIONES PAGAS</a:t>
              </a:r>
              <a:endParaRPr sz="2500">
                <a:solidFill>
                  <a:schemeClr val="dk1"/>
                </a:solidFill>
                <a:latin typeface="Arial"/>
                <a:ea typeface="Arial"/>
                <a:cs typeface="Arial"/>
                <a:sym typeface="Arial"/>
              </a:endParaRPr>
            </a:p>
          </p:txBody>
        </p:sp>
        <p:sp>
          <p:nvSpPr>
            <p:cNvPr id="413" name="Google Shape;413;p39"/>
            <p:cNvSpPr/>
            <p:nvPr/>
          </p:nvSpPr>
          <p:spPr>
            <a:xfrm>
              <a:off x="7772678" y="110785"/>
              <a:ext cx="1852875" cy="1852875"/>
            </a:xfrm>
            <a:prstGeom prst="ellipse">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9"/>
            <p:cNvSpPr/>
            <p:nvPr/>
          </p:nvSpPr>
          <p:spPr>
            <a:xfrm>
              <a:off x="8167553" y="505660"/>
              <a:ext cx="1063125" cy="1063125"/>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9"/>
            <p:cNvSpPr/>
            <p:nvPr/>
          </p:nvSpPr>
          <p:spPr>
            <a:xfrm>
              <a:off x="7180365" y="2540785"/>
              <a:ext cx="3037500" cy="72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39"/>
            <p:cNvSpPr txBox="1"/>
            <p:nvPr/>
          </p:nvSpPr>
          <p:spPr>
            <a:xfrm>
              <a:off x="7180365" y="2540785"/>
              <a:ext cx="3037500" cy="7200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1"/>
                </a:buClr>
                <a:buSzPts val="2500"/>
                <a:buFont typeface="Arial"/>
                <a:buNone/>
              </a:pPr>
              <a:r>
                <a:rPr lang="es-ES" sz="2500" b="1" cap="none">
                  <a:solidFill>
                    <a:schemeClr val="dk1"/>
                  </a:solidFill>
                  <a:latin typeface="Arial"/>
                  <a:ea typeface="Arial"/>
                  <a:cs typeface="Arial"/>
                  <a:sym typeface="Arial"/>
                </a:rPr>
                <a:t>CONDICIONES DE TRABAJO DECENTES</a:t>
              </a:r>
              <a:endParaRPr sz="2500">
                <a:solidFill>
                  <a:schemeClr val="dk1"/>
                </a:solidFill>
                <a:latin typeface="Arial"/>
                <a:ea typeface="Arial"/>
                <a:cs typeface="Arial"/>
                <a:sym typeface="Arial"/>
              </a:endParaRPr>
            </a:p>
          </p:txBody>
        </p:sp>
      </p:grpSp>
    </p:spTree>
  </p:cSld>
  <p:clrMapOvr>
    <a:masterClrMapping/>
  </p:clrMapOvr>
  <p:transition spd="slow">
    <p:push dir="u"/>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Más de 2 000 imágenes gratis de Cine y Video - Pixabay">
            <a:extLst>
              <a:ext uri="{FF2B5EF4-FFF2-40B4-BE49-F238E27FC236}">
                <a16:creationId xmlns:a16="http://schemas.microsoft.com/office/drawing/2014/main" id="{471B2B2B-5449-4A3F-BCAC-7C6C4A483A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4881" y="-87674"/>
            <a:ext cx="7502237" cy="7033348"/>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33C35128-5D1D-4A61-BB36-84DAD77911A7}"/>
              </a:ext>
            </a:extLst>
          </p:cNvPr>
          <p:cNvSpPr>
            <a:spLocks noGrp="1"/>
          </p:cNvSpPr>
          <p:nvPr>
            <p:ph type="title"/>
          </p:nvPr>
        </p:nvSpPr>
        <p:spPr>
          <a:xfrm>
            <a:off x="4197926" y="182490"/>
            <a:ext cx="3796146" cy="856602"/>
          </a:xfrm>
        </p:spPr>
        <p:txBody>
          <a:bodyPr/>
          <a:lstStyle/>
          <a:p>
            <a:r>
              <a:rPr lang="es-AR" dirty="0">
                <a:solidFill>
                  <a:schemeClr val="bg1"/>
                </a:solidFill>
              </a:rPr>
              <a:t>Pelis para ver:</a:t>
            </a:r>
          </a:p>
        </p:txBody>
      </p:sp>
      <p:sp>
        <p:nvSpPr>
          <p:cNvPr id="3" name="Marcador de texto 2">
            <a:extLst>
              <a:ext uri="{FF2B5EF4-FFF2-40B4-BE49-F238E27FC236}">
                <a16:creationId xmlns:a16="http://schemas.microsoft.com/office/drawing/2014/main" id="{88A6EA8D-5BF4-4937-95CF-A147A340C154}"/>
              </a:ext>
            </a:extLst>
          </p:cNvPr>
          <p:cNvSpPr>
            <a:spLocks noGrp="1"/>
          </p:cNvSpPr>
          <p:nvPr>
            <p:ph type="body" idx="1"/>
          </p:nvPr>
        </p:nvSpPr>
        <p:spPr>
          <a:xfrm>
            <a:off x="4499263" y="2627312"/>
            <a:ext cx="3193473" cy="1603375"/>
          </a:xfrm>
        </p:spPr>
        <p:txBody>
          <a:bodyPr>
            <a:normAutofit lnSpcReduction="10000"/>
          </a:bodyPr>
          <a:lstStyle/>
          <a:p>
            <a:r>
              <a:rPr lang="es-AR" dirty="0">
                <a:solidFill>
                  <a:schemeClr val="bg1"/>
                </a:solidFill>
              </a:rPr>
              <a:t>Mundo grúa</a:t>
            </a:r>
          </a:p>
          <a:p>
            <a:r>
              <a:rPr lang="es-AR" dirty="0">
                <a:solidFill>
                  <a:schemeClr val="bg1"/>
                </a:solidFill>
              </a:rPr>
              <a:t>La maquiladora</a:t>
            </a:r>
          </a:p>
          <a:p>
            <a:r>
              <a:rPr lang="es-AR" dirty="0">
                <a:solidFill>
                  <a:schemeClr val="bg1"/>
                </a:solidFill>
              </a:rPr>
              <a:t>Norma rae</a:t>
            </a:r>
          </a:p>
        </p:txBody>
      </p:sp>
    </p:spTree>
    <p:extLst>
      <p:ext uri="{BB962C8B-B14F-4D97-AF65-F5344CB8AC3E}">
        <p14:creationId xmlns:p14="http://schemas.microsoft.com/office/powerpoint/2010/main" val="2469050789"/>
      </p:ext>
    </p:extLst>
  </p:cSld>
  <p:clrMapOvr>
    <a:masterClrMapping/>
  </p:clrMapOvr>
  <p:transition spd="slow">
    <p:push dir="u"/>
  </p:transition>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20"/>
        <p:cNvGrpSpPr/>
        <p:nvPr/>
      </p:nvGrpSpPr>
      <p:grpSpPr>
        <a:xfrm>
          <a:off x="0" y="0"/>
          <a:ext cx="0" cy="0"/>
          <a:chOff x="0" y="0"/>
          <a:chExt cx="0" cy="0"/>
        </a:xfrm>
      </p:grpSpPr>
      <p:sp>
        <p:nvSpPr>
          <p:cNvPr id="421" name="Google Shape;421;p40"/>
          <p:cNvSpPr/>
          <p:nvPr/>
        </p:nvSpPr>
        <p:spPr>
          <a:xfrm>
            <a:off x="0" y="0"/>
            <a:ext cx="12192000" cy="6858000"/>
          </a:xfrm>
          <a:prstGeom prst="rect">
            <a:avLst/>
          </a:prstGeom>
          <a:solidFill>
            <a:srgbClr val="0C0C0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422" name="Google Shape;422;p40"/>
          <p:cNvSpPr txBox="1">
            <a:spLocks noGrp="1"/>
          </p:cNvSpPr>
          <p:nvPr>
            <p:ph type="title"/>
          </p:nvPr>
        </p:nvSpPr>
        <p:spPr>
          <a:xfrm>
            <a:off x="2399234" y="2073715"/>
            <a:ext cx="6935759" cy="2993042"/>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8800"/>
              <a:buFont typeface="Play"/>
              <a:buNone/>
            </a:pPr>
            <a:r>
              <a:rPr lang="es-ES" sz="8800">
                <a:solidFill>
                  <a:schemeClr val="lt1"/>
                </a:solidFill>
                <a:latin typeface="Play"/>
                <a:ea typeface="Play"/>
                <a:cs typeface="Play"/>
                <a:sym typeface="Play"/>
              </a:rPr>
              <a:t>Gracias por escuchar</a:t>
            </a:r>
            <a:endParaRPr/>
          </a:p>
        </p:txBody>
      </p:sp>
      <p:sp>
        <p:nvSpPr>
          <p:cNvPr id="423" name="Google Shape;423;p40"/>
          <p:cNvSpPr/>
          <p:nvPr/>
        </p:nvSpPr>
        <p:spPr>
          <a:xfrm>
            <a:off x="126206" y="115193"/>
            <a:ext cx="11939588" cy="6627614"/>
          </a:xfrm>
          <a:prstGeom prst="rect">
            <a:avLst/>
          </a:prstGeom>
          <a:no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cxnSp>
        <p:nvCxnSpPr>
          <p:cNvPr id="424" name="Google Shape;424;p40"/>
          <p:cNvCxnSpPr/>
          <p:nvPr/>
        </p:nvCxnSpPr>
        <p:spPr>
          <a:xfrm rot="10800000">
            <a:off x="2399233" y="1883640"/>
            <a:ext cx="6935760" cy="0"/>
          </a:xfrm>
          <a:prstGeom prst="straightConnector1">
            <a:avLst/>
          </a:prstGeom>
          <a:noFill/>
          <a:ln w="12700" cap="flat" cmpd="sng">
            <a:solidFill>
              <a:schemeClr val="accent2"/>
            </a:solidFill>
            <a:prstDash val="solid"/>
            <a:miter lim="800000"/>
            <a:headEnd type="none" w="sm" len="sm"/>
            <a:tailEnd type="none" w="sm" len="sm"/>
          </a:ln>
        </p:spPr>
      </p:cxnSp>
      <p:cxnSp>
        <p:nvCxnSpPr>
          <p:cNvPr id="425" name="Google Shape;425;p40"/>
          <p:cNvCxnSpPr/>
          <p:nvPr/>
        </p:nvCxnSpPr>
        <p:spPr>
          <a:xfrm rot="10800000">
            <a:off x="2399233" y="5066757"/>
            <a:ext cx="6935760" cy="0"/>
          </a:xfrm>
          <a:prstGeom prst="straightConnector1">
            <a:avLst/>
          </a:prstGeom>
          <a:noFill/>
          <a:ln w="12700" cap="flat" cmpd="sng">
            <a:solidFill>
              <a:schemeClr val="accent2"/>
            </a:solidFill>
            <a:prstDash val="solid"/>
            <a:miter lim="800000"/>
            <a:headEnd type="none" w="sm" len="sm"/>
            <a:tailEnd type="none" w="sm" len="sm"/>
          </a:ln>
        </p:spPr>
      </p:cxnSp>
    </p:spTree>
  </p:cSld>
  <p:clrMapOvr>
    <a:masterClrMapping/>
  </p:clrMapOvr>
  <p:transition spd="slow">
    <p:push dir="u"/>
  </p:transition>
</p:sld>
</file>

<file path=ppt/theme/theme1.xml><?xml version="1.0" encoding="utf-8"?>
<a:theme xmlns:a="http://schemas.openxmlformats.org/drawingml/2006/main"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493</TotalTime>
  <Words>3559</Words>
  <Application>Microsoft Office PowerPoint</Application>
  <PresentationFormat>Panorámica</PresentationFormat>
  <Paragraphs>246</Paragraphs>
  <Slides>44</Slides>
  <Notes>40</Notes>
  <HiddenSlides>0</HiddenSlides>
  <MMClips>1</MMClips>
  <ScaleCrop>false</ScaleCrop>
  <HeadingPairs>
    <vt:vector size="6" baseType="variant">
      <vt:variant>
        <vt:lpstr>Fuentes usadas</vt:lpstr>
      </vt:variant>
      <vt:variant>
        <vt:i4>3</vt:i4>
      </vt:variant>
      <vt:variant>
        <vt:lpstr>Tema</vt:lpstr>
      </vt:variant>
      <vt:variant>
        <vt:i4>2</vt:i4>
      </vt:variant>
      <vt:variant>
        <vt:lpstr>Títulos de diapositiva</vt:lpstr>
      </vt:variant>
      <vt:variant>
        <vt:i4>44</vt:i4>
      </vt:variant>
    </vt:vector>
  </HeadingPairs>
  <TitlesOfParts>
    <vt:vector size="49" baseType="lpstr">
      <vt:lpstr>Calibri</vt:lpstr>
      <vt:lpstr>Play</vt:lpstr>
      <vt:lpstr>Arial</vt:lpstr>
      <vt:lpstr>Tema de Office</vt:lpstr>
      <vt:lpstr>Tema de Office</vt:lpstr>
      <vt:lpstr>Derechos del trabajador</vt:lpstr>
      <vt:lpstr>¿Qué tipo de derecho es?</vt:lpstr>
      <vt:lpstr>¿Quiénes son trabajadores?</vt:lpstr>
      <vt:lpstr>¿Qué es trabajar?</vt:lpstr>
      <vt:lpstr>Presentación de PowerPoint</vt:lpstr>
      <vt:lpstr>Artículo 14.- Todos los habitantes de la Nación gozan de los siguientes derechos conforme a las leyes que reglamenten su ejercicio; a saber: de trabajar y ejercer toda industria lícita; de navegar y comerciar; de peticionar a las autoridades; de entrar, permanecer, transitar y salir del territorio argentino; de publicar sus ideas por la prensa sin censura previa; de usar y disponer de su propiedad; de asociarse con fines útiles; de profesar libremente su culto; de enseñar y aprender.</vt:lpstr>
      <vt:lpstr>Artículo 14 bis.- El trabajo en sus diversas formas gozará de la protección de las leyes, las que asegurarán al trabajador: condiciones dignas y equitativas de labor, jornada limitada; descanso y vacaciones pagados; retribución justa; salario mínimo vital móvil; igual remuneración por igual tarea; participación en las ganancias de las empresas, con control de la producción y colaboración en la dirección; protección contra el despido arbitrario; estabilidad del empleado público; organización sindical libre y democrática, reconocida por la simple inscripción en un registro especial. </vt:lpstr>
      <vt:lpstr>Queda garantizado a los gremios: concertar convenios colectivos de trabajo; recurrir a la conciliación y al arbitraje; el derecho de huelga. Los representantes gremiales gozarán de las garantías necesarias para el cumplimiento de su gestión sindical y las relacionadas con la estabilidad de su empleo. El Estado otorgará los beneficios de la seguridad social, que tendrá carácter de integral e irrenunciable. En especial, la ley establecerá: el seguro social obligatorio, que estará a cargo de entidades nacionales o provinciales con autonomía financiera y económica, administradas por los interesados con participación del </vt:lpstr>
      <vt:lpstr>Estado, sin que pueda existir superposición de aportes; jubilaciones y pensiones móviles; la protección integral de la familia; la defensa del bien de familia; la compensación económica familiar y el acceso a una vivienda digna.</vt:lpstr>
      <vt:lpstr>Presentación de PowerPoint</vt:lpstr>
      <vt:lpstr>¿Cuánto vale una mano según la ley de riesgos del trabajo (24557)?</vt:lpstr>
      <vt:lpstr>Cuantos días de licencia se tiene por paternidad:</vt:lpstr>
      <vt:lpstr>Jornada de trabajo limitada:</vt:lpstr>
      <vt:lpstr>Presentación de PowerPoint</vt:lpstr>
      <vt:lpstr>Por antigüedad:</vt:lpstr>
      <vt:lpstr>Retribución justa:</vt:lpstr>
      <vt:lpstr> Salario mínimo, vital y móvil:</vt:lpstr>
      <vt:lpstr>Igual remuneración por igual tarea:</vt:lpstr>
      <vt:lpstr>Participación en las ganancias de las empresas, con control de la producción y colaboración en la dirección: </vt:lpstr>
      <vt:lpstr>Protección contra el despido arbitrario:</vt:lpstr>
      <vt:lpstr>¿Qué es un despido arbitrario?</vt:lpstr>
      <vt:lpstr>Causas validas :</vt:lpstr>
      <vt:lpstr>Estabilidad del empleo público:</vt:lpstr>
      <vt:lpstr>Organización sindical libre y democrática, reconocida por la simple inscripción en un registro especial:</vt:lpstr>
      <vt:lpstr>Presentación de PowerPoint</vt:lpstr>
      <vt:lpstr>¿Un trabajador realmente tiene derechos?</vt:lpstr>
      <vt:lpstr>Presentación de PowerPoint</vt:lpstr>
      <vt:lpstr>Presentación de PowerPoint</vt:lpstr>
      <vt:lpstr>Presentación de PowerPoint</vt:lpstr>
      <vt:lpstr>Que ocasionó todos estos derechos en la argentina</vt:lpstr>
      <vt:lpstr>Presentación de PowerPoint</vt:lpstr>
      <vt:lpstr>Huelga de Inquilinos (1907)</vt:lpstr>
      <vt:lpstr>Huelga de los trabajadores portuarios (1916)</vt:lpstr>
      <vt:lpstr>Huelga de los Talleres Vasena (metalúrgica)(1919) </vt:lpstr>
      <vt:lpstr>La Patagonia Rebelde (1920-1922)</vt:lpstr>
      <vt:lpstr>Huelga del Frigorífico Anglo (1930)  </vt:lpstr>
      <vt:lpstr>Huelgas Ferroviarias (1940s) </vt:lpstr>
      <vt:lpstr>Huelga General de 1956  </vt:lpstr>
      <vt:lpstr>El Cordobazo (1969) </vt:lpstr>
      <vt:lpstr>Huelga de SMATA (1975) </vt:lpstr>
      <vt:lpstr>Huelgas de los 80s durante la Dictadura Militar</vt:lpstr>
      <vt:lpstr>Cuáles son los derechos con los que nos debemos quedar:</vt:lpstr>
      <vt:lpstr>Pelis para ver:</vt:lpstr>
      <vt:lpstr>Gracias por escuchar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Derechos del trabajador</dc:title>
  <cp:lastModifiedBy>Joaquin Rodriguez Tortora</cp:lastModifiedBy>
  <cp:revision>28</cp:revision>
  <dcterms:created xsi:type="dcterms:W3CDTF">2024-07-19T15:04:13Z</dcterms:created>
  <dcterms:modified xsi:type="dcterms:W3CDTF">2024-08-13T17:11:35Z</dcterms:modified>
</cp:coreProperties>
</file>