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89" r:id="rId2"/>
    <p:sldId id="256" r:id="rId3"/>
    <p:sldId id="290" r:id="rId4"/>
    <p:sldId id="257" r:id="rId5"/>
    <p:sldId id="258" r:id="rId6"/>
    <p:sldId id="259" r:id="rId7"/>
    <p:sldId id="260" r:id="rId8"/>
    <p:sldId id="262" r:id="rId9"/>
    <p:sldId id="261" r:id="rId10"/>
    <p:sldId id="263" r:id="rId11"/>
    <p:sldId id="292" r:id="rId12"/>
    <p:sldId id="264" r:id="rId13"/>
    <p:sldId id="291"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94" r:id="rId36"/>
    <p:sldId id="286" r:id="rId37"/>
    <p:sldId id="287" r:id="rId38"/>
    <p:sldId id="288" r:id="rId39"/>
    <p:sldId id="293" r:id="rId4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7E828F-F4BC-A0F5-DEB7-104AC7AB2651}" v="182" dt="2024-05-26T17:20:34.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2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22125-240E-46DE-8E04-64B5571E33F7}" type="datetimeFigureOut">
              <a:rPr lang="es-AR" smtClean="0"/>
              <a:t>29/5/2024</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9072E-D148-4A20-9CC2-F2DB71EE6F99}" type="slidenum">
              <a:rPr lang="es-AR" smtClean="0"/>
              <a:t>‹Nº›</a:t>
            </a:fld>
            <a:endParaRPr lang="es-AR"/>
          </a:p>
        </p:txBody>
      </p:sp>
    </p:spTree>
    <p:extLst>
      <p:ext uri="{BB962C8B-B14F-4D97-AF65-F5344CB8AC3E}">
        <p14:creationId xmlns:p14="http://schemas.microsoft.com/office/powerpoint/2010/main" val="1748229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effectLst/>
                <a:latin typeface="Calibri" panose="020F0502020204030204" pitchFamily="34" charset="0"/>
                <a:ea typeface="Calibri" panose="020F0502020204030204" pitchFamily="34" charset="0"/>
                <a:cs typeface="Calibri" panose="020F0502020204030204" pitchFamily="34" charset="0"/>
              </a:rPr>
              <a:t>Superpoblación. Un problema de la sociedad actual. Hablaremos de este problema, pero…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a:t>
            </a:fld>
            <a:endParaRPr lang="es-AR"/>
          </a:p>
        </p:txBody>
      </p:sp>
    </p:spTree>
    <p:extLst>
      <p:ext uri="{BB962C8B-B14F-4D97-AF65-F5344CB8AC3E}">
        <p14:creationId xmlns:p14="http://schemas.microsoft.com/office/powerpoint/2010/main" val="3053783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effectLst/>
                <a:latin typeface="Calibri" panose="020F0502020204030204" pitchFamily="34" charset="0"/>
                <a:ea typeface="Calibri" panose="020F0502020204030204" pitchFamily="34" charset="0"/>
                <a:cs typeface="Calibri" panose="020F0502020204030204" pitchFamily="34" charset="0"/>
              </a:rPr>
              <a:t>En particular de la ciudad costera de Shanghái tomando como ejes de nuestra presentación, la urbe, la fábrica y la comida. Pero antes le daremos las pautas que seguiremos: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2</a:t>
            </a:fld>
            <a:endParaRPr lang="es-AR"/>
          </a:p>
        </p:txBody>
      </p:sp>
    </p:spTree>
    <p:extLst>
      <p:ext uri="{BB962C8B-B14F-4D97-AF65-F5344CB8AC3E}">
        <p14:creationId xmlns:p14="http://schemas.microsoft.com/office/powerpoint/2010/main" val="1512000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MX" sz="1800" b="1" dirty="0">
                <a:effectLst/>
                <a:latin typeface="Calibri" panose="020F0502020204030204" pitchFamily="34" charset="0"/>
                <a:ea typeface="Calibri" panose="020F0502020204030204" pitchFamily="34" charset="0"/>
                <a:cs typeface="Calibri" panose="020F0502020204030204" pitchFamily="34" charset="0"/>
              </a:rPr>
              <a:t>Índice: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¿Dónde está Shanghái?</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¿Cómo es su ecosistema?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¿Es un problema o un desastre ambiental?</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¿Por qué es un problema?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¿Cómo afecta a las personas o al mundo?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¿Hicieron algo para evitarlo?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¿Quiénes son los responsables?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¿Qué inicio el problema?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Soluciones posibles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a:t>
            </a:fld>
            <a:endParaRPr lang="es-AR"/>
          </a:p>
        </p:txBody>
      </p:sp>
    </p:spTree>
    <p:extLst>
      <p:ext uri="{BB962C8B-B14F-4D97-AF65-F5344CB8AC3E}">
        <p14:creationId xmlns:p14="http://schemas.microsoft.com/office/powerpoint/2010/main" val="4131235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b="1" dirty="0">
                <a:effectLst/>
                <a:latin typeface="Calibri" panose="020F0502020204030204" pitchFamily="34" charset="0"/>
                <a:ea typeface="Calibri" panose="020F0502020204030204" pitchFamily="34" charset="0"/>
                <a:cs typeface="Calibri" panose="020F0502020204030204" pitchFamily="34" charset="0"/>
              </a:rPr>
              <a:t>¿Dónde está Shanghái?</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Ubicada en el sur de china en la…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4</a:t>
            </a:fld>
            <a:endParaRPr lang="es-AR"/>
          </a:p>
        </p:txBody>
      </p:sp>
    </p:spTree>
    <p:extLst>
      <p:ext uri="{BB962C8B-B14F-4D97-AF65-F5344CB8AC3E}">
        <p14:creationId xmlns:p14="http://schemas.microsoft.com/office/powerpoint/2010/main" val="2350753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En la desembocadura del rio </a:t>
            </a:r>
            <a:r>
              <a:rPr lang="es-MX" sz="1800" b="1" dirty="0">
                <a:effectLst/>
                <a:latin typeface="Calibri" panose="020F0502020204030204" pitchFamily="34" charset="0"/>
                <a:ea typeface="Calibri" panose="020F0502020204030204" pitchFamily="34" charset="0"/>
                <a:cs typeface="Calibri" panose="020F0502020204030204" pitchFamily="34" charset="0"/>
              </a:rPr>
              <a:t>Yangtsé</a:t>
            </a:r>
            <a:r>
              <a:rPr lang="es-AR" sz="1800" dirty="0">
                <a:effectLst/>
                <a:latin typeface="Calibri" panose="020F0502020204030204" pitchFamily="34" charset="0"/>
                <a:ea typeface="Calibri" panose="020F0502020204030204" pitchFamily="34" charset="0"/>
                <a:cs typeface="Calibri" panose="020F0502020204030204" pitchFamily="34" charset="0"/>
              </a:rPr>
              <a:t>. Este es uno de los ríos más importantes de china. Empieza en el Tíbet y termina en el mar de china.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5</a:t>
            </a:fld>
            <a:endParaRPr lang="es-AR"/>
          </a:p>
        </p:txBody>
      </p:sp>
    </p:spTree>
    <p:extLst>
      <p:ext uri="{BB962C8B-B14F-4D97-AF65-F5344CB8AC3E}">
        <p14:creationId xmlns:p14="http://schemas.microsoft.com/office/powerpoint/2010/main" val="4246128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Por lo tanto, es una zona de humedales. Y en general toda china fértil, es decir un buen lugar para cultivar tanto por las precipitaciones como por su latitud.</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b="1" dirty="0">
                <a:effectLst/>
                <a:latin typeface="Calibri" panose="020F0502020204030204" pitchFamily="34" charset="0"/>
                <a:ea typeface="Calibri" panose="020F0502020204030204" pitchFamily="34" charset="0"/>
                <a:cs typeface="Calibri" panose="020F0502020204030204" pitchFamily="34" charset="0"/>
              </a:rPr>
              <a:t>¿Cómo es su ecosistema?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Como ya dijimos eso antes es de humedales. Pero más allá de eso en las cercanías hay…</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6</a:t>
            </a:fld>
            <a:endParaRPr lang="es-AR"/>
          </a:p>
        </p:txBody>
      </p:sp>
    </p:spTree>
    <p:extLst>
      <p:ext uri="{BB962C8B-B14F-4D97-AF65-F5344CB8AC3E}">
        <p14:creationId xmlns:p14="http://schemas.microsoft.com/office/powerpoint/2010/main" val="1108606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Reservas naturales como esta…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7</a:t>
            </a:fld>
            <a:endParaRPr lang="es-AR"/>
          </a:p>
        </p:txBody>
      </p:sp>
    </p:spTree>
    <p:extLst>
      <p:ext uri="{BB962C8B-B14F-4D97-AF65-F5344CB8AC3E}">
        <p14:creationId xmlns:p14="http://schemas.microsoft.com/office/powerpoint/2010/main" val="2142892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O zoológicos como este…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8</a:t>
            </a:fld>
            <a:endParaRPr lang="es-AR"/>
          </a:p>
        </p:txBody>
      </p:sp>
    </p:spTree>
    <p:extLst>
      <p:ext uri="{BB962C8B-B14F-4D97-AF65-F5344CB8AC3E}">
        <p14:creationId xmlns:p14="http://schemas.microsoft.com/office/powerpoint/2010/main" val="2432806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O jardines como estos. Como muchos imaginamos las culturas asiáticas siempre intenten combinar la ciudad con la naturaleza. Siempre buscando un equilibrio.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Entonces hasta ahora podemos decir que está perfectamente ubicada para ser una ciudad manufacturera y comercial. Debido a su cercanía a grandes cursos de agua. Aparte al ubicase en una llanura es ideal para satisfacer las necesidades humanas, entre ellas la agricultura.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9</a:t>
            </a:fld>
            <a:endParaRPr lang="es-AR"/>
          </a:p>
        </p:txBody>
      </p:sp>
    </p:spTree>
    <p:extLst>
      <p:ext uri="{BB962C8B-B14F-4D97-AF65-F5344CB8AC3E}">
        <p14:creationId xmlns:p14="http://schemas.microsoft.com/office/powerpoint/2010/main" val="3779326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b="1" dirty="0">
                <a:effectLst/>
                <a:latin typeface="Calibri" panose="020F0502020204030204" pitchFamily="34" charset="0"/>
                <a:ea typeface="Calibri" panose="020F0502020204030204" pitchFamily="34" charset="0"/>
                <a:cs typeface="Calibri" panose="020F0502020204030204" pitchFamily="34" charset="0"/>
              </a:rPr>
              <a:t>¿Por qué es un problema y no un desastre ambiental?</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Como muestra la imagen en tan solo tres años son visibles los avances de la ciudad. Cada vez se la ve más densa y con menos puntos verdes. Aparte de que se agregó tierra a los bordes de la ciudad. Por esto, es decir no apareció de un día para el otro es un problema ambiental y no un desastre.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1800" b="1" dirty="0">
                <a:effectLst/>
                <a:latin typeface="Calibri" panose="020F0502020204030204" pitchFamily="34" charset="0"/>
                <a:ea typeface="Calibri" panose="020F0502020204030204" pitchFamily="34" charset="0"/>
                <a:cs typeface="Calibri" panose="020F0502020204030204" pitchFamily="34" charset="0"/>
              </a:rPr>
              <a:t>¿Por qué es un problema?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Como vimos en otras imágenes de la presentación como en la primera, la segunda o la tercera, vemos efectos como el smog. Pero otra de las problemáticas…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10</a:t>
            </a:fld>
            <a:endParaRPr lang="es-AR"/>
          </a:p>
        </p:txBody>
      </p:sp>
    </p:spTree>
    <p:extLst>
      <p:ext uri="{BB962C8B-B14F-4D97-AF65-F5344CB8AC3E}">
        <p14:creationId xmlns:p14="http://schemas.microsoft.com/office/powerpoint/2010/main" val="2374564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Es la comida. Con 25 millones de habitantes que tiene Shanghái es todo un problema alimentarlos, vestirlos y darles un lugar donde vivir.</a:t>
            </a:r>
            <a:r>
              <a:rPr lang="es-E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Por ejemplo, un piso de 100 metros se pone en 750.000 dólares, el equivalente a 60 veces el salario medio en esa ciudad (85.000 yuanes anuales, 12.500 dólares). Por lo que un metro cuadrado son 7 500 dólares. Esto es de </a:t>
            </a:r>
            <a:r>
              <a:rPr lang="es-ES" sz="1800" dirty="0">
                <a:effectLst/>
                <a:latin typeface="Calibri" panose="020F0502020204030204" pitchFamily="34" charset="0"/>
                <a:ea typeface="Calibri" panose="020F0502020204030204" pitchFamily="34" charset="0"/>
                <a:cs typeface="Calibri" panose="020F0502020204030204" pitchFamily="34" charset="0"/>
              </a:rPr>
              <a:t>junio 2017.</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11</a:t>
            </a:fld>
            <a:endParaRPr lang="es-AR"/>
          </a:p>
        </p:txBody>
      </p:sp>
    </p:spTree>
    <p:extLst>
      <p:ext uri="{BB962C8B-B14F-4D97-AF65-F5344CB8AC3E}">
        <p14:creationId xmlns:p14="http://schemas.microsoft.com/office/powerpoint/2010/main" val="3213469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effectLst/>
                <a:latin typeface="Calibri" panose="020F0502020204030204" pitchFamily="34" charset="0"/>
                <a:ea typeface="Calibri" panose="020F0502020204030204" pitchFamily="34" charset="0"/>
                <a:cs typeface="Calibri" panose="020F0502020204030204" pitchFamily="34" charset="0"/>
              </a:rPr>
              <a:t>Hagamos otra cuenta. Una persona consume 300g de milanesa por comida maso menos. No entonces 25 millones de personas consumirán 7 500 toneladas de milanesas de pollo.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12</a:t>
            </a:fld>
            <a:endParaRPr lang="es-AR"/>
          </a:p>
        </p:txBody>
      </p:sp>
    </p:spTree>
    <p:extLst>
      <p:ext uri="{BB962C8B-B14F-4D97-AF65-F5344CB8AC3E}">
        <p14:creationId xmlns:p14="http://schemas.microsoft.com/office/powerpoint/2010/main" val="3868476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Aquí tienen un ejemplo de 300 g de milanesa, para que no digan que es mucho.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Entonces es todo un problema, mantener a todas esas personas, ¿no? Imaginen toda la basura que podrían generar.</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13</a:t>
            </a:fld>
            <a:endParaRPr lang="es-AR"/>
          </a:p>
        </p:txBody>
      </p:sp>
    </p:spTree>
    <p:extLst>
      <p:ext uri="{BB962C8B-B14F-4D97-AF65-F5344CB8AC3E}">
        <p14:creationId xmlns:p14="http://schemas.microsoft.com/office/powerpoint/2010/main" val="1198815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S" sz="1800" b="1" dirty="0">
                <a:effectLst/>
                <a:latin typeface="Calibri" panose="020F0502020204030204" pitchFamily="34" charset="0"/>
                <a:ea typeface="Calibri" panose="020F0502020204030204" pitchFamily="34" charset="0"/>
                <a:cs typeface="Calibri" panose="020F0502020204030204" pitchFamily="34" charset="0"/>
              </a:rPr>
              <a:t>¿Cómo afecta a las personas o al mundo?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Los seres humanos tenemos muchas necesidades que satisfacer entre las cuales están: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Vivienda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Familia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Agua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Comida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Calibri" panose="020F0502020204030204" pitchFamily="34" charset="0"/>
                <a:cs typeface="Calibri" panose="020F0502020204030204" pitchFamily="34" charset="0"/>
              </a:rPr>
              <a:t>Entretenimiento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Calibri" panose="020F0502020204030204" pitchFamily="34" charset="0"/>
                <a:cs typeface="Calibri" panose="020F0502020204030204" pitchFamily="34" charset="0"/>
              </a:rPr>
              <a:t>Trabajo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etc.</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En conclusión, poder dar todas estas cosas implica producir mucho con todo lo que ello conlleva, ¿no? Por lo tanto, aparte de necesitar mucho, contaminan mucho, por algo los mercados asiáticos y las leyes asiáticas son tan restringentes en cuanto a lo contaminantes que pueden ser sus vehículos. No por nada los de esa región son por regla general los más rendidores. Un ejemplo de todo lo que necesitan o producen (no debemos olvidar que es un centro industrial) 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14</a:t>
            </a:fld>
            <a:endParaRPr lang="es-AR"/>
          </a:p>
        </p:txBody>
      </p:sp>
    </p:spTree>
    <p:extLst>
      <p:ext uri="{BB962C8B-B14F-4D97-AF65-F5344CB8AC3E}">
        <p14:creationId xmlns:p14="http://schemas.microsoft.com/office/powerpoint/2010/main" val="381306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su puerto. Además, para que comparen les dejamos el de…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15</a:t>
            </a:fld>
            <a:endParaRPr lang="es-AR"/>
          </a:p>
        </p:txBody>
      </p:sp>
    </p:spTree>
    <p:extLst>
      <p:ext uri="{BB962C8B-B14F-4D97-AF65-F5344CB8AC3E}">
        <p14:creationId xmlns:p14="http://schemas.microsoft.com/office/powerpoint/2010/main" val="2087886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Buenos aires: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16</a:t>
            </a:fld>
            <a:endParaRPr lang="es-AR"/>
          </a:p>
        </p:txBody>
      </p:sp>
    </p:spTree>
    <p:extLst>
      <p:ext uri="{BB962C8B-B14F-4D97-AF65-F5344CB8AC3E}">
        <p14:creationId xmlns:p14="http://schemas.microsoft.com/office/powerpoint/2010/main" val="1484348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ahora otro ejemplo como para intentar cuantificar cuantos chinos hay:</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ahora al ser tantos se dificulta mucho conseguir trabajo, es tal la cantidad de personas que tienen que instalar redes en las calles para que la gente no se suicide.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17</a:t>
            </a:fld>
            <a:endParaRPr lang="es-AR"/>
          </a:p>
        </p:txBody>
      </p:sp>
    </p:spTree>
    <p:extLst>
      <p:ext uri="{BB962C8B-B14F-4D97-AF65-F5344CB8AC3E}">
        <p14:creationId xmlns:p14="http://schemas.microsoft.com/office/powerpoint/2010/main" val="3706518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Yo no les quiero decir nada, pero me parece que no es humano.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18</a:t>
            </a:fld>
            <a:endParaRPr lang="es-AR"/>
          </a:p>
        </p:txBody>
      </p:sp>
    </p:spTree>
    <p:extLst>
      <p:ext uri="{BB962C8B-B14F-4D97-AF65-F5344CB8AC3E}">
        <p14:creationId xmlns:p14="http://schemas.microsoft.com/office/powerpoint/2010/main" val="260004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S" sz="1800" b="1" dirty="0">
                <a:effectLst/>
                <a:latin typeface="Calibri" panose="020F0502020204030204" pitchFamily="34" charset="0"/>
                <a:ea typeface="Calibri" panose="020F0502020204030204" pitchFamily="34" charset="0"/>
                <a:cs typeface="Calibri" panose="020F0502020204030204" pitchFamily="34" charset="0"/>
              </a:rPr>
              <a:t>¿Hicieron algo para evitarlo? (decir que pasamos a la siguiente sección)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Esto genera un fenómeno particular: ¡el </a:t>
            </a:r>
            <a:r>
              <a:rPr lang="es-ES" sz="1800" dirty="0" err="1">
                <a:effectLst/>
                <a:latin typeface="Calibri" panose="020F0502020204030204" pitchFamily="34" charset="0"/>
                <a:ea typeface="Calibri" panose="020F0502020204030204" pitchFamily="34" charset="0"/>
                <a:cs typeface="Calibri" panose="020F0502020204030204" pitchFamily="34" charset="0"/>
              </a:rPr>
              <a:t>aregenchino</a:t>
            </a:r>
            <a:r>
              <a:rPr lang="es-ES" sz="1800" dirty="0">
                <a:effectLst/>
                <a:latin typeface="Calibri" panose="020F0502020204030204" pitchFamily="34" charset="0"/>
                <a:ea typeface="Calibri" panose="020F0502020204030204" pitchFamily="34" charset="0"/>
                <a:cs typeface="Calibri" panose="020F0502020204030204" pitchFamily="34" charset="0"/>
              </a:rPr>
              <a:t>! Para el que no lo entendió, migran como las ratas que son con su minimalismo de morondanga.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latin typeface="Calibri" panose="020F0502020204030204" pitchFamily="34" charset="0"/>
                <a:ea typeface="Calibri" panose="020F0502020204030204" pitchFamily="34" charset="0"/>
                <a:cs typeface="Calibri" panose="020F0502020204030204" pitchFamily="34" charset="0"/>
              </a:rPr>
              <a:t>Esto nos lleva a una de las principales medidas que aplicaron en toda china, la ley de un solo hijo. Creo que es ampliamente conocida. Pero algunos de sus castigos eran: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Multas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Aborto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Esterilización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ES" sz="1800" dirty="0">
                <a:effectLst/>
                <a:latin typeface="Calibri" panose="020F0502020204030204" pitchFamily="34" charset="0"/>
                <a:ea typeface="Calibri" panose="020F0502020204030204" pitchFamily="34" charset="0"/>
                <a:cs typeface="Calibri" panose="020F0502020204030204" pitchFamily="34" charset="0"/>
              </a:rPr>
              <a:t>Despido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Calibri" panose="020F0502020204030204" pitchFamily="34" charset="0"/>
                <a:cs typeface="Calibri" panose="020F0502020204030204" pitchFamily="34" charset="0"/>
              </a:rPr>
              <a:t>Pero a partir del 2015 dejo de estar en vigencia. Mas allá de lo anterior muchas parejas abandonaron el país para poder armar una familia como ellos quisiera en otros lugares. Un ejemplo la Argentina.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19</a:t>
            </a:fld>
            <a:endParaRPr lang="es-AR"/>
          </a:p>
        </p:txBody>
      </p:sp>
    </p:spTree>
    <p:extLst>
      <p:ext uri="{BB962C8B-B14F-4D97-AF65-F5344CB8AC3E}">
        <p14:creationId xmlns:p14="http://schemas.microsoft.com/office/powerpoint/2010/main" val="1191192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Aquí tenemos una gráfica como para demostrar lo efectiva que fue esta política. Sin embargo, demostró un serio problema, que veremos en el próximo grafico: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20</a:t>
            </a:fld>
            <a:endParaRPr lang="es-AR"/>
          </a:p>
        </p:txBody>
      </p:sp>
    </p:spTree>
    <p:extLst>
      <p:ext uri="{BB962C8B-B14F-4D97-AF65-F5344CB8AC3E}">
        <p14:creationId xmlns:p14="http://schemas.microsoft.com/office/powerpoint/2010/main" val="387615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effectLst/>
                <a:latin typeface="Calibri" panose="020F0502020204030204" pitchFamily="34" charset="0"/>
                <a:ea typeface="Calibri" panose="020F0502020204030204" pitchFamily="34" charset="0"/>
                <a:cs typeface="Calibri" panose="020F0502020204030204" pitchFamily="34" charset="0"/>
              </a:rPr>
              <a:t>El envejecimiento de la población. Al reducir la tasa de natalidad y disminuir las muertes por el aumento de la calidad de la vida, así como avances en medicina desproporcionan la población. Mas allá de la desproporción lo que preocupa de donde van a sacar remplazos para los operarios de hoy dentro de 30,40 años. Pero ese es otro fenómeno en el que no nos introduciremos.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21</a:t>
            </a:fld>
            <a:endParaRPr lang="es-AR"/>
          </a:p>
        </p:txBody>
      </p:sp>
    </p:spTree>
    <p:extLst>
      <p:ext uri="{BB962C8B-B14F-4D97-AF65-F5344CB8AC3E}">
        <p14:creationId xmlns:p14="http://schemas.microsoft.com/office/powerpoint/2010/main" val="960757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S" sz="1800" b="1" i="1" dirty="0">
                <a:effectLst/>
                <a:latin typeface="Calibri" panose="020F0502020204030204" pitchFamily="34" charset="0"/>
                <a:ea typeface="Calibri" panose="020F0502020204030204" pitchFamily="34" charset="0"/>
                <a:cs typeface="Calibri" panose="020F0502020204030204" pitchFamily="34" charset="0"/>
              </a:rPr>
              <a:t>¿Quiénes son los responsables? O los actores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i="1" dirty="0">
                <a:effectLst/>
                <a:latin typeface="Calibri" panose="020F0502020204030204" pitchFamily="34" charset="0"/>
                <a:ea typeface="Calibri" panose="020F0502020204030204" pitchFamily="34" charset="0"/>
                <a:cs typeface="Calibri" panose="020F0502020204030204" pitchFamily="34" charset="0"/>
              </a:rPr>
              <a:t>Bueno son: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Calibri" panose="020F0502020204030204" pitchFamily="34" charset="0"/>
              </a:rPr>
              <a:t>Estado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Calibri" panose="020F0502020204030204" pitchFamily="34" charset="0"/>
              </a:rPr>
              <a:t>Población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Calibri" panose="020F0502020204030204" pitchFamily="34" charset="0"/>
              </a:rPr>
              <a:t>Empresas multinacionales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Calibri" panose="020F0502020204030204" pitchFamily="34" charset="0"/>
              </a:rPr>
              <a:t>Estas últimas tienen un rol muy importante ya que además de controlar el mercado pueden controlar la distribución de la población. Las personas viven donde hay trabajo. Entonces si abriera una fábrica en el medio del desierto rodeada de desempleados las personas se pelearían por un puesto. De cierta forma eso también las hace responsables. Estos son algunos de las compañías que tienen sede en Shanghái:</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Calibri" panose="020F0502020204030204" pitchFamily="34" charset="0"/>
              </a:rPr>
              <a:t>Diapositivas de 23 a 33</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22</a:t>
            </a:fld>
            <a:endParaRPr lang="es-AR"/>
          </a:p>
        </p:txBody>
      </p:sp>
    </p:spTree>
    <p:extLst>
      <p:ext uri="{BB962C8B-B14F-4D97-AF65-F5344CB8AC3E}">
        <p14:creationId xmlns:p14="http://schemas.microsoft.com/office/powerpoint/2010/main" val="249219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Bueno, entonces las ideas con las que queremos que se queden pensando son: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Las grandes compañías son responsables del hacinamiento de la población</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Si las compañías repartieran sus sedes alrededor de todo el mundo de forma pareja sería más difícil que las personas se acumulen en un solo lugar.</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Ellos buscan trabajo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Las personas necesitan comer y para poder comer necesitan dinero y el dinero se los da el trabajo, que lo pueden encontrar en una fábrica, por ejemplo.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El estado lo permite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Los estados nunca implementan políticas como para evitar los centros urbanos. Total, si todas las fábricas están en un solo lugar, todas las personas y servicios, así como cargos públicos pueden estar más concentrados. Aparte obligar a las grandes corporaciones a seguir tus reglas capaces que las ahuyenta, algo que no es muy bueno para los negocios.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34</a:t>
            </a:fld>
            <a:endParaRPr lang="es-AR"/>
          </a:p>
        </p:txBody>
      </p:sp>
    </p:spTree>
    <p:extLst>
      <p:ext uri="{BB962C8B-B14F-4D97-AF65-F5344CB8AC3E}">
        <p14:creationId xmlns:p14="http://schemas.microsoft.com/office/powerpoint/2010/main" val="3280634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i="1" dirty="0">
                <a:effectLst/>
                <a:latin typeface="Calibri" panose="020F0502020204030204" pitchFamily="34" charset="0"/>
                <a:ea typeface="Calibri" panose="020F0502020204030204" pitchFamily="34" charset="0"/>
                <a:cs typeface="Calibri" panose="020F0502020204030204" pitchFamily="34" charset="0"/>
              </a:rPr>
              <a:t>Sin dudas en parte se la culpa se la lleva la población, pero si hay una causa es sin dudas el proceso industrial en el que participo la ciudad. En resumen, la falta de prevención por parte del gobierno, malas costumbres enredadas de generaciones anteriores, y la demanda de operarios sumado a los avances en materia de medicina, son los factores que dieron lugar al problema.</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35</a:t>
            </a:fld>
            <a:endParaRPr lang="es-AR"/>
          </a:p>
        </p:txBody>
      </p:sp>
    </p:spTree>
    <p:extLst>
      <p:ext uri="{BB962C8B-B14F-4D97-AF65-F5344CB8AC3E}">
        <p14:creationId xmlns:p14="http://schemas.microsoft.com/office/powerpoint/2010/main" val="40605252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Una de las soluciones posibles seria crear una ciudad por debajo del mar. Si se quiere que cada casa sea como un barco. De esta forma se amplía magníficamente la superficie donde se puede construir, se las pueden mover en caso de un huracán, sunami, o terremoto. Aparte es mucho más sencillo modificar las vías de comunicación. Además, estas podrían ir en las tres dimensiones. En fin, otro concepto futurista de una ciudad sustentable.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36</a:t>
            </a:fld>
            <a:endParaRPr lang="es-AR"/>
          </a:p>
        </p:txBody>
      </p:sp>
    </p:spTree>
    <p:extLst>
      <p:ext uri="{BB962C8B-B14F-4D97-AF65-F5344CB8AC3E}">
        <p14:creationId xmlns:p14="http://schemas.microsoft.com/office/powerpoint/2010/main" val="27067896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Otra posible solución sería mejorar aún más las vías de comunicación para que sea más fácil viajar grandes distancias. De esta forma ya no nos molestaría tener 30km al trabajo, porque en lugar de estar 40minutos en auto o más en bondi, por ahí lo podríamos hacer en 15 minutos. Mucho menos grave.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37</a:t>
            </a:fld>
            <a:endParaRPr lang="es-AR"/>
          </a:p>
        </p:txBody>
      </p:sp>
    </p:spTree>
    <p:extLst>
      <p:ext uri="{BB962C8B-B14F-4D97-AF65-F5344CB8AC3E}">
        <p14:creationId xmlns:p14="http://schemas.microsoft.com/office/powerpoint/2010/main" val="9903221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Y una opción más seria utilizar más tren balas y mejorar el transporte público.</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1800" i="1" dirty="0">
                <a:effectLst/>
                <a:latin typeface="Calibri" panose="020F0502020204030204" pitchFamily="34" charset="0"/>
                <a:ea typeface="Calibri" panose="020F0502020204030204" pitchFamily="34" charset="0"/>
                <a:cs typeface="Times New Roman" panose="02020603050405020304" pitchFamily="18" charset="0"/>
              </a:rPr>
              <a:t>Además, políticas y las cosas de siempre.</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38</a:t>
            </a:fld>
            <a:endParaRPr lang="es-AR"/>
          </a:p>
        </p:txBody>
      </p:sp>
    </p:spTree>
    <p:extLst>
      <p:ext uri="{BB962C8B-B14F-4D97-AF65-F5344CB8AC3E}">
        <p14:creationId xmlns:p14="http://schemas.microsoft.com/office/powerpoint/2010/main" val="3072191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i="1" dirty="0">
                <a:effectLst/>
                <a:latin typeface="Calibri" panose="020F0502020204030204" pitchFamily="34" charset="0"/>
                <a:ea typeface="Calibri" panose="020F0502020204030204" pitchFamily="34" charset="0"/>
                <a:cs typeface="Times New Roman" panose="02020603050405020304" pitchFamily="18" charset="0"/>
              </a:rPr>
              <a:t>Gracias por escucharnos.</a:t>
            </a: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AR" dirty="0"/>
          </a:p>
        </p:txBody>
      </p:sp>
      <p:sp>
        <p:nvSpPr>
          <p:cNvPr id="4" name="Marcador de número de diapositiva 3"/>
          <p:cNvSpPr>
            <a:spLocks noGrp="1"/>
          </p:cNvSpPr>
          <p:nvPr>
            <p:ph type="sldNum" sz="quarter" idx="5"/>
          </p:nvPr>
        </p:nvSpPr>
        <p:spPr/>
        <p:txBody>
          <a:bodyPr/>
          <a:lstStyle/>
          <a:p>
            <a:fld id="{F229072E-D148-4A20-9CC2-F2DB71EE6F99}" type="slidenum">
              <a:rPr lang="es-AR" smtClean="0"/>
              <a:t>39</a:t>
            </a:fld>
            <a:endParaRPr lang="es-AR"/>
          </a:p>
        </p:txBody>
      </p:sp>
    </p:spTree>
    <p:extLst>
      <p:ext uri="{BB962C8B-B14F-4D97-AF65-F5344CB8AC3E}">
        <p14:creationId xmlns:p14="http://schemas.microsoft.com/office/powerpoint/2010/main" val="115165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29/05/2024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29/05/2024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29/05/2024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29/05/2024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29/05/2024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29/05/2024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29/05/2024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29/05/2024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29/05/2024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ista en ángulo reducido de rascacielos modernos sobre un cielo dramático">
            <a:extLst>
              <a:ext uri="{FF2B5EF4-FFF2-40B4-BE49-F238E27FC236}">
                <a16:creationId xmlns:a16="http://schemas.microsoft.com/office/drawing/2014/main" id="{A5BCCC9F-4B73-E074-50C0-8DF9C38004E2}"/>
              </a:ext>
            </a:extLst>
          </p:cNvPr>
          <p:cNvPicPr>
            <a:picLocks noChangeAspect="1"/>
          </p:cNvPicPr>
          <p:nvPr/>
        </p:nvPicPr>
        <p:blipFill rotWithShape="1">
          <a:blip r:embed="rId3"/>
          <a:srcRect t="15605" r="-2" b="-2"/>
          <a:stretch/>
        </p:blipFill>
        <p:spPr>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2" name="Título 1">
            <a:extLst>
              <a:ext uri="{FF2B5EF4-FFF2-40B4-BE49-F238E27FC236}">
                <a16:creationId xmlns:a16="http://schemas.microsoft.com/office/drawing/2014/main" id="{3E3283E4-4760-378D-B17F-D5F8B8DA09D7}"/>
              </a:ext>
            </a:extLst>
          </p:cNvPr>
          <p:cNvSpPr>
            <a:spLocks noGrp="1"/>
          </p:cNvSpPr>
          <p:nvPr>
            <p:ph type="title"/>
          </p:nvPr>
        </p:nvSpPr>
        <p:spPr>
          <a:xfrm>
            <a:off x="599818" y="5234320"/>
            <a:ext cx="6931319" cy="752217"/>
          </a:xfrm>
        </p:spPr>
        <p:txBody>
          <a:bodyPr vert="horz" lIns="91440" tIns="45720" rIns="91440" bIns="45720" rtlCol="0" anchor="b">
            <a:normAutofit/>
          </a:bodyPr>
          <a:lstStyle/>
          <a:p>
            <a:r>
              <a:rPr lang="en-US" sz="3600" b="1" u="sng">
                <a:solidFill>
                  <a:schemeClr val="tx1">
                    <a:lumMod val="85000"/>
                    <a:lumOff val="15000"/>
                  </a:schemeClr>
                </a:solidFill>
              </a:rPr>
              <a:t>Super población</a:t>
            </a:r>
          </a:p>
        </p:txBody>
      </p:sp>
      <p:sp>
        <p:nvSpPr>
          <p:cNvPr id="3" name="Marcador de contenido 2">
            <a:extLst>
              <a:ext uri="{FF2B5EF4-FFF2-40B4-BE49-F238E27FC236}">
                <a16:creationId xmlns:a16="http://schemas.microsoft.com/office/drawing/2014/main" id="{82D670F1-6FA3-A02A-2F7C-AB0D1571CC01}"/>
              </a:ext>
            </a:extLst>
          </p:cNvPr>
          <p:cNvSpPr>
            <a:spLocks noGrp="1"/>
          </p:cNvSpPr>
          <p:nvPr>
            <p:ph idx="1"/>
          </p:nvPr>
        </p:nvSpPr>
        <p:spPr>
          <a:xfrm>
            <a:off x="599819" y="6059086"/>
            <a:ext cx="6931319" cy="349725"/>
          </a:xfrm>
        </p:spPr>
        <p:txBody>
          <a:bodyPr vert="horz" lIns="91440" tIns="45720" rIns="91440" bIns="45720" rtlCol="0" anchor="t">
            <a:normAutofit/>
          </a:bodyPr>
          <a:lstStyle/>
          <a:p>
            <a:pPr marL="0" indent="0">
              <a:buNone/>
            </a:pPr>
            <a:r>
              <a:rPr lang="en-US" sz="1600">
                <a:solidFill>
                  <a:schemeClr val="tx1">
                    <a:lumMod val="85000"/>
                    <a:lumOff val="15000"/>
                  </a:schemeClr>
                </a:solidFill>
              </a:rPr>
              <a:t>Un problema de la sociedad actual</a:t>
            </a:r>
          </a:p>
        </p:txBody>
      </p:sp>
    </p:spTree>
    <p:extLst>
      <p:ext uri="{BB962C8B-B14F-4D97-AF65-F5344CB8AC3E}">
        <p14:creationId xmlns:p14="http://schemas.microsoft.com/office/powerpoint/2010/main" val="3548238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Shanghái y su crecimiento en 36 años visto desde el aire">
            <a:extLst>
              <a:ext uri="{FF2B5EF4-FFF2-40B4-BE49-F238E27FC236}">
                <a16:creationId xmlns:a16="http://schemas.microsoft.com/office/drawing/2014/main" id="{8F950683-36A8-DF89-1553-39E1C2E6697E}"/>
              </a:ext>
            </a:extLst>
          </p:cNvPr>
          <p:cNvPicPr>
            <a:picLocks noChangeAspect="1"/>
          </p:cNvPicPr>
          <p:nvPr/>
        </p:nvPicPr>
        <p:blipFill rotWithShape="1">
          <a:blip r:embed="rId3"/>
          <a:srcRect t="10000"/>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1" name="Rectangle 10">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589556" y="5746071"/>
            <a:ext cx="9100215" cy="852260"/>
          </a:xfrm>
        </p:spPr>
        <p:txBody>
          <a:bodyPr anchor="ctr">
            <a:noAutofit/>
          </a:bodyPr>
          <a:lstStyle/>
          <a:p>
            <a:pPr algn="l"/>
            <a:r>
              <a:rPr lang="es-ES" sz="4000" b="1" u="sng"/>
              <a:t>Shanghái, la urbe, la fábrica y la comida:</a:t>
            </a:r>
          </a:p>
        </p:txBody>
      </p:sp>
    </p:spTree>
    <p:extLst>
      <p:ext uri="{BB962C8B-B14F-4D97-AF65-F5344CB8AC3E}">
        <p14:creationId xmlns:p14="http://schemas.microsoft.com/office/powerpoint/2010/main" val="2406273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t="-17000" b="-17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A562D6-0EB5-14C1-E3A4-5568D34583E6}"/>
              </a:ext>
            </a:extLst>
          </p:cNvPr>
          <p:cNvSpPr>
            <a:spLocks noGrp="1"/>
          </p:cNvSpPr>
          <p:nvPr>
            <p:ph type="title"/>
          </p:nvPr>
        </p:nvSpPr>
        <p:spPr/>
        <p:txBody>
          <a:bodyPr/>
          <a:lstStyle/>
          <a:p>
            <a:r>
              <a:rPr lang="es-ES" b="1" u="sng"/>
              <a:t>Índice:</a:t>
            </a:r>
          </a:p>
        </p:txBody>
      </p:sp>
      <p:sp>
        <p:nvSpPr>
          <p:cNvPr id="3" name="Marcador de contenido 2">
            <a:extLst>
              <a:ext uri="{FF2B5EF4-FFF2-40B4-BE49-F238E27FC236}">
                <a16:creationId xmlns:a16="http://schemas.microsoft.com/office/drawing/2014/main" id="{CE321B10-F40C-E2F5-741B-024D1FC7C976}"/>
              </a:ext>
            </a:extLst>
          </p:cNvPr>
          <p:cNvSpPr>
            <a:spLocks noGrp="1"/>
          </p:cNvSpPr>
          <p:nvPr>
            <p:ph idx="1"/>
          </p:nvPr>
        </p:nvSpPr>
        <p:spPr/>
        <p:txBody>
          <a:bodyPr vert="horz" lIns="91440" tIns="45720" rIns="91440" bIns="45720" rtlCol="0" anchor="t">
            <a:normAutofit lnSpcReduction="10000"/>
          </a:bodyPr>
          <a:lstStyle/>
          <a:p>
            <a:r>
              <a:rPr lang="es-ES"/>
              <a:t>¿Dónde está Shanghái?</a:t>
            </a:r>
          </a:p>
          <a:p>
            <a:r>
              <a:rPr lang="es-ES"/>
              <a:t>¿Cómo es su ecosistema?</a:t>
            </a:r>
          </a:p>
          <a:p>
            <a:r>
              <a:rPr lang="es-ES"/>
              <a:t>¿Es un problema o un desastre?</a:t>
            </a:r>
          </a:p>
          <a:p>
            <a:r>
              <a:rPr lang="es-ES"/>
              <a:t>¿Por qué es un problema?</a:t>
            </a:r>
          </a:p>
          <a:p>
            <a:r>
              <a:rPr lang="es-ES"/>
              <a:t>¿Cómo afecta a las personas o al mundo?</a:t>
            </a:r>
          </a:p>
          <a:p>
            <a:r>
              <a:rPr lang="es-ES"/>
              <a:t>¿Hicieron algo para evitarlo?</a:t>
            </a:r>
          </a:p>
          <a:p>
            <a:r>
              <a:rPr lang="es-ES"/>
              <a:t>¿Quiénes son los responsables?</a:t>
            </a:r>
          </a:p>
          <a:p>
            <a:r>
              <a:rPr lang="es-ES"/>
              <a:t>¿Qué inicio el problema?</a:t>
            </a:r>
          </a:p>
          <a:p>
            <a:r>
              <a:rPr lang="es-ES"/>
              <a:t>Soluciones posibles</a:t>
            </a:r>
          </a:p>
        </p:txBody>
      </p:sp>
    </p:spTree>
    <p:extLst>
      <p:ext uri="{BB962C8B-B14F-4D97-AF65-F5344CB8AC3E}">
        <p14:creationId xmlns:p14="http://schemas.microsoft.com/office/powerpoint/2010/main" val="44620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26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7A16C2-794B-D86A-0055-DCD6A6B9EF3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a:solidFill>
                  <a:srgbClr val="FFFFFF"/>
                </a:solidFill>
              </a:rPr>
              <a:t>¿Donde </a:t>
            </a:r>
            <a:r>
              <a:rPr lang="en-US" sz="2600" err="1">
                <a:solidFill>
                  <a:srgbClr val="FFFFFF"/>
                </a:solidFill>
              </a:rPr>
              <a:t>esta</a:t>
            </a:r>
            <a:r>
              <a:rPr lang="en-US" sz="2600">
                <a:solidFill>
                  <a:srgbClr val="FFFFFF"/>
                </a:solidFill>
              </a:rPr>
              <a:t> Shanghai?</a:t>
            </a:r>
            <a:endParaRPr lang="en-US" sz="2600" kern="1200">
              <a:solidFill>
                <a:srgbClr val="FFFFFF"/>
              </a:solidFill>
              <a:latin typeface="+mj-lt"/>
            </a:endParaRPr>
          </a:p>
        </p:txBody>
      </p:sp>
      <p:pic>
        <p:nvPicPr>
          <p:cNvPr id="6" name="Imagen 5" descr="Mapa&#10;&#10;Descripción generada automáticamente">
            <a:extLst>
              <a:ext uri="{FF2B5EF4-FFF2-40B4-BE49-F238E27FC236}">
                <a16:creationId xmlns:a16="http://schemas.microsoft.com/office/drawing/2014/main" id="{C54DCE43-C5EE-2C80-B01E-A155473FDECB}"/>
              </a:ext>
            </a:extLst>
          </p:cNvPr>
          <p:cNvPicPr>
            <a:picLocks noChangeAspect="1"/>
          </p:cNvPicPr>
          <p:nvPr/>
        </p:nvPicPr>
        <p:blipFill rotWithShape="1">
          <a:blip r:embed="rId3"/>
          <a:srcRect l="38253" t="25991" r="16057" b="19603"/>
          <a:stretch/>
        </p:blipFill>
        <p:spPr>
          <a:xfrm>
            <a:off x="4038600" y="1137652"/>
            <a:ext cx="7188199" cy="4579306"/>
          </a:xfrm>
          <a:prstGeom prst="rect">
            <a:avLst/>
          </a:prstGeom>
        </p:spPr>
      </p:pic>
      <p:sp>
        <p:nvSpPr>
          <p:cNvPr id="7" name="Elipse 6">
            <a:extLst>
              <a:ext uri="{FF2B5EF4-FFF2-40B4-BE49-F238E27FC236}">
                <a16:creationId xmlns:a16="http://schemas.microsoft.com/office/drawing/2014/main" id="{DEA5A211-6E76-0FCD-24E2-8A1DC91C4B06}"/>
              </a:ext>
            </a:extLst>
          </p:cNvPr>
          <p:cNvSpPr>
            <a:spLocks/>
          </p:cNvSpPr>
          <p:nvPr/>
        </p:nvSpPr>
        <p:spPr>
          <a:xfrm>
            <a:off x="8125672" y="3181914"/>
            <a:ext cx="2113471" cy="2214113"/>
          </a:xfrm>
          <a:prstGeom prst="ellipse">
            <a:avLst/>
          </a:prstGeom>
          <a:noFill/>
          <a:ln w="57150">
            <a:solidFill>
              <a:srgbClr val="FF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911699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576072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El puerto de Shanghai: el indiscutible rey asiático – Transglory">
            <a:extLst>
              <a:ext uri="{FF2B5EF4-FFF2-40B4-BE49-F238E27FC236}">
                <a16:creationId xmlns:a16="http://schemas.microsoft.com/office/drawing/2014/main" id="{332DC038-6CB5-5EC9-6BB5-5AE3006679BB}"/>
              </a:ext>
            </a:extLst>
          </p:cNvPr>
          <p:cNvPicPr>
            <a:picLocks noChangeAspect="1"/>
          </p:cNvPicPr>
          <p:nvPr/>
        </p:nvPicPr>
        <p:blipFill rotWithShape="1">
          <a:blip r:embed="rId3"/>
          <a:srcRect t="5875"/>
          <a:stretch/>
        </p:blipFill>
        <p:spPr>
          <a:xfrm>
            <a:off x="20" y="1282"/>
            <a:ext cx="12191980" cy="6856718"/>
          </a:xfrm>
          <a:prstGeom prst="rect">
            <a:avLst/>
          </a:prstGeom>
        </p:spPr>
      </p:pic>
      <p:sp>
        <p:nvSpPr>
          <p:cNvPr id="3" name="CuadroTexto 2">
            <a:extLst>
              <a:ext uri="{FF2B5EF4-FFF2-40B4-BE49-F238E27FC236}">
                <a16:creationId xmlns:a16="http://schemas.microsoft.com/office/drawing/2014/main" id="{98A35AEB-14E4-C022-7747-1155C013DD7E}"/>
              </a:ext>
            </a:extLst>
          </p:cNvPr>
          <p:cNvSpPr txBox="1"/>
          <p:nvPr/>
        </p:nvSpPr>
        <p:spPr>
          <a:xfrm>
            <a:off x="6088605" y="1132114"/>
            <a:ext cx="240101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MX" sz="4000" b="1">
                <a:latin typeface="Calibri"/>
                <a:ea typeface="Calibri"/>
                <a:cs typeface="Calibri"/>
              </a:rPr>
              <a:t>Yangtsé</a:t>
            </a:r>
            <a:endParaRPr lang="es-ES" sz="4000" b="1"/>
          </a:p>
        </p:txBody>
      </p:sp>
      <p:cxnSp>
        <p:nvCxnSpPr>
          <p:cNvPr id="9" name="Conector recto de flecha 8">
            <a:extLst>
              <a:ext uri="{FF2B5EF4-FFF2-40B4-BE49-F238E27FC236}">
                <a16:creationId xmlns:a16="http://schemas.microsoft.com/office/drawing/2014/main" id="{B1C09E2D-E584-92D7-0130-8D9F87463BAD}"/>
              </a:ext>
            </a:extLst>
          </p:cNvPr>
          <p:cNvCxnSpPr/>
          <p:nvPr/>
        </p:nvCxnSpPr>
        <p:spPr>
          <a:xfrm flipH="1">
            <a:off x="5769428" y="1894114"/>
            <a:ext cx="503207" cy="1653396"/>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95427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79D067F9-D205-2FEA-482F-14EC95432D41}"/>
              </a:ext>
            </a:extLst>
          </p:cNvPr>
          <p:cNvSpPr txBox="1"/>
          <p:nvPr/>
        </p:nvSpPr>
        <p:spPr>
          <a:xfrm>
            <a:off x="643468" y="643467"/>
            <a:ext cx="4620584" cy="4567137"/>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400">
                <a:latin typeface="+mj-lt"/>
                <a:ea typeface="+mj-ea"/>
                <a:cs typeface="+mj-cs"/>
              </a:rPr>
              <a:t>Reserva natural:</a:t>
            </a:r>
          </a:p>
          <a:p>
            <a:pPr>
              <a:lnSpc>
                <a:spcPct val="90000"/>
              </a:lnSpc>
              <a:spcBef>
                <a:spcPct val="0"/>
              </a:spcBef>
              <a:spcAft>
                <a:spcPts val="600"/>
              </a:spcAft>
            </a:pPr>
            <a:endParaRPr lang="en-US" sz="4400">
              <a:latin typeface="+mj-lt"/>
              <a:ea typeface="+mj-ea"/>
              <a:cs typeface="+mj-cs"/>
            </a:endParaRPr>
          </a:p>
          <a:p>
            <a:pPr>
              <a:lnSpc>
                <a:spcPct val="90000"/>
              </a:lnSpc>
              <a:spcBef>
                <a:spcPct val="0"/>
              </a:spcBef>
              <a:spcAft>
                <a:spcPts val="600"/>
              </a:spcAft>
            </a:pPr>
            <a:endParaRPr lang="en-US" sz="4400">
              <a:latin typeface="+mj-lt"/>
              <a:ea typeface="+mj-ea"/>
              <a:cs typeface="+mj-cs"/>
            </a:endParaRPr>
          </a:p>
        </p:txBody>
      </p:sp>
      <p:pic>
        <p:nvPicPr>
          <p:cNvPr id="2" name="Imagen 1" descr="Chongming Dongtan Nature Reserve, Shanghai | Servicio de Información sobre  Sitios Ramsar">
            <a:extLst>
              <a:ext uri="{FF2B5EF4-FFF2-40B4-BE49-F238E27FC236}">
                <a16:creationId xmlns:a16="http://schemas.microsoft.com/office/drawing/2014/main" id="{83AEAFF8-42B7-3C8D-9292-53D878FB6B43}"/>
              </a:ext>
            </a:extLst>
          </p:cNvPr>
          <p:cNvPicPr>
            <a:picLocks noChangeAspect="1"/>
          </p:cNvPicPr>
          <p:nvPr/>
        </p:nvPicPr>
        <p:blipFill rotWithShape="1">
          <a:blip r:embed="rId3"/>
          <a:srcRect r="13054"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977587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Zoológico de Shanghai (Shanghai Dongwu Yuan), Shanghái: Cosas que Debe  Saber ANTES de Visitar">
            <a:extLst>
              <a:ext uri="{FF2B5EF4-FFF2-40B4-BE49-F238E27FC236}">
                <a16:creationId xmlns:a16="http://schemas.microsoft.com/office/drawing/2014/main" id="{78183CFD-8045-D46D-28EA-09C183A3180D}"/>
              </a:ext>
            </a:extLst>
          </p:cNvPr>
          <p:cNvPicPr>
            <a:picLocks noChangeAspect="1"/>
          </p:cNvPicPr>
          <p:nvPr/>
        </p:nvPicPr>
        <p:blipFill rotWithShape="1">
          <a:blip r:embed="rId3"/>
          <a:srcRect t="6398" b="9031"/>
          <a:stretch/>
        </p:blipFill>
        <p:spPr>
          <a:xfrm>
            <a:off x="20" y="1282"/>
            <a:ext cx="12191980" cy="6856718"/>
          </a:xfrm>
          <a:prstGeom prst="rect">
            <a:avLst/>
          </a:prstGeom>
        </p:spPr>
      </p:pic>
    </p:spTree>
    <p:extLst>
      <p:ext uri="{BB962C8B-B14F-4D97-AF65-F5344CB8AC3E}">
        <p14:creationId xmlns:p14="http://schemas.microsoft.com/office/powerpoint/2010/main" val="520312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Parques en Shanghai - los parques y jardines más bonitos | minube">
            <a:extLst>
              <a:ext uri="{FF2B5EF4-FFF2-40B4-BE49-F238E27FC236}">
                <a16:creationId xmlns:a16="http://schemas.microsoft.com/office/drawing/2014/main" id="{7DEBAAA2-68B3-FBC4-1C37-181D0D7602C3}"/>
              </a:ext>
            </a:extLst>
          </p:cNvPr>
          <p:cNvPicPr>
            <a:picLocks noChangeAspect="1"/>
          </p:cNvPicPr>
          <p:nvPr/>
        </p:nvPicPr>
        <p:blipFill rotWithShape="1">
          <a:blip r:embed="rId3"/>
          <a:srcRect t="7927" b="29585"/>
          <a:stretch/>
        </p:blipFill>
        <p:spPr>
          <a:xfrm>
            <a:off x="20" y="1282"/>
            <a:ext cx="12191980" cy="6856718"/>
          </a:xfrm>
          <a:prstGeom prst="rect">
            <a:avLst/>
          </a:prstGeom>
        </p:spPr>
      </p:pic>
    </p:spTree>
    <p:extLst>
      <p:ext uri="{BB962C8B-B14F-4D97-AF65-F5344CB8AC3E}">
        <p14:creationId xmlns:p14="http://schemas.microsoft.com/office/powerpoint/2010/main" val="1874798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a:extLst>
              <a:ext uri="{FF2B5EF4-FFF2-40B4-BE49-F238E27FC236}">
                <a16:creationId xmlns:a16="http://schemas.microsoft.com/office/drawing/2014/main" id="{A5379084-DCA2-E73C-06E0-186C772AE0D6}"/>
              </a:ext>
            </a:extLst>
          </p:cNvPr>
          <p:cNvSpPr txBox="1"/>
          <p:nvPr/>
        </p:nvSpPr>
        <p:spPr>
          <a:xfrm>
            <a:off x="1001684" y="170412"/>
            <a:ext cx="10178934" cy="132873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5200" b="1" u="sng" kern="1200">
                <a:solidFill>
                  <a:schemeClr val="tx1"/>
                </a:solidFill>
                <a:latin typeface="+mj-lt"/>
                <a:ea typeface="+mj-ea"/>
                <a:cs typeface="+mj-cs"/>
              </a:rPr>
              <a:t>Se gesto por mucho tiempo:</a:t>
            </a:r>
            <a:endParaRPr lang="en-US" sz="5200" u="sng" kern="1200">
              <a:solidFill>
                <a:schemeClr val="tx1"/>
              </a:solidFill>
              <a:latin typeface="+mj-lt"/>
              <a:ea typeface="+mj-ea"/>
              <a:cs typeface="+mj-cs"/>
            </a:endParaRPr>
          </a:p>
        </p:txBody>
      </p:sp>
      <p:pic>
        <p:nvPicPr>
          <p:cNvPr id="2" name="Imagen 1" descr="La expansión de Shangai">
            <a:extLst>
              <a:ext uri="{FF2B5EF4-FFF2-40B4-BE49-F238E27FC236}">
                <a16:creationId xmlns:a16="http://schemas.microsoft.com/office/drawing/2014/main" id="{F090B63C-CD5B-87CE-24EB-DD344741AC98}"/>
              </a:ext>
            </a:extLst>
          </p:cNvPr>
          <p:cNvPicPr>
            <a:picLocks noChangeAspect="1"/>
          </p:cNvPicPr>
          <p:nvPr/>
        </p:nvPicPr>
        <p:blipFill rotWithShape="1">
          <a:blip r:embed="rId3"/>
          <a:srcRect t="3196" r="-2" b="-2"/>
          <a:stretch/>
        </p:blipFill>
        <p:spPr>
          <a:xfrm>
            <a:off x="198741" y="2410448"/>
            <a:ext cx="5803323" cy="3890357"/>
          </a:xfrm>
          <a:prstGeom prst="rect">
            <a:avLst/>
          </a:prstGeom>
        </p:spPr>
      </p:pic>
      <p:pic>
        <p:nvPicPr>
          <p:cNvPr id="4" name="Imagen 3" descr="La expansión de Shangai">
            <a:extLst>
              <a:ext uri="{FF2B5EF4-FFF2-40B4-BE49-F238E27FC236}">
                <a16:creationId xmlns:a16="http://schemas.microsoft.com/office/drawing/2014/main" id="{01A994BA-E05B-BF7C-72D3-EE1C24DD5243}"/>
              </a:ext>
            </a:extLst>
          </p:cNvPr>
          <p:cNvPicPr>
            <a:picLocks noChangeAspect="1"/>
          </p:cNvPicPr>
          <p:nvPr/>
        </p:nvPicPr>
        <p:blipFill rotWithShape="1">
          <a:blip r:embed="rId4"/>
          <a:srcRect t="3196" r="-2" b="-2"/>
          <a:stretch/>
        </p:blipFill>
        <p:spPr>
          <a:xfrm>
            <a:off x="6189934" y="2410448"/>
            <a:ext cx="5803323" cy="3890357"/>
          </a:xfrm>
          <a:prstGeom prst="rect">
            <a:avLst/>
          </a:prstGeom>
        </p:spPr>
      </p:pic>
    </p:spTree>
    <p:extLst>
      <p:ext uri="{BB962C8B-B14F-4D97-AF65-F5344CB8AC3E}">
        <p14:creationId xmlns:p14="http://schemas.microsoft.com/office/powerpoint/2010/main" val="364318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eclas de cajas registradoras antiguas">
            <a:extLst>
              <a:ext uri="{FF2B5EF4-FFF2-40B4-BE49-F238E27FC236}">
                <a16:creationId xmlns:a16="http://schemas.microsoft.com/office/drawing/2014/main" id="{FDBBE713-3A10-DC4E-FC10-2EFC6497F7B5}"/>
              </a:ext>
            </a:extLst>
          </p:cNvPr>
          <p:cNvPicPr>
            <a:picLocks noChangeAspect="1"/>
          </p:cNvPicPr>
          <p:nvPr/>
        </p:nvPicPr>
        <p:blipFill rotWithShape="1">
          <a:blip r:embed="rId3"/>
          <a:srcRect l="11932" r="14631" b="-5"/>
          <a:stretch/>
        </p:blipFill>
        <p:spPr>
          <a:xfrm>
            <a:off x="-9886" y="10"/>
            <a:ext cx="7572605" cy="6857990"/>
          </a:xfrm>
          <a:prstGeom prst="rect">
            <a:avLst/>
          </a:prstGeom>
        </p:spPr>
      </p:pic>
      <p:cxnSp>
        <p:nvCxnSpPr>
          <p:cNvPr id="8" name="Straight Connector 7">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0B8F088B-0111-041D-A02F-14966F99F5AD}"/>
              </a:ext>
            </a:extLst>
          </p:cNvPr>
          <p:cNvSpPr txBox="1"/>
          <p:nvPr/>
        </p:nvSpPr>
        <p:spPr>
          <a:xfrm>
            <a:off x="8182154" y="1134383"/>
            <a:ext cx="3405426" cy="500800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s-AR" sz="2400" b="1"/>
              <a:t>Salario promedio=85 000 yuanes = 12 500 dólares</a:t>
            </a:r>
          </a:p>
          <a:p>
            <a:pPr indent="-228600">
              <a:lnSpc>
                <a:spcPct val="90000"/>
              </a:lnSpc>
              <a:spcAft>
                <a:spcPts val="600"/>
              </a:spcAft>
              <a:buFont typeface="Arial" panose="020B0604020202020204" pitchFamily="34" charset="0"/>
              <a:buChar char="•"/>
            </a:pPr>
            <a:r>
              <a:rPr lang="es-AR" sz="2400" b="1"/>
              <a:t>100 metros cuadrados= 750 000 dólares= 5 100 000 yuanes=60 salarios promedio chinos= 661 151 400 pesos argentinos</a:t>
            </a:r>
          </a:p>
          <a:p>
            <a:pPr indent="-228600">
              <a:lnSpc>
                <a:spcPct val="90000"/>
              </a:lnSpc>
              <a:spcAft>
                <a:spcPts val="600"/>
              </a:spcAft>
              <a:buFont typeface="Arial" panose="020B0604020202020204" pitchFamily="34" charset="0"/>
              <a:buChar char="•"/>
            </a:pPr>
            <a:r>
              <a:rPr lang="es-AR" sz="2400" b="1"/>
              <a:t>1metro cuadrado= 7 500 dólares= 51 000 yuanes= 6 611 514 pesos argentinos </a:t>
            </a:r>
          </a:p>
          <a:p>
            <a:pPr indent="-228600">
              <a:lnSpc>
                <a:spcPct val="90000"/>
              </a:lnSpc>
              <a:spcAft>
                <a:spcPts val="600"/>
              </a:spcAft>
              <a:buFont typeface="Arial" panose="020B0604020202020204" pitchFamily="34" charset="0"/>
              <a:buChar char="•"/>
            </a:pPr>
            <a:r>
              <a:rPr lang="en-US" sz="2400" b="1"/>
              <a:t>(11/5/2024)</a:t>
            </a:r>
            <a:endParaRPr lang="en-US"/>
          </a:p>
        </p:txBody>
      </p:sp>
    </p:spTree>
    <p:extLst>
      <p:ext uri="{BB962C8B-B14F-4D97-AF65-F5344CB8AC3E}">
        <p14:creationId xmlns:p14="http://schemas.microsoft.com/office/powerpoint/2010/main" val="879271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bujo con tiza de personas que representan diferentes géneros">
            <a:extLst>
              <a:ext uri="{FF2B5EF4-FFF2-40B4-BE49-F238E27FC236}">
                <a16:creationId xmlns:a16="http://schemas.microsoft.com/office/drawing/2014/main" id="{25E4FF42-7F90-AE79-0D55-B999F180813C}"/>
              </a:ext>
            </a:extLst>
          </p:cNvPr>
          <p:cNvPicPr>
            <a:picLocks noChangeAspect="1"/>
          </p:cNvPicPr>
          <p:nvPr/>
        </p:nvPicPr>
        <p:blipFill rotWithShape="1">
          <a:blip r:embed="rId3"/>
          <a:srcRect t="12638" r="-2" b="3088"/>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96C90B9-E3DB-886E-15ED-1934E5FB168B}"/>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1 persona =300g de milanesa</a:t>
            </a:r>
          </a:p>
        </p:txBody>
      </p:sp>
      <p:sp>
        <p:nvSpPr>
          <p:cNvPr id="3" name="Marcador de texto 2">
            <a:extLst>
              <a:ext uri="{FF2B5EF4-FFF2-40B4-BE49-F238E27FC236}">
                <a16:creationId xmlns:a16="http://schemas.microsoft.com/office/drawing/2014/main" id="{628C2211-E021-B336-74BE-ACD9C85B2666}"/>
              </a:ext>
            </a:extLst>
          </p:cNvPr>
          <p:cNvSpPr>
            <a:spLocks noGrp="1"/>
          </p:cNvSpPr>
          <p:nvPr>
            <p:ph type="body"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a:solidFill>
                  <a:srgbClr val="FFFFFF"/>
                </a:solidFill>
              </a:rPr>
              <a:t>25 000 000 personas = 7 500 toneladas de milanesa</a:t>
            </a:r>
          </a:p>
        </p:txBody>
      </p:sp>
    </p:spTree>
    <p:extLst>
      <p:ext uri="{BB962C8B-B14F-4D97-AF65-F5344CB8AC3E}">
        <p14:creationId xmlns:p14="http://schemas.microsoft.com/office/powerpoint/2010/main" val="1778793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3D897EC-8946-84AF-F398-25B970472F0B}"/>
              </a:ext>
            </a:extLst>
          </p:cNvPr>
          <p:cNvPicPr>
            <a:picLocks noChangeAspect="1"/>
          </p:cNvPicPr>
          <p:nvPr/>
        </p:nvPicPr>
        <p:blipFill>
          <a:blip r:embed="rId3"/>
          <a:stretch>
            <a:fillRect/>
          </a:stretch>
        </p:blipFill>
        <p:spPr>
          <a:xfrm>
            <a:off x="3874339" y="435994"/>
            <a:ext cx="4428944" cy="6417333"/>
          </a:xfrm>
          <a:prstGeom prst="rect">
            <a:avLst/>
          </a:prstGeom>
        </p:spPr>
      </p:pic>
    </p:spTree>
    <p:extLst>
      <p:ext uri="{BB962C8B-B14F-4D97-AF65-F5344CB8AC3E}">
        <p14:creationId xmlns:p14="http://schemas.microsoft.com/office/powerpoint/2010/main" val="1984343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descr="un filete rodeado por un edificio, un plato de comida, una oficina, un río, una familia, cada uno rodeado por una nube y menos realistas los dibujos.">
            <a:extLst>
              <a:ext uri="{FF2B5EF4-FFF2-40B4-BE49-F238E27FC236}">
                <a16:creationId xmlns:a16="http://schemas.microsoft.com/office/drawing/2014/main" id="{82E25869-41BE-D22C-8935-4A323F2C201C}"/>
              </a:ext>
            </a:extLst>
          </p:cNvPr>
          <p:cNvPicPr>
            <a:picLocks noChangeAspect="1"/>
          </p:cNvPicPr>
          <p:nvPr/>
        </p:nvPicPr>
        <p:blipFill rotWithShape="1">
          <a:blip r:embed="rId3"/>
          <a:srcRect t="1130"/>
          <a:stretch/>
        </p:blipFill>
        <p:spPr>
          <a:xfrm>
            <a:off x="1" y="10"/>
            <a:ext cx="6936390" cy="6857990"/>
          </a:xfrm>
          <a:prstGeom prst="rect">
            <a:avLst/>
          </a:prstGeom>
        </p:spPr>
      </p:pic>
      <p:sp>
        <p:nvSpPr>
          <p:cNvPr id="3" name="CuadroTexto 2">
            <a:extLst>
              <a:ext uri="{FF2B5EF4-FFF2-40B4-BE49-F238E27FC236}">
                <a16:creationId xmlns:a16="http://schemas.microsoft.com/office/drawing/2014/main" id="{0A917618-FB07-112C-B550-D09ADCD6CFE6}"/>
              </a:ext>
            </a:extLst>
          </p:cNvPr>
          <p:cNvSpPr txBox="1"/>
          <p:nvPr/>
        </p:nvSpPr>
        <p:spPr>
          <a:xfrm>
            <a:off x="7531610" y="2434201"/>
            <a:ext cx="3822189" cy="37427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800" b="1" u="sng" dirty="0" err="1"/>
              <a:t>Necesidades</a:t>
            </a:r>
            <a:r>
              <a:rPr lang="en-US" sz="2800" b="1" u="sng" dirty="0"/>
              <a:t>:</a:t>
            </a:r>
            <a:endParaRPr lang="es-ES" sz="2800" dirty="0"/>
          </a:p>
          <a:p>
            <a:pPr marL="285750" indent="-228600">
              <a:lnSpc>
                <a:spcPct val="90000"/>
              </a:lnSpc>
              <a:spcAft>
                <a:spcPts val="600"/>
              </a:spcAft>
              <a:buFont typeface="Arial" panose="020B0604020202020204" pitchFamily="34" charset="0"/>
              <a:buChar char="•"/>
            </a:pPr>
            <a:r>
              <a:rPr lang="en-US" sz="2400" dirty="0"/>
              <a:t>Vivienda</a:t>
            </a:r>
          </a:p>
          <a:p>
            <a:pPr marL="285750" indent="-228600">
              <a:lnSpc>
                <a:spcPct val="90000"/>
              </a:lnSpc>
              <a:spcAft>
                <a:spcPts val="600"/>
              </a:spcAft>
              <a:buFont typeface="Arial" panose="020B0604020202020204" pitchFamily="34" charset="0"/>
              <a:buChar char="•"/>
            </a:pPr>
            <a:r>
              <a:rPr lang="en-US" sz="2400" dirty="0"/>
              <a:t>Familia</a:t>
            </a:r>
          </a:p>
          <a:p>
            <a:pPr marL="285750" indent="-228600">
              <a:lnSpc>
                <a:spcPct val="90000"/>
              </a:lnSpc>
              <a:spcAft>
                <a:spcPts val="600"/>
              </a:spcAft>
              <a:buFont typeface="Arial" panose="020B0604020202020204" pitchFamily="34" charset="0"/>
              <a:buChar char="•"/>
            </a:pPr>
            <a:r>
              <a:rPr lang="en-US" sz="2400" dirty="0"/>
              <a:t>Agua</a:t>
            </a:r>
          </a:p>
          <a:p>
            <a:pPr marL="285750" indent="-228600">
              <a:lnSpc>
                <a:spcPct val="90000"/>
              </a:lnSpc>
              <a:spcAft>
                <a:spcPts val="600"/>
              </a:spcAft>
              <a:buFont typeface="Arial" panose="020B0604020202020204" pitchFamily="34" charset="0"/>
              <a:buChar char="•"/>
            </a:pPr>
            <a:r>
              <a:rPr lang="en-US" sz="2400" dirty="0"/>
              <a:t>Comida</a:t>
            </a:r>
          </a:p>
          <a:p>
            <a:pPr marL="285750" indent="-228600">
              <a:lnSpc>
                <a:spcPct val="90000"/>
              </a:lnSpc>
              <a:spcAft>
                <a:spcPts val="600"/>
              </a:spcAft>
              <a:buFont typeface="Arial" panose="020B0604020202020204" pitchFamily="34" charset="0"/>
              <a:buChar char="•"/>
            </a:pPr>
            <a:r>
              <a:rPr lang="en-US" sz="2400" dirty="0"/>
              <a:t>Entretenimiento</a:t>
            </a:r>
          </a:p>
          <a:p>
            <a:pPr marL="285750" indent="-228600">
              <a:lnSpc>
                <a:spcPct val="90000"/>
              </a:lnSpc>
              <a:spcAft>
                <a:spcPts val="600"/>
              </a:spcAft>
              <a:buFont typeface="Arial" panose="020B0604020202020204" pitchFamily="34" charset="0"/>
              <a:buChar char="•"/>
            </a:pPr>
            <a:r>
              <a:rPr lang="en-US" sz="2400" dirty="0" err="1"/>
              <a:t>Trabajo</a:t>
            </a:r>
            <a:endParaRPr lang="en-US" sz="2400" dirty="0"/>
          </a:p>
          <a:p>
            <a:pPr marL="285750" indent="-228600">
              <a:lnSpc>
                <a:spcPct val="90000"/>
              </a:lnSpc>
              <a:spcAft>
                <a:spcPts val="600"/>
              </a:spcAft>
              <a:buFont typeface="Arial" panose="020B0604020202020204" pitchFamily="34" charset="0"/>
              <a:buChar char="•"/>
            </a:pPr>
            <a:r>
              <a:rPr lang="en-US" sz="2400" dirty="0"/>
              <a:t>etc.</a:t>
            </a:r>
          </a:p>
        </p:txBody>
      </p:sp>
    </p:spTree>
    <p:extLst>
      <p:ext uri="{BB962C8B-B14F-4D97-AF65-F5344CB8AC3E}">
        <p14:creationId xmlns:p14="http://schemas.microsoft.com/office/powerpoint/2010/main" val="1118176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El enorme atasco en el puerto de Shanghái por el confinamiento y sus  consecuencias para América Latina y el mundo - BBC News Mundo">
            <a:extLst>
              <a:ext uri="{FF2B5EF4-FFF2-40B4-BE49-F238E27FC236}">
                <a16:creationId xmlns:a16="http://schemas.microsoft.com/office/drawing/2014/main" id="{C8C55A9A-CDC3-EA6D-63BB-3F5AE4DBB4AF}"/>
              </a:ext>
            </a:extLst>
          </p:cNvPr>
          <p:cNvPicPr>
            <a:picLocks noChangeAspect="1"/>
          </p:cNvPicPr>
          <p:nvPr/>
        </p:nvPicPr>
        <p:blipFill rotWithShape="1">
          <a:blip r:embed="rId3"/>
          <a:srcRect t="19"/>
          <a:stretch/>
        </p:blipFill>
        <p:spPr>
          <a:xfrm>
            <a:off x="20" y="1282"/>
            <a:ext cx="12191980" cy="6856718"/>
          </a:xfrm>
          <a:prstGeom prst="rect">
            <a:avLst/>
          </a:prstGeom>
        </p:spPr>
      </p:pic>
      <p:sp>
        <p:nvSpPr>
          <p:cNvPr id="3" name="CuadroTexto 2">
            <a:extLst>
              <a:ext uri="{FF2B5EF4-FFF2-40B4-BE49-F238E27FC236}">
                <a16:creationId xmlns:a16="http://schemas.microsoft.com/office/drawing/2014/main" id="{BA1FEA83-3EAA-0EF5-2493-D128A3923CF2}"/>
              </a:ext>
            </a:extLst>
          </p:cNvPr>
          <p:cNvSpPr txBox="1"/>
          <p:nvPr/>
        </p:nvSpPr>
        <p:spPr>
          <a:xfrm>
            <a:off x="9436066" y="5789967"/>
            <a:ext cx="212045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sz="3200" b="1" err="1"/>
              <a:t>Shanghài</a:t>
            </a:r>
            <a:endParaRPr lang="es-ES" sz="3200" b="1"/>
          </a:p>
        </p:txBody>
      </p:sp>
    </p:spTree>
    <p:extLst>
      <p:ext uri="{BB962C8B-B14F-4D97-AF65-F5344CB8AC3E}">
        <p14:creationId xmlns:p14="http://schemas.microsoft.com/office/powerpoint/2010/main" val="2061940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Prorrogan hasta 2024 la concesión del Puerto Buenos Aires">
            <a:extLst>
              <a:ext uri="{FF2B5EF4-FFF2-40B4-BE49-F238E27FC236}">
                <a16:creationId xmlns:a16="http://schemas.microsoft.com/office/drawing/2014/main" id="{38E433BA-21F5-CFFA-CF3F-3557A1945103}"/>
              </a:ext>
            </a:extLst>
          </p:cNvPr>
          <p:cNvPicPr>
            <a:picLocks noChangeAspect="1"/>
          </p:cNvPicPr>
          <p:nvPr/>
        </p:nvPicPr>
        <p:blipFill rotWithShape="1">
          <a:blip r:embed="rId3"/>
          <a:srcRect t="19"/>
          <a:stretch/>
        </p:blipFill>
        <p:spPr>
          <a:xfrm>
            <a:off x="20" y="1282"/>
            <a:ext cx="12191980" cy="6856718"/>
          </a:xfrm>
          <a:prstGeom prst="rect">
            <a:avLst/>
          </a:prstGeom>
        </p:spPr>
      </p:pic>
      <p:sp>
        <p:nvSpPr>
          <p:cNvPr id="3" name="CuadroTexto 2">
            <a:extLst>
              <a:ext uri="{FF2B5EF4-FFF2-40B4-BE49-F238E27FC236}">
                <a16:creationId xmlns:a16="http://schemas.microsoft.com/office/drawing/2014/main" id="{58BB7C23-0274-CAE5-46A9-1AE16088C1E5}"/>
              </a:ext>
            </a:extLst>
          </p:cNvPr>
          <p:cNvSpPr txBox="1"/>
          <p:nvPr/>
        </p:nvSpPr>
        <p:spPr>
          <a:xfrm>
            <a:off x="870856" y="5812971"/>
            <a:ext cx="585897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200" b="1"/>
              <a:t>Puerto de Buenos Aires 2024</a:t>
            </a:r>
          </a:p>
        </p:txBody>
      </p:sp>
    </p:spTree>
    <p:extLst>
      <p:ext uri="{BB962C8B-B14F-4D97-AF65-F5344CB8AC3E}">
        <p14:creationId xmlns:p14="http://schemas.microsoft.com/office/powerpoint/2010/main" val="481558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77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Imagen 1" descr="Foxconn instala redes anti-suicidios en sus edificios de China - Infobae">
            <a:extLst>
              <a:ext uri="{FF2B5EF4-FFF2-40B4-BE49-F238E27FC236}">
                <a16:creationId xmlns:a16="http://schemas.microsoft.com/office/drawing/2014/main" id="{B21B96E8-FADF-DAB1-5B52-700324968796}"/>
              </a:ext>
            </a:extLst>
          </p:cNvPr>
          <p:cNvPicPr>
            <a:picLocks noChangeAspect="1"/>
          </p:cNvPicPr>
          <p:nvPr/>
        </p:nvPicPr>
        <p:blipFill rotWithShape="1">
          <a:blip r:embed="rId3"/>
          <a:srcRect r="11096" b="1"/>
          <a:stretch/>
        </p:blipFill>
        <p:spPr>
          <a:xfrm>
            <a:off x="20" y="1282"/>
            <a:ext cx="12191980" cy="6856718"/>
          </a:xfrm>
          <a:prstGeom prst="rect">
            <a:avLst/>
          </a:prstGeom>
        </p:spPr>
      </p:pic>
      <p:sp>
        <p:nvSpPr>
          <p:cNvPr id="3" name="CuadroTexto 2">
            <a:extLst>
              <a:ext uri="{FF2B5EF4-FFF2-40B4-BE49-F238E27FC236}">
                <a16:creationId xmlns:a16="http://schemas.microsoft.com/office/drawing/2014/main" id="{C6592961-89AA-59F6-84A6-B5E6EB5A1201}"/>
              </a:ext>
            </a:extLst>
          </p:cNvPr>
          <p:cNvSpPr txBox="1"/>
          <p:nvPr/>
        </p:nvSpPr>
        <p:spPr>
          <a:xfrm>
            <a:off x="8173733" y="5751"/>
            <a:ext cx="402196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200" b="1"/>
              <a:t>Redes anti suicidio</a:t>
            </a:r>
          </a:p>
        </p:txBody>
      </p:sp>
    </p:spTree>
    <p:extLst>
      <p:ext uri="{BB962C8B-B14F-4D97-AF65-F5344CB8AC3E}">
        <p14:creationId xmlns:p14="http://schemas.microsoft.com/office/powerpoint/2010/main" val="112853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t="-17000" b="-17000"/>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031EAA4-871D-CB6C-FC3E-F217A657A2D3}"/>
              </a:ext>
            </a:extLst>
          </p:cNvPr>
          <p:cNvSpPr txBox="1"/>
          <p:nvPr/>
        </p:nvSpPr>
        <p:spPr>
          <a:xfrm>
            <a:off x="471577" y="4597878"/>
            <a:ext cx="5135593"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3200" b="1" u="sng">
                <a:solidFill>
                  <a:schemeClr val="bg1"/>
                </a:solidFill>
              </a:rPr>
              <a:t>Ley de un solo hijo (1979):</a:t>
            </a:r>
          </a:p>
          <a:p>
            <a:pPr marL="285750" indent="-285750">
              <a:buFont typeface="Arial"/>
              <a:buChar char="•"/>
            </a:pPr>
            <a:r>
              <a:rPr lang="es-ES">
                <a:solidFill>
                  <a:schemeClr val="bg1"/>
                </a:solidFill>
              </a:rPr>
              <a:t>Multas</a:t>
            </a:r>
          </a:p>
          <a:p>
            <a:pPr marL="285750" indent="-285750">
              <a:buFont typeface="Arial"/>
              <a:buChar char="•"/>
            </a:pPr>
            <a:r>
              <a:rPr lang="es-ES">
                <a:solidFill>
                  <a:schemeClr val="bg1"/>
                </a:solidFill>
              </a:rPr>
              <a:t>Aborto</a:t>
            </a:r>
          </a:p>
          <a:p>
            <a:pPr marL="285750" indent="-285750">
              <a:buFont typeface="Arial"/>
              <a:buChar char="•"/>
            </a:pPr>
            <a:r>
              <a:rPr lang="es-ES">
                <a:solidFill>
                  <a:schemeClr val="bg1"/>
                </a:solidFill>
              </a:rPr>
              <a:t>Esterilización</a:t>
            </a:r>
          </a:p>
          <a:p>
            <a:pPr marL="285750" indent="-285750">
              <a:buFont typeface="Arial"/>
              <a:buChar char="•"/>
            </a:pPr>
            <a:r>
              <a:rPr lang="es-ES">
                <a:solidFill>
                  <a:schemeClr val="bg1"/>
                </a:solidFill>
              </a:rPr>
              <a:t>Despido</a:t>
            </a:r>
          </a:p>
          <a:p>
            <a:pPr marL="285750" indent="-285750">
              <a:buFont typeface="Arial"/>
              <a:buChar char="•"/>
            </a:pPr>
            <a:endParaRPr lang="es-ES"/>
          </a:p>
        </p:txBody>
      </p:sp>
      <p:sp>
        <p:nvSpPr>
          <p:cNvPr id="3" name="CuadroTexto 2">
            <a:extLst>
              <a:ext uri="{FF2B5EF4-FFF2-40B4-BE49-F238E27FC236}">
                <a16:creationId xmlns:a16="http://schemas.microsoft.com/office/drawing/2014/main" id="{158B8B23-C0AD-2DE5-FF9E-86D95856AD5F}"/>
              </a:ext>
            </a:extLst>
          </p:cNvPr>
          <p:cNvSpPr txBox="1"/>
          <p:nvPr/>
        </p:nvSpPr>
        <p:spPr>
          <a:xfrm>
            <a:off x="4181758" y="5941134"/>
            <a:ext cx="28368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a:solidFill>
                  <a:schemeClr val="bg1"/>
                </a:solidFill>
              </a:rPr>
              <a:t>Abandonar el </a:t>
            </a:r>
            <a:r>
              <a:rPr lang="es-ES" sz="2400" b="1" err="1">
                <a:solidFill>
                  <a:schemeClr val="bg1"/>
                </a:solidFill>
              </a:rPr>
              <a:t>paìs</a:t>
            </a:r>
            <a:endParaRPr lang="es-ES" sz="2400" b="1">
              <a:solidFill>
                <a:schemeClr val="bg1"/>
              </a:solidFill>
            </a:endParaRPr>
          </a:p>
        </p:txBody>
      </p:sp>
      <p:sp>
        <p:nvSpPr>
          <p:cNvPr id="4" name="CuadroTexto 3">
            <a:extLst>
              <a:ext uri="{FF2B5EF4-FFF2-40B4-BE49-F238E27FC236}">
                <a16:creationId xmlns:a16="http://schemas.microsoft.com/office/drawing/2014/main" id="{2D629427-58F9-8F79-A909-2B04BCB16BD0}"/>
              </a:ext>
            </a:extLst>
          </p:cNvPr>
          <p:cNvSpPr txBox="1"/>
          <p:nvPr/>
        </p:nvSpPr>
        <p:spPr>
          <a:xfrm>
            <a:off x="7448703" y="2161533"/>
            <a:ext cx="474617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a:solidFill>
                  <a:schemeClr val="bg1"/>
                </a:solidFill>
              </a:rPr>
              <a:t>¡Hijo anda al chino por un poco de fiambre!</a:t>
            </a:r>
          </a:p>
        </p:txBody>
      </p:sp>
      <p:cxnSp>
        <p:nvCxnSpPr>
          <p:cNvPr id="5" name="Conector recto de flecha 4">
            <a:extLst>
              <a:ext uri="{FF2B5EF4-FFF2-40B4-BE49-F238E27FC236}">
                <a16:creationId xmlns:a16="http://schemas.microsoft.com/office/drawing/2014/main" id="{B946BB7A-D3B1-27C0-97EC-857AC8DE5502}"/>
              </a:ext>
            </a:extLst>
          </p:cNvPr>
          <p:cNvCxnSpPr/>
          <p:nvPr/>
        </p:nvCxnSpPr>
        <p:spPr>
          <a:xfrm flipV="1">
            <a:off x="5410816" y="3680192"/>
            <a:ext cx="1552754" cy="2055962"/>
          </a:xfrm>
          <a:prstGeom prst="straightConnector1">
            <a:avLst/>
          </a:prstGeom>
          <a:ln w="57150">
            <a:solidFill>
              <a:schemeClr val="bg1"/>
            </a:solidFill>
            <a:headEnd type="none"/>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9926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descr="Gráfico, Gráfico de líneas&#10;&#10;Descripción generada automáticamente">
            <a:extLst>
              <a:ext uri="{FF2B5EF4-FFF2-40B4-BE49-F238E27FC236}">
                <a16:creationId xmlns:a16="http://schemas.microsoft.com/office/drawing/2014/main" id="{CB1EC454-F795-4BB2-DFE1-D0AF9817DB4D}"/>
              </a:ext>
            </a:extLst>
          </p:cNvPr>
          <p:cNvPicPr>
            <a:picLocks noChangeAspect="1"/>
          </p:cNvPicPr>
          <p:nvPr/>
        </p:nvPicPr>
        <p:blipFill>
          <a:blip r:embed="rId3"/>
          <a:stretch>
            <a:fillRect/>
          </a:stretch>
        </p:blipFill>
        <p:spPr>
          <a:xfrm>
            <a:off x="2130827" y="643466"/>
            <a:ext cx="7930345" cy="5571067"/>
          </a:xfrm>
          <a:prstGeom prst="rect">
            <a:avLst/>
          </a:prstGeom>
        </p:spPr>
      </p:pic>
    </p:spTree>
    <p:extLst>
      <p:ext uri="{BB962C8B-B14F-4D97-AF65-F5344CB8AC3E}">
        <p14:creationId xmlns:p14="http://schemas.microsoft.com/office/powerpoint/2010/main" val="88510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D7094F-E9D2-7006-DF81-317A25A912C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4000">
                <a:solidFill>
                  <a:srgbClr val="FFFFFF"/>
                </a:solidFill>
              </a:rPr>
              <a:t>2015</a:t>
            </a:r>
            <a:endParaRPr lang="en-US" sz="4000" kern="1200">
              <a:solidFill>
                <a:srgbClr val="FFFFFF"/>
              </a:solidFill>
              <a:latin typeface="+mj-lt"/>
              <a:ea typeface="+mj-ea"/>
              <a:cs typeface="+mj-cs"/>
            </a:endParaRPr>
          </a:p>
        </p:txBody>
      </p:sp>
      <p:pic>
        <p:nvPicPr>
          <p:cNvPr id="4" name="Imagen 3" descr="Gráfico, Gráfico de embudo&#10;&#10;Descripción generada automáticamente">
            <a:extLst>
              <a:ext uri="{FF2B5EF4-FFF2-40B4-BE49-F238E27FC236}">
                <a16:creationId xmlns:a16="http://schemas.microsoft.com/office/drawing/2014/main" id="{35F478AE-0D94-5789-DCAB-D664293BD8F6}"/>
              </a:ext>
            </a:extLst>
          </p:cNvPr>
          <p:cNvPicPr>
            <a:picLocks noChangeAspect="1"/>
          </p:cNvPicPr>
          <p:nvPr/>
        </p:nvPicPr>
        <p:blipFill>
          <a:blip r:embed="rId3"/>
          <a:stretch>
            <a:fillRect/>
          </a:stretch>
        </p:blipFill>
        <p:spPr>
          <a:xfrm>
            <a:off x="4777316" y="690127"/>
            <a:ext cx="6780700" cy="5475416"/>
          </a:xfrm>
          <a:prstGeom prst="rect">
            <a:avLst/>
          </a:prstGeom>
        </p:spPr>
      </p:pic>
    </p:spTree>
    <p:extLst>
      <p:ext uri="{BB962C8B-B14F-4D97-AF65-F5344CB8AC3E}">
        <p14:creationId xmlns:p14="http://schemas.microsoft.com/office/powerpoint/2010/main" val="3650828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una negociacion entre un empresario, un presidente y un obrero">
            <a:extLst>
              <a:ext uri="{FF2B5EF4-FFF2-40B4-BE49-F238E27FC236}">
                <a16:creationId xmlns:a16="http://schemas.microsoft.com/office/drawing/2014/main" id="{B86D9D17-2220-C800-DC67-0855AEF421D0}"/>
              </a:ext>
            </a:extLst>
          </p:cNvPr>
          <p:cNvPicPr>
            <a:picLocks noChangeAspect="1"/>
          </p:cNvPicPr>
          <p:nvPr/>
        </p:nvPicPr>
        <p:blipFill rotWithShape="1">
          <a:blip r:embed="rId3"/>
          <a:srcRect b="1130"/>
          <a:stretch/>
        </p:blipFill>
        <p:spPr>
          <a:xfrm>
            <a:off x="1" y="10"/>
            <a:ext cx="6936390" cy="6857990"/>
          </a:xfrm>
          <a:prstGeom prst="rect">
            <a:avLst/>
          </a:prstGeom>
        </p:spPr>
      </p:pic>
      <p:sp>
        <p:nvSpPr>
          <p:cNvPr id="2" name="CuadroTexto 1">
            <a:extLst>
              <a:ext uri="{FF2B5EF4-FFF2-40B4-BE49-F238E27FC236}">
                <a16:creationId xmlns:a16="http://schemas.microsoft.com/office/drawing/2014/main" id="{54010345-2313-C318-D429-9F5ED1C817DD}"/>
              </a:ext>
            </a:extLst>
          </p:cNvPr>
          <p:cNvSpPr txBox="1"/>
          <p:nvPr/>
        </p:nvSpPr>
        <p:spPr>
          <a:xfrm>
            <a:off x="7531610" y="2434201"/>
            <a:ext cx="3822189" cy="37427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800" b="1" u="sng" dirty="0" err="1"/>
              <a:t>Actores</a:t>
            </a:r>
            <a:r>
              <a:rPr lang="en-US" sz="2800" b="1" u="sng" dirty="0"/>
              <a:t>:</a:t>
            </a:r>
            <a:endParaRPr lang="es-ES" sz="2800" dirty="0"/>
          </a:p>
          <a:p>
            <a:pPr marL="342900" indent="-228600">
              <a:lnSpc>
                <a:spcPct val="90000"/>
              </a:lnSpc>
              <a:spcAft>
                <a:spcPts val="600"/>
              </a:spcAft>
              <a:buFont typeface="Arial" panose="020B0604020202020204" pitchFamily="34" charset="0"/>
              <a:buChar char="•"/>
            </a:pPr>
            <a:r>
              <a:rPr lang="en-US" sz="2400" dirty="0"/>
              <a:t>Estado</a:t>
            </a:r>
          </a:p>
          <a:p>
            <a:pPr marL="342900" indent="-228600">
              <a:lnSpc>
                <a:spcPct val="90000"/>
              </a:lnSpc>
              <a:spcAft>
                <a:spcPts val="600"/>
              </a:spcAft>
              <a:buFont typeface="Arial" panose="020B0604020202020204" pitchFamily="34" charset="0"/>
              <a:buChar char="•"/>
            </a:pPr>
            <a:r>
              <a:rPr lang="en-US" sz="2400" dirty="0"/>
              <a:t>Población</a:t>
            </a:r>
          </a:p>
          <a:p>
            <a:pPr marL="342900" indent="-228600">
              <a:lnSpc>
                <a:spcPct val="90000"/>
              </a:lnSpc>
              <a:spcAft>
                <a:spcPts val="600"/>
              </a:spcAft>
              <a:buFont typeface="Arial" panose="020B0604020202020204" pitchFamily="34" charset="0"/>
              <a:buChar char="•"/>
            </a:pPr>
            <a:r>
              <a:rPr lang="en-US" sz="2400" dirty="0" err="1"/>
              <a:t>Empresas</a:t>
            </a:r>
            <a:r>
              <a:rPr lang="en-US" sz="2400" dirty="0"/>
              <a:t> </a:t>
            </a:r>
            <a:r>
              <a:rPr lang="en-US" sz="2400" dirty="0" err="1"/>
              <a:t>multinacionales</a:t>
            </a:r>
            <a:endParaRPr lang="en-US" sz="2400" dirty="0"/>
          </a:p>
        </p:txBody>
      </p:sp>
    </p:spTree>
    <p:extLst>
      <p:ext uri="{BB962C8B-B14F-4D97-AF65-F5344CB8AC3E}">
        <p14:creationId xmlns:p14="http://schemas.microsoft.com/office/powerpoint/2010/main" val="1779982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Honda amplía sus horizontes | Honda, Honda logo, Car logos">
            <a:extLst>
              <a:ext uri="{FF2B5EF4-FFF2-40B4-BE49-F238E27FC236}">
                <a16:creationId xmlns:a16="http://schemas.microsoft.com/office/drawing/2014/main" id="{D91726E3-1FD2-6471-ECA7-9EB16A3A53D8}"/>
              </a:ext>
            </a:extLst>
          </p:cNvPr>
          <p:cNvPicPr>
            <a:picLocks noChangeAspect="1"/>
          </p:cNvPicPr>
          <p:nvPr/>
        </p:nvPicPr>
        <p:blipFill>
          <a:blip r:embed="rId2"/>
          <a:stretch>
            <a:fillRect/>
          </a:stretch>
        </p:blipFill>
        <p:spPr>
          <a:xfrm>
            <a:off x="3227358" y="651206"/>
            <a:ext cx="5722906" cy="5541213"/>
          </a:xfrm>
          <a:prstGeom prst="rect">
            <a:avLst/>
          </a:prstGeom>
        </p:spPr>
      </p:pic>
    </p:spTree>
    <p:extLst>
      <p:ext uri="{BB962C8B-B14F-4D97-AF65-F5344CB8AC3E}">
        <p14:creationId xmlns:p14="http://schemas.microsoft.com/office/powerpoint/2010/main" val="3670686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descr="Archivo:ToyotaLogoRedVer.svg - Wikipedia, la enciclopedia libre">
            <a:extLst>
              <a:ext uri="{FF2B5EF4-FFF2-40B4-BE49-F238E27FC236}">
                <a16:creationId xmlns:a16="http://schemas.microsoft.com/office/drawing/2014/main" id="{CA868F18-0B4D-38BB-BC1D-1EE98270460F}"/>
              </a:ext>
            </a:extLst>
          </p:cNvPr>
          <p:cNvPicPr>
            <a:picLocks noChangeAspect="1"/>
          </p:cNvPicPr>
          <p:nvPr/>
        </p:nvPicPr>
        <p:blipFill>
          <a:blip r:embed="rId2"/>
          <a:stretch>
            <a:fillRect/>
          </a:stretch>
        </p:blipFill>
        <p:spPr>
          <a:xfrm>
            <a:off x="2227203" y="643466"/>
            <a:ext cx="7737593" cy="5571067"/>
          </a:xfrm>
          <a:prstGeom prst="rect">
            <a:avLst/>
          </a:prstGeom>
        </p:spPr>
      </p:pic>
    </p:spTree>
    <p:extLst>
      <p:ext uri="{BB962C8B-B14F-4D97-AF65-F5344CB8AC3E}">
        <p14:creationId xmlns:p14="http://schemas.microsoft.com/office/powerpoint/2010/main" val="109088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Archivo:Samsung Logo.svg - Wikipedia, la enciclopedia libre">
            <a:extLst>
              <a:ext uri="{FF2B5EF4-FFF2-40B4-BE49-F238E27FC236}">
                <a16:creationId xmlns:a16="http://schemas.microsoft.com/office/drawing/2014/main" id="{74772776-AF42-9A66-E0E6-81B47AD29446}"/>
              </a:ext>
            </a:extLst>
          </p:cNvPr>
          <p:cNvPicPr>
            <a:picLocks noChangeAspect="1"/>
          </p:cNvPicPr>
          <p:nvPr/>
        </p:nvPicPr>
        <p:blipFill>
          <a:blip r:embed="rId2"/>
          <a:stretch>
            <a:fillRect/>
          </a:stretch>
        </p:blipFill>
        <p:spPr>
          <a:xfrm>
            <a:off x="1363154" y="1880110"/>
            <a:ext cx="9465693" cy="3112158"/>
          </a:xfrm>
          <a:prstGeom prst="rect">
            <a:avLst/>
          </a:prstGeom>
        </p:spPr>
      </p:pic>
    </p:spTree>
    <p:extLst>
      <p:ext uri="{BB962C8B-B14F-4D97-AF65-F5344CB8AC3E}">
        <p14:creationId xmlns:p14="http://schemas.microsoft.com/office/powerpoint/2010/main" val="2685153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Archivo:Siemens AG logo.svg - Wikipedia, la enciclopedia libre">
            <a:extLst>
              <a:ext uri="{FF2B5EF4-FFF2-40B4-BE49-F238E27FC236}">
                <a16:creationId xmlns:a16="http://schemas.microsoft.com/office/drawing/2014/main" id="{49FE89BA-DF47-20A7-32F8-1E496DF76ECF}"/>
              </a:ext>
            </a:extLst>
          </p:cNvPr>
          <p:cNvPicPr>
            <a:picLocks noChangeAspect="1"/>
          </p:cNvPicPr>
          <p:nvPr/>
        </p:nvPicPr>
        <p:blipFill>
          <a:blip r:embed="rId2"/>
          <a:stretch>
            <a:fillRect/>
          </a:stretch>
        </p:blipFill>
        <p:spPr>
          <a:xfrm>
            <a:off x="869921" y="2602572"/>
            <a:ext cx="10452159" cy="1652856"/>
          </a:xfrm>
          <a:prstGeom prst="rect">
            <a:avLst/>
          </a:prstGeom>
        </p:spPr>
      </p:pic>
    </p:spTree>
    <p:extLst>
      <p:ext uri="{BB962C8B-B14F-4D97-AF65-F5344CB8AC3E}">
        <p14:creationId xmlns:p14="http://schemas.microsoft.com/office/powerpoint/2010/main" val="4218317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El logo de Starbucks no es simétrico y este es el motivo | GQ España">
            <a:extLst>
              <a:ext uri="{FF2B5EF4-FFF2-40B4-BE49-F238E27FC236}">
                <a16:creationId xmlns:a16="http://schemas.microsoft.com/office/drawing/2014/main" id="{6AA18BC3-B41D-04EF-88D3-6EACC1BE534E}"/>
              </a:ext>
            </a:extLst>
          </p:cNvPr>
          <p:cNvPicPr>
            <a:picLocks noChangeAspect="1"/>
          </p:cNvPicPr>
          <p:nvPr/>
        </p:nvPicPr>
        <p:blipFill>
          <a:blip r:embed="rId2"/>
          <a:stretch>
            <a:fillRect/>
          </a:stretch>
        </p:blipFill>
        <p:spPr>
          <a:xfrm>
            <a:off x="3586703" y="934080"/>
            <a:ext cx="5018596" cy="4989841"/>
          </a:xfrm>
          <a:prstGeom prst="rect">
            <a:avLst/>
          </a:prstGeom>
        </p:spPr>
      </p:pic>
    </p:spTree>
    <p:extLst>
      <p:ext uri="{BB962C8B-B14F-4D97-AF65-F5344CB8AC3E}">
        <p14:creationId xmlns:p14="http://schemas.microsoft.com/office/powerpoint/2010/main" val="3540963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148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2" name="Imagen 1" descr="Archivo:Old Nike logo.jpg - Wikipedia, la enciclopedia libre">
            <a:extLst>
              <a:ext uri="{FF2B5EF4-FFF2-40B4-BE49-F238E27FC236}">
                <a16:creationId xmlns:a16="http://schemas.microsoft.com/office/drawing/2014/main" id="{33C34313-B5B2-3E75-C8CC-369A2EBB5A92}"/>
              </a:ext>
            </a:extLst>
          </p:cNvPr>
          <p:cNvPicPr>
            <a:picLocks noChangeAspect="1"/>
          </p:cNvPicPr>
          <p:nvPr/>
        </p:nvPicPr>
        <p:blipFill>
          <a:blip r:embed="rId2"/>
          <a:stretch>
            <a:fillRect/>
          </a:stretch>
        </p:blipFill>
        <p:spPr>
          <a:xfrm>
            <a:off x="2191571" y="1286934"/>
            <a:ext cx="7808860" cy="4105949"/>
          </a:xfrm>
          <a:prstGeom prst="rect">
            <a:avLst/>
          </a:prstGeom>
        </p:spPr>
      </p:pic>
    </p:spTree>
    <p:extLst>
      <p:ext uri="{BB962C8B-B14F-4D97-AF65-F5344CB8AC3E}">
        <p14:creationId xmlns:p14="http://schemas.microsoft.com/office/powerpoint/2010/main" val="1295778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IBM - Wikipedia, la enciclopedia libre">
            <a:extLst>
              <a:ext uri="{FF2B5EF4-FFF2-40B4-BE49-F238E27FC236}">
                <a16:creationId xmlns:a16="http://schemas.microsoft.com/office/drawing/2014/main" id="{C99CCA04-33DB-2F74-5980-DF79B496FD89}"/>
              </a:ext>
            </a:extLst>
          </p:cNvPr>
          <p:cNvPicPr>
            <a:picLocks noChangeAspect="1"/>
          </p:cNvPicPr>
          <p:nvPr/>
        </p:nvPicPr>
        <p:blipFill>
          <a:blip r:embed="rId2"/>
          <a:stretch>
            <a:fillRect/>
          </a:stretch>
        </p:blipFill>
        <p:spPr>
          <a:xfrm>
            <a:off x="681578" y="1070574"/>
            <a:ext cx="10828845" cy="4299907"/>
          </a:xfrm>
          <a:prstGeom prst="rect">
            <a:avLst/>
          </a:prstGeom>
        </p:spPr>
      </p:pic>
    </p:spTree>
    <p:extLst>
      <p:ext uri="{BB962C8B-B14F-4D97-AF65-F5344CB8AC3E}">
        <p14:creationId xmlns:p14="http://schemas.microsoft.com/office/powerpoint/2010/main" val="3211265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71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Archivo:Coca-Cola logo.svg - Wikipedia, la enciclopedia libre">
            <a:extLst>
              <a:ext uri="{FF2B5EF4-FFF2-40B4-BE49-F238E27FC236}">
                <a16:creationId xmlns:a16="http://schemas.microsoft.com/office/drawing/2014/main" id="{289D95A1-0324-1C44-0897-F5F60243CCA5}"/>
              </a:ext>
            </a:extLst>
          </p:cNvPr>
          <p:cNvPicPr>
            <a:picLocks noChangeAspect="1"/>
          </p:cNvPicPr>
          <p:nvPr/>
        </p:nvPicPr>
        <p:blipFill>
          <a:blip r:embed="rId2"/>
          <a:stretch>
            <a:fillRect/>
          </a:stretch>
        </p:blipFill>
        <p:spPr>
          <a:xfrm>
            <a:off x="548767" y="1697877"/>
            <a:ext cx="11080090" cy="3462246"/>
          </a:xfrm>
          <a:prstGeom prst="rect">
            <a:avLst/>
          </a:prstGeom>
        </p:spPr>
      </p:pic>
    </p:spTree>
    <p:extLst>
      <p:ext uri="{BB962C8B-B14F-4D97-AF65-F5344CB8AC3E}">
        <p14:creationId xmlns:p14="http://schemas.microsoft.com/office/powerpoint/2010/main" val="976636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Archivo:Logo Apple.inc.gif - Wikipedia, la enciclopedia libre">
            <a:extLst>
              <a:ext uri="{FF2B5EF4-FFF2-40B4-BE49-F238E27FC236}">
                <a16:creationId xmlns:a16="http://schemas.microsoft.com/office/drawing/2014/main" id="{37C1AFF0-9223-2E79-1852-A6D78EF097D8}"/>
              </a:ext>
            </a:extLst>
          </p:cNvPr>
          <p:cNvPicPr>
            <a:picLocks noChangeAspect="1"/>
          </p:cNvPicPr>
          <p:nvPr/>
        </p:nvPicPr>
        <p:blipFill>
          <a:blip r:embed="rId2"/>
          <a:stretch>
            <a:fillRect/>
          </a:stretch>
        </p:blipFill>
        <p:spPr>
          <a:xfrm>
            <a:off x="3595778" y="522438"/>
            <a:ext cx="4986067" cy="5813124"/>
          </a:xfrm>
          <a:prstGeom prst="rect">
            <a:avLst/>
          </a:prstGeom>
        </p:spPr>
      </p:pic>
    </p:spTree>
    <p:extLst>
      <p:ext uri="{BB962C8B-B14F-4D97-AF65-F5344CB8AC3E}">
        <p14:creationId xmlns:p14="http://schemas.microsoft.com/office/powerpoint/2010/main" val="3260187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Grupo">
            <a:extLst>
              <a:ext uri="{FF2B5EF4-FFF2-40B4-BE49-F238E27FC236}">
                <a16:creationId xmlns:a16="http://schemas.microsoft.com/office/drawing/2014/main" id="{F22A78B0-EB02-D42C-76F1-6978377B44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9143" y="818188"/>
            <a:ext cx="5221625" cy="5221625"/>
          </a:xfrm>
          <a:prstGeom prst="rect">
            <a:avLst/>
          </a:prstGeom>
        </p:spPr>
      </p:pic>
      <p:sp>
        <p:nvSpPr>
          <p:cNvPr id="2" name="CuadroTexto 1">
            <a:extLst>
              <a:ext uri="{FF2B5EF4-FFF2-40B4-BE49-F238E27FC236}">
                <a16:creationId xmlns:a16="http://schemas.microsoft.com/office/drawing/2014/main" id="{88AF0F47-DA2A-FE65-9C01-5CE52FF9EF4C}"/>
              </a:ext>
            </a:extLst>
          </p:cNvPr>
          <p:cNvSpPr txBox="1"/>
          <p:nvPr/>
        </p:nvSpPr>
        <p:spPr>
          <a:xfrm>
            <a:off x="6392583" y="2645922"/>
            <a:ext cx="4434721" cy="371042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800" b="1" u="sng" dirty="0">
                <a:solidFill>
                  <a:schemeClr val="tx1">
                    <a:alpha val="80000"/>
                  </a:schemeClr>
                </a:solidFill>
              </a:rPr>
              <a:t>Ideas:</a:t>
            </a:r>
            <a:endParaRPr lang="en-US" sz="2800" dirty="0">
              <a:solidFill>
                <a:schemeClr val="tx1">
                  <a:alpha val="80000"/>
                </a:schemeClr>
              </a:solidFill>
            </a:endParaRPr>
          </a:p>
          <a:p>
            <a:pPr marL="285750" indent="-228600">
              <a:lnSpc>
                <a:spcPct val="90000"/>
              </a:lnSpc>
              <a:spcAft>
                <a:spcPts val="600"/>
              </a:spcAft>
              <a:buFont typeface="Arial" panose="020B0604020202020204" pitchFamily="34" charset="0"/>
              <a:buChar char="•"/>
            </a:pPr>
            <a:r>
              <a:rPr lang="en-US" sz="2400" dirty="0">
                <a:solidFill>
                  <a:schemeClr val="tx1">
                    <a:alpha val="80000"/>
                  </a:schemeClr>
                </a:solidFill>
              </a:rPr>
              <a:t>Las </a:t>
            </a:r>
            <a:r>
              <a:rPr lang="en-US" sz="2400" err="1">
                <a:solidFill>
                  <a:schemeClr val="tx1">
                    <a:alpha val="80000"/>
                  </a:schemeClr>
                </a:solidFill>
              </a:rPr>
              <a:t>grandes</a:t>
            </a:r>
            <a:r>
              <a:rPr lang="en-US" sz="2400" dirty="0">
                <a:solidFill>
                  <a:schemeClr val="tx1">
                    <a:alpha val="80000"/>
                  </a:schemeClr>
                </a:solidFill>
              </a:rPr>
              <a:t> </a:t>
            </a:r>
            <a:r>
              <a:rPr lang="en-US" sz="2400" err="1">
                <a:solidFill>
                  <a:schemeClr val="tx1">
                    <a:alpha val="80000"/>
                  </a:schemeClr>
                </a:solidFill>
              </a:rPr>
              <a:t>compañías</a:t>
            </a:r>
            <a:r>
              <a:rPr lang="en-US" sz="2400" dirty="0">
                <a:solidFill>
                  <a:schemeClr val="tx1">
                    <a:alpha val="80000"/>
                  </a:schemeClr>
                </a:solidFill>
              </a:rPr>
              <a:t> son </a:t>
            </a:r>
            <a:r>
              <a:rPr lang="en-US" sz="2400" err="1">
                <a:solidFill>
                  <a:schemeClr val="tx1">
                    <a:alpha val="80000"/>
                  </a:schemeClr>
                </a:solidFill>
              </a:rPr>
              <a:t>responsables</a:t>
            </a:r>
            <a:r>
              <a:rPr lang="en-US" sz="2400" dirty="0">
                <a:solidFill>
                  <a:schemeClr val="tx1">
                    <a:alpha val="80000"/>
                  </a:schemeClr>
                </a:solidFill>
              </a:rPr>
              <a:t> del </a:t>
            </a:r>
            <a:r>
              <a:rPr lang="en-US" sz="2400" err="1">
                <a:solidFill>
                  <a:schemeClr val="tx1">
                    <a:alpha val="80000"/>
                  </a:schemeClr>
                </a:solidFill>
              </a:rPr>
              <a:t>amontonamiento</a:t>
            </a:r>
            <a:r>
              <a:rPr lang="en-US" sz="2400" dirty="0">
                <a:solidFill>
                  <a:schemeClr val="tx1">
                    <a:alpha val="80000"/>
                  </a:schemeClr>
                </a:solidFill>
              </a:rPr>
              <a:t> de la población</a:t>
            </a:r>
          </a:p>
          <a:p>
            <a:pPr marL="285750" indent="-228600">
              <a:lnSpc>
                <a:spcPct val="90000"/>
              </a:lnSpc>
              <a:spcAft>
                <a:spcPts val="600"/>
              </a:spcAft>
              <a:buFont typeface="Arial" panose="020B0604020202020204" pitchFamily="34" charset="0"/>
              <a:buChar char="•"/>
            </a:pPr>
            <a:r>
              <a:rPr lang="en-US" sz="2400" err="1">
                <a:solidFill>
                  <a:schemeClr val="tx1">
                    <a:alpha val="80000"/>
                  </a:schemeClr>
                </a:solidFill>
              </a:rPr>
              <a:t>Ellos</a:t>
            </a:r>
            <a:r>
              <a:rPr lang="en-US" sz="2400" dirty="0">
                <a:solidFill>
                  <a:schemeClr val="tx1">
                    <a:alpha val="80000"/>
                  </a:schemeClr>
                </a:solidFill>
              </a:rPr>
              <a:t> </a:t>
            </a:r>
            <a:r>
              <a:rPr lang="en-US" sz="2400" err="1">
                <a:solidFill>
                  <a:schemeClr val="tx1">
                    <a:alpha val="80000"/>
                  </a:schemeClr>
                </a:solidFill>
              </a:rPr>
              <a:t>buscan</a:t>
            </a:r>
            <a:r>
              <a:rPr lang="en-US" sz="2400" dirty="0">
                <a:solidFill>
                  <a:schemeClr val="tx1">
                    <a:alpha val="80000"/>
                  </a:schemeClr>
                </a:solidFill>
              </a:rPr>
              <a:t> </a:t>
            </a:r>
            <a:r>
              <a:rPr lang="en-US" sz="2400" err="1">
                <a:solidFill>
                  <a:schemeClr val="tx1">
                    <a:alpha val="80000"/>
                  </a:schemeClr>
                </a:solidFill>
              </a:rPr>
              <a:t>trabajo</a:t>
            </a:r>
            <a:endParaRPr lang="en-US" sz="2400">
              <a:solidFill>
                <a:schemeClr val="tx1">
                  <a:alpha val="80000"/>
                </a:schemeClr>
              </a:solidFill>
            </a:endParaRPr>
          </a:p>
          <a:p>
            <a:pPr marL="285750" indent="-228600">
              <a:lnSpc>
                <a:spcPct val="90000"/>
              </a:lnSpc>
              <a:spcAft>
                <a:spcPts val="600"/>
              </a:spcAft>
              <a:buFont typeface="Arial" panose="020B0604020202020204" pitchFamily="34" charset="0"/>
              <a:buChar char="•"/>
            </a:pPr>
            <a:r>
              <a:rPr lang="en-US" sz="2400" dirty="0">
                <a:solidFill>
                  <a:schemeClr val="tx1">
                    <a:alpha val="80000"/>
                  </a:schemeClr>
                </a:solidFill>
              </a:rPr>
              <a:t>El </a:t>
            </a:r>
            <a:r>
              <a:rPr lang="en-US" sz="2400" err="1">
                <a:solidFill>
                  <a:schemeClr val="tx1">
                    <a:alpha val="80000"/>
                  </a:schemeClr>
                </a:solidFill>
              </a:rPr>
              <a:t>estado</a:t>
            </a:r>
            <a:r>
              <a:rPr lang="en-US" sz="2400" dirty="0">
                <a:solidFill>
                  <a:schemeClr val="tx1">
                    <a:alpha val="80000"/>
                  </a:schemeClr>
                </a:solidFill>
              </a:rPr>
              <a:t> lo </a:t>
            </a:r>
            <a:r>
              <a:rPr lang="en-US" sz="2400" err="1">
                <a:solidFill>
                  <a:schemeClr val="tx1">
                    <a:alpha val="80000"/>
                  </a:schemeClr>
                </a:solidFill>
              </a:rPr>
              <a:t>permite</a:t>
            </a:r>
            <a:endParaRPr lang="en-US" sz="2400">
              <a:solidFill>
                <a:schemeClr val="tx1">
                  <a:alpha val="80000"/>
                </a:schemeClr>
              </a:solidFill>
            </a:endParaRPr>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314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Lupa sobre fondo claro">
            <a:extLst>
              <a:ext uri="{FF2B5EF4-FFF2-40B4-BE49-F238E27FC236}">
                <a16:creationId xmlns:a16="http://schemas.microsoft.com/office/drawing/2014/main" id="{28DC8BB1-1067-95AE-4B62-42C981E52FB1}"/>
              </a:ext>
            </a:extLst>
          </p:cNvPr>
          <p:cNvPicPr>
            <a:picLocks noChangeAspect="1"/>
          </p:cNvPicPr>
          <p:nvPr/>
        </p:nvPicPr>
        <p:blipFill rotWithShape="1">
          <a:blip r:embed="rId3"/>
          <a:srcRect r="3" b="15487"/>
          <a:stretch/>
        </p:blipFill>
        <p:spPr>
          <a:xfrm>
            <a:off x="-3447" y="-1"/>
            <a:ext cx="12195447" cy="6879745"/>
          </a:xfrm>
          <a:prstGeom prst="rect">
            <a:avLst/>
          </a:prstGeom>
        </p:spPr>
      </p:pic>
      <p:sp>
        <p:nvSpPr>
          <p:cNvPr id="8"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CC45EC33-7345-2373-E528-BC382B76EBBF}"/>
              </a:ext>
            </a:extLst>
          </p:cNvPr>
          <p:cNvSpPr txBox="1"/>
          <p:nvPr/>
        </p:nvSpPr>
        <p:spPr>
          <a:xfrm>
            <a:off x="1117821" y="311944"/>
            <a:ext cx="7927785" cy="1620665"/>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400" b="1" u="sng" dirty="0">
                <a:latin typeface="+mj-lt"/>
                <a:ea typeface="+mj-ea"/>
                <a:cs typeface="+mj-cs"/>
              </a:rPr>
              <a:t>¿Por </a:t>
            </a:r>
            <a:r>
              <a:rPr lang="en-US" sz="4400" b="1" u="sng" err="1">
                <a:latin typeface="+mj-lt"/>
                <a:ea typeface="+mj-ea"/>
                <a:cs typeface="+mj-cs"/>
              </a:rPr>
              <a:t>qué</a:t>
            </a:r>
            <a:r>
              <a:rPr lang="en-US" sz="4400" b="1" u="sng" dirty="0">
                <a:latin typeface="+mj-lt"/>
                <a:ea typeface="+mj-ea"/>
                <a:cs typeface="+mj-cs"/>
              </a:rPr>
              <a:t> </a:t>
            </a:r>
            <a:r>
              <a:rPr lang="en-US" sz="4400" b="1" u="sng" err="1">
                <a:latin typeface="+mj-lt"/>
                <a:ea typeface="+mj-ea"/>
                <a:cs typeface="+mj-cs"/>
              </a:rPr>
              <a:t>sucedió</a:t>
            </a:r>
            <a:r>
              <a:rPr lang="en-US" sz="4400" b="1" u="sng" dirty="0">
                <a:latin typeface="+mj-lt"/>
                <a:ea typeface="+mj-ea"/>
                <a:cs typeface="+mj-cs"/>
              </a:rPr>
              <a:t>?</a:t>
            </a:r>
          </a:p>
        </p:txBody>
      </p:sp>
      <p:sp>
        <p:nvSpPr>
          <p:cNvPr id="5" name="CuadroTexto 4">
            <a:extLst>
              <a:ext uri="{FF2B5EF4-FFF2-40B4-BE49-F238E27FC236}">
                <a16:creationId xmlns:a16="http://schemas.microsoft.com/office/drawing/2014/main" id="{AC3F3BA1-542A-BB95-B69F-6C362D842C3F}"/>
              </a:ext>
            </a:extLst>
          </p:cNvPr>
          <p:cNvSpPr txBox="1"/>
          <p:nvPr/>
        </p:nvSpPr>
        <p:spPr>
          <a:xfrm>
            <a:off x="1522767" y="2472084"/>
            <a:ext cx="391885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s-ES" sz="2800" dirty="0"/>
              <a:t>Malas costumbres</a:t>
            </a:r>
            <a:endParaRPr lang="es-ES"/>
          </a:p>
          <a:p>
            <a:pPr marL="457200" indent="-457200">
              <a:buFont typeface="Arial"/>
              <a:buChar char="•"/>
            </a:pPr>
            <a:r>
              <a:rPr lang="es-ES" sz="2800" dirty="0"/>
              <a:t>Falta de prevención</a:t>
            </a:r>
          </a:p>
          <a:p>
            <a:pPr marL="457200" indent="-457200">
              <a:buFont typeface="Arial"/>
              <a:buChar char="•"/>
            </a:pPr>
            <a:r>
              <a:rPr lang="es-ES" sz="2800" dirty="0"/>
              <a:t>Industria</a:t>
            </a:r>
          </a:p>
        </p:txBody>
      </p:sp>
    </p:spTree>
    <p:extLst>
      <p:ext uri="{BB962C8B-B14F-4D97-AF65-F5344CB8AC3E}">
        <p14:creationId xmlns:p14="http://schemas.microsoft.com/office/powerpoint/2010/main" val="572934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una venecia en una china futurista con casa por ensima y debajo del agua">
            <a:extLst>
              <a:ext uri="{FF2B5EF4-FFF2-40B4-BE49-F238E27FC236}">
                <a16:creationId xmlns:a16="http://schemas.microsoft.com/office/drawing/2014/main" id="{6A7CBC0C-9846-38DF-2E35-5B78DA8D74E3}"/>
              </a:ext>
            </a:extLst>
          </p:cNvPr>
          <p:cNvPicPr>
            <a:picLocks noChangeAspect="1"/>
          </p:cNvPicPr>
          <p:nvPr/>
        </p:nvPicPr>
        <p:blipFill>
          <a:blip r:embed="rId3"/>
          <a:stretch>
            <a:fillRect/>
          </a:stretch>
        </p:blipFill>
        <p:spPr>
          <a:xfrm>
            <a:off x="2667000" y="0"/>
            <a:ext cx="6858000" cy="6858000"/>
          </a:xfrm>
          <a:prstGeom prst="rect">
            <a:avLst/>
          </a:prstGeom>
        </p:spPr>
      </p:pic>
    </p:spTree>
    <p:extLst>
      <p:ext uri="{BB962C8B-B14F-4D97-AF65-F5344CB8AC3E}">
        <p14:creationId xmlns:p14="http://schemas.microsoft.com/office/powerpoint/2010/main" val="2080419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0CFB124C-4B0C-4A81-8633-17257B151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006" y="569844"/>
            <a:ext cx="8427988" cy="5649981"/>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descr="Shanghai, China Vista Aérea Sobre Las Carreteras. Fotos, retratos, imágenes  y fotografía de archivo libres de derecho. Image 30147149">
            <a:extLst>
              <a:ext uri="{FF2B5EF4-FFF2-40B4-BE49-F238E27FC236}">
                <a16:creationId xmlns:a16="http://schemas.microsoft.com/office/drawing/2014/main" id="{ABDC0523-534A-6840-30F3-11129239A33F}"/>
              </a:ext>
            </a:extLst>
          </p:cNvPr>
          <p:cNvPicPr>
            <a:picLocks noChangeAspect="1"/>
          </p:cNvPicPr>
          <p:nvPr/>
        </p:nvPicPr>
        <p:blipFill rotWithShape="1">
          <a:blip r:embed="rId3"/>
          <a:srcRect l="468" r="-1" b="-1"/>
          <a:stretch/>
        </p:blipFill>
        <p:spPr>
          <a:xfrm>
            <a:off x="1882006" y="569843"/>
            <a:ext cx="8450714" cy="5649981"/>
          </a:xfrm>
          <a:prstGeom prst="rect">
            <a:avLst/>
          </a:prstGeom>
        </p:spPr>
      </p:pic>
    </p:spTree>
    <p:extLst>
      <p:ext uri="{BB962C8B-B14F-4D97-AF65-F5344CB8AC3E}">
        <p14:creationId xmlns:p14="http://schemas.microsoft.com/office/powerpoint/2010/main" val="3995607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0CFB124C-4B0C-4A81-8633-17257B151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006" y="569844"/>
            <a:ext cx="8427988" cy="5649981"/>
          </a:xfrm>
          <a:prstGeom prst="rect">
            <a:avLst/>
          </a:prstGeom>
          <a:ln>
            <a:noFill/>
          </a:ln>
          <a:effectLst>
            <a:outerShdw blurRad="317500" dist="317500" dir="7140000" sx="95000" sy="95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descr="Tren Bala Fuxing. Ruta Shanghai-Beijing-Shanghai. – Viajes en Chancletas">
            <a:extLst>
              <a:ext uri="{FF2B5EF4-FFF2-40B4-BE49-F238E27FC236}">
                <a16:creationId xmlns:a16="http://schemas.microsoft.com/office/drawing/2014/main" id="{19938566-23E5-07F4-9A46-B019979D0238}"/>
              </a:ext>
            </a:extLst>
          </p:cNvPr>
          <p:cNvPicPr>
            <a:picLocks noChangeAspect="1"/>
          </p:cNvPicPr>
          <p:nvPr/>
        </p:nvPicPr>
        <p:blipFill rotWithShape="1">
          <a:blip r:embed="rId3"/>
          <a:srcRect r="467" b="-1"/>
          <a:stretch/>
        </p:blipFill>
        <p:spPr>
          <a:xfrm>
            <a:off x="1882006" y="569843"/>
            <a:ext cx="8450714" cy="5649981"/>
          </a:xfrm>
          <a:prstGeom prst="rect">
            <a:avLst/>
          </a:prstGeom>
        </p:spPr>
      </p:pic>
    </p:spTree>
    <p:extLst>
      <p:ext uri="{BB962C8B-B14F-4D97-AF65-F5344CB8AC3E}">
        <p14:creationId xmlns:p14="http://schemas.microsoft.com/office/powerpoint/2010/main" val="26949383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Picture 3" descr="Mensaje en botella flota en el agua">
            <a:extLst>
              <a:ext uri="{FF2B5EF4-FFF2-40B4-BE49-F238E27FC236}">
                <a16:creationId xmlns:a16="http://schemas.microsoft.com/office/drawing/2014/main" id="{7C400ACD-030F-6139-55AB-CAF9A15F81A5}"/>
              </a:ext>
            </a:extLst>
          </p:cNvPr>
          <p:cNvPicPr>
            <a:picLocks noChangeAspect="1"/>
          </p:cNvPicPr>
          <p:nvPr/>
        </p:nvPicPr>
        <p:blipFill rotWithShape="1">
          <a:blip r:embed="rId3"/>
          <a:srcRect t="12170" r="-2" b="3072"/>
          <a:stretch/>
        </p:blipFill>
        <p:spPr>
          <a:xfrm>
            <a:off x="20" y="-7619"/>
            <a:ext cx="12191979" cy="6887364"/>
          </a:xfrm>
          <a:prstGeom prst="rect">
            <a:avLst/>
          </a:prstGeom>
        </p:spPr>
      </p:pic>
      <p:sp>
        <p:nvSpPr>
          <p:cNvPr id="23" name="Rectangle 7">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63219" y="-1252908"/>
            <a:ext cx="4065561" cy="12192000"/>
          </a:xfrm>
          <a:prstGeom prst="rect">
            <a:avLst/>
          </a:prstGeom>
          <a:gradFill flip="none" rotWithShape="1">
            <a:gsLst>
              <a:gs pos="17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9">
            <a:extLst>
              <a:ext uri="{FF2B5EF4-FFF2-40B4-BE49-F238E27FC236}">
                <a16:creationId xmlns:a16="http://schemas.microsoft.com/office/drawing/2014/main" id="{F92CB243-67C5-E304-31A0-4D7D607BA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464116" y="322049"/>
            <a:ext cx="3067943" cy="2408606"/>
          </a:xfrm>
          <a:prstGeom prst="rect">
            <a:avLst/>
          </a:prstGeom>
          <a:gradFill flip="none" rotWithShape="1">
            <a:gsLst>
              <a:gs pos="0">
                <a:schemeClr val="accent2"/>
              </a:gs>
              <a:gs pos="51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5" name="Rectangle 11">
            <a:extLst>
              <a:ext uri="{FF2B5EF4-FFF2-40B4-BE49-F238E27FC236}">
                <a16:creationId xmlns:a16="http://schemas.microsoft.com/office/drawing/2014/main" id="{11A95761-C93E-94BF-087D-D2A823789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392" y="4172881"/>
            <a:ext cx="7154743" cy="2702991"/>
          </a:xfrm>
          <a:prstGeom prst="rect">
            <a:avLst/>
          </a:prstGeom>
          <a:gradFill flip="none" rotWithShape="1">
            <a:gsLst>
              <a:gs pos="0">
                <a:schemeClr val="accent5"/>
              </a:gs>
              <a:gs pos="52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CuadroTexto 1">
            <a:extLst>
              <a:ext uri="{FF2B5EF4-FFF2-40B4-BE49-F238E27FC236}">
                <a16:creationId xmlns:a16="http://schemas.microsoft.com/office/drawing/2014/main" id="{E31836A5-5456-CF79-85A6-235E34EB431C}"/>
              </a:ext>
            </a:extLst>
          </p:cNvPr>
          <p:cNvSpPr txBox="1"/>
          <p:nvPr/>
        </p:nvSpPr>
        <p:spPr>
          <a:xfrm>
            <a:off x="628991" y="-1628719"/>
            <a:ext cx="4849044" cy="283927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u="sng" dirty="0">
                <a:latin typeface="+mj-lt"/>
                <a:ea typeface="+mj-ea"/>
                <a:cs typeface="+mj-cs"/>
              </a:rPr>
              <a:t>Gracias </a:t>
            </a:r>
            <a:r>
              <a:rPr lang="en-US" sz="3600" b="1" u="sng" err="1">
                <a:latin typeface="+mj-lt"/>
                <a:ea typeface="+mj-ea"/>
                <a:cs typeface="+mj-cs"/>
              </a:rPr>
              <a:t>por</a:t>
            </a:r>
            <a:r>
              <a:rPr lang="en-US" sz="3600" b="1" u="sng" dirty="0">
                <a:latin typeface="+mj-lt"/>
                <a:ea typeface="+mj-ea"/>
                <a:cs typeface="+mj-cs"/>
              </a:rPr>
              <a:t> </a:t>
            </a:r>
            <a:r>
              <a:rPr lang="en-US" sz="3600" b="1" u="sng" err="1">
                <a:latin typeface="+mj-lt"/>
                <a:ea typeface="+mj-ea"/>
                <a:cs typeface="+mj-cs"/>
              </a:rPr>
              <a:t>su</a:t>
            </a:r>
            <a:r>
              <a:rPr lang="en-US" sz="3600" b="1" u="sng" dirty="0">
                <a:latin typeface="+mj-lt"/>
                <a:ea typeface="+mj-ea"/>
                <a:cs typeface="+mj-cs"/>
              </a:rPr>
              <a:t> </a:t>
            </a:r>
            <a:r>
              <a:rPr lang="es-AR" sz="3600" b="1" u="sng" dirty="0">
                <a:latin typeface="+mj-lt"/>
                <a:ea typeface="+mj-ea"/>
                <a:cs typeface="+mj-cs"/>
              </a:rPr>
              <a:t>atención</a:t>
            </a:r>
          </a:p>
        </p:txBody>
      </p:sp>
      <p:sp>
        <p:nvSpPr>
          <p:cNvPr id="26" name="Rectangle 13">
            <a:extLst>
              <a:ext uri="{FF2B5EF4-FFF2-40B4-BE49-F238E27FC236}">
                <a16:creationId xmlns:a16="http://schemas.microsoft.com/office/drawing/2014/main" id="{6E63D1A5-FD49-4756-F62E-786C34E63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06736" y="-7619"/>
            <a:ext cx="995654" cy="6918113"/>
          </a:xfrm>
          <a:prstGeom prst="rect">
            <a:avLst/>
          </a:prstGeom>
          <a:gradFill flip="none" rotWithShape="1">
            <a:gsLst>
              <a:gs pos="0">
                <a:schemeClr val="accent5">
                  <a:alpha val="68000"/>
                </a:schemeClr>
              </a:gs>
              <a:gs pos="37000">
                <a:schemeClr val="accent5">
                  <a:alpha val="0"/>
                </a:schemeClr>
              </a:gs>
            </a:gsLst>
            <a:lin ang="10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076473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TotalTime>
  <Words>1734</Words>
  <Application>Microsoft Office PowerPoint</Application>
  <PresentationFormat>Panorámica</PresentationFormat>
  <Paragraphs>159</Paragraphs>
  <Slides>39</Slides>
  <Notes>28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39</vt:i4>
      </vt:variant>
    </vt:vector>
  </HeadingPairs>
  <TitlesOfParts>
    <vt:vector size="45" baseType="lpstr">
      <vt:lpstr>Aptos</vt:lpstr>
      <vt:lpstr>Aptos Display</vt:lpstr>
      <vt:lpstr>Arial</vt:lpstr>
      <vt:lpstr>Calibri</vt:lpstr>
      <vt:lpstr>Symbol</vt:lpstr>
      <vt:lpstr>Tema de Office</vt:lpstr>
      <vt:lpstr>Super población</vt:lpstr>
      <vt:lpstr>Shanghái, la urbe, la fábrica y la comida:</vt:lpstr>
      <vt:lpstr>Índice:</vt:lpstr>
      <vt:lpstr>¿Donde esta Shanghai?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1 persona =300g de milanesa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2015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Joaquin Rodriguez Tortora</cp:lastModifiedBy>
  <cp:revision>107</cp:revision>
  <dcterms:created xsi:type="dcterms:W3CDTF">2024-05-09T20:47:00Z</dcterms:created>
  <dcterms:modified xsi:type="dcterms:W3CDTF">2024-05-30T01:02:02Z</dcterms:modified>
</cp:coreProperties>
</file>