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09E3D-2321-E6F7-EEB9-578C7172CBB8}" v="34" dt="2024-12-03T14:47:12.898"/>
    <p1510:client id="{86277DAB-2FA3-8F20-CF84-9CF903C413D6}" v="6" dt="2024-12-02T20:14:31.130"/>
    <p1510:client id="{967AAC89-2852-E5AA-85C4-755BE1FF07CC}" v="285" dt="2024-12-02T20:11:51.316"/>
    <p1510:client id="{FB136D94-7142-03A4-759F-337480A8D814}" v="189" dt="2024-12-03T12:56:26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438F6-D87A-4B55-861C-6F57E9A0647E}" type="datetimeFigureOut">
              <a:t>3/12/2024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C8D5E-2B94-4B81-9317-85FA867346E5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7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comercio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intercambio</a:t>
            </a:r>
            <a:r>
              <a:rPr lang="en-US" dirty="0"/>
              <a:t> de </a:t>
            </a:r>
            <a:r>
              <a:rPr lang="en-US" dirty="0" err="1"/>
              <a:t>bienes</a:t>
            </a:r>
            <a:r>
              <a:rPr lang="en-US" dirty="0"/>
              <a:t>, </a:t>
            </a:r>
            <a:r>
              <a:rPr lang="en-US" dirty="0" err="1"/>
              <a:t>puede</a:t>
            </a:r>
            <a:r>
              <a:rPr lang="en-US" dirty="0"/>
              <a:t> ser dinero, </a:t>
            </a:r>
            <a:r>
              <a:rPr lang="en-US" dirty="0" err="1"/>
              <a:t>oro</a:t>
            </a:r>
            <a:r>
              <a:rPr lang="en-US" dirty="0"/>
              <a:t>, diamantes y hasta </a:t>
            </a:r>
            <a:r>
              <a:rPr lang="en-US" dirty="0" err="1"/>
              <a:t>rocas</a:t>
            </a:r>
            <a:r>
              <a:rPr lang="en-US" dirty="0"/>
              <a:t>. Sin embargo, para que </a:t>
            </a:r>
            <a:r>
              <a:rPr lang="en-US" dirty="0" err="1"/>
              <a:t>este</a:t>
            </a:r>
            <a:r>
              <a:rPr lang="en-US" dirty="0"/>
              <a:t> se de </a:t>
            </a:r>
            <a:r>
              <a:rPr lang="en-US" dirty="0" err="1"/>
              <a:t>exitosamente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vendedores</a:t>
            </a:r>
            <a:r>
              <a:rPr lang="en-US" dirty="0"/>
              <a:t> y </a:t>
            </a:r>
            <a:r>
              <a:rPr lang="en-US" dirty="0" err="1"/>
              <a:t>compradores</a:t>
            </a:r>
            <a:r>
              <a:rPr lang="en-US" dirty="0"/>
              <a:t> </a:t>
            </a:r>
            <a:r>
              <a:rPr lang="en-US" dirty="0" err="1"/>
              <a:t>necesitan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común</a:t>
            </a:r>
            <a:r>
              <a:rPr lang="en-US" dirty="0"/>
              <a:t> </a:t>
            </a:r>
            <a:r>
              <a:rPr lang="en-US" dirty="0" err="1"/>
              <a:t>distintas</a:t>
            </a:r>
            <a:r>
              <a:rPr lang="en-US" dirty="0"/>
              <a:t> </a:t>
            </a:r>
            <a:r>
              <a:rPr lang="en-US" dirty="0" err="1"/>
              <a:t>cosas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93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tienen</a:t>
            </a:r>
            <a:r>
              <a:rPr lang="en-US" dirty="0"/>
              <a:t> que </a:t>
            </a:r>
            <a:r>
              <a:rPr lang="en-US" dirty="0" err="1"/>
              <a:t>poder</a:t>
            </a:r>
            <a:r>
              <a:rPr lang="en-US" dirty="0"/>
              <a:t> comunicarse entre sí, no tiene por qué ser fluida la conversación, pero si poder llegar a un acuerdo. Y acá aparece algo extremadamente importante, al realizar estas transacciones tenemos que acordar cuánto vale o cuanto estoy dispuesto a dar por lo que me interesa. Por lo tanto, podríamos decir que el comercio es ajeno a las personas que simplemente toman lo que quieren y no respetan que es un bien físico o no físico de otro. ¿Entonces hasta ahora que es lo que conseguimos? Podemos decir que </a:t>
            </a:r>
            <a:endParaRPr lang="es-E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841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comercio</a:t>
            </a:r>
            <a:r>
              <a:rPr lang="en-US" dirty="0"/>
              <a:t> es un </a:t>
            </a:r>
            <a:r>
              <a:rPr lang="en-US" dirty="0" err="1"/>
              <a:t>intercambio</a:t>
            </a:r>
            <a:r>
              <a:rPr lang="en-US" dirty="0"/>
              <a:t> de </a:t>
            </a:r>
            <a:r>
              <a:rPr lang="en-US" dirty="0" err="1"/>
              <a:t>bienes</a:t>
            </a:r>
            <a:r>
              <a:rPr lang="en-US" dirty="0"/>
              <a:t> o </a:t>
            </a:r>
            <a:r>
              <a:rPr lang="en-US" dirty="0" err="1"/>
              <a:t>servicios</a:t>
            </a:r>
            <a:r>
              <a:rPr lang="en-US" dirty="0"/>
              <a:t> entre dos </a:t>
            </a:r>
            <a:r>
              <a:rPr lang="en-US" dirty="0" err="1"/>
              <a:t>individuos</a:t>
            </a:r>
            <a:r>
              <a:rPr lang="en-US" dirty="0"/>
              <a:t> que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medios</a:t>
            </a:r>
            <a:r>
              <a:rPr lang="en-US" dirty="0"/>
              <a:t> </a:t>
            </a:r>
            <a:r>
              <a:rPr lang="en-US" dirty="0" err="1"/>
              <a:t>suficientes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para </a:t>
            </a:r>
            <a:r>
              <a:rPr lang="en-US" dirty="0" err="1"/>
              <a:t>comunicarse</a:t>
            </a:r>
            <a:r>
              <a:rPr lang="en-US" dirty="0"/>
              <a:t> </a:t>
            </a:r>
            <a:r>
              <a:rPr lang="en-US" dirty="0" err="1"/>
              <a:t>exitosamente</a:t>
            </a:r>
            <a:r>
              <a:rPr lang="en-US" dirty="0"/>
              <a:t> y </a:t>
            </a:r>
            <a:r>
              <a:rPr lang="en-US" dirty="0" err="1"/>
              <a:t>llegar</a:t>
            </a:r>
            <a:r>
              <a:rPr lang="en-US" dirty="0"/>
              <a:t> a un </a:t>
            </a:r>
            <a:r>
              <a:rPr lang="en-US" dirty="0" err="1"/>
              <a:t>acuerdo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131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 </a:t>
            </a:r>
            <a:r>
              <a:rPr lang="en-US" dirty="0" err="1"/>
              <a:t>ahora</a:t>
            </a:r>
            <a:r>
              <a:rPr lang="en-US" dirty="0"/>
              <a:t> que </a:t>
            </a:r>
            <a:r>
              <a:rPr lang="en-US" dirty="0" err="1"/>
              <a:t>sabemos</a:t>
            </a:r>
            <a:r>
              <a:rPr lang="en-US" dirty="0"/>
              <a:t> que es y mal que mal </a:t>
            </a:r>
            <a:r>
              <a:rPr lang="en-US" dirty="0" err="1"/>
              <a:t>cuales</a:t>
            </a:r>
            <a:r>
              <a:rPr lang="en-US" dirty="0"/>
              <a:t> son las </a:t>
            </a:r>
            <a:r>
              <a:rPr lang="en-US" dirty="0" err="1"/>
              <a:t>condiciones</a:t>
            </a:r>
            <a:r>
              <a:rPr lang="en-US" dirty="0"/>
              <a:t> para que se de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fue</a:t>
            </a:r>
            <a:r>
              <a:rPr lang="en-US" dirty="0"/>
              <a:t> </a:t>
            </a:r>
            <a:r>
              <a:rPr lang="en-US" dirty="0" err="1"/>
              <a:t>afectando</a:t>
            </a:r>
            <a:r>
              <a:rPr lang="en-US" dirty="0"/>
              <a:t> a las </a:t>
            </a:r>
            <a:r>
              <a:rPr lang="en-US" dirty="0" err="1"/>
              <a:t>sociedades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 al final es algo </a:t>
            </a:r>
            <a:r>
              <a:rPr lang="en-US" dirty="0" err="1"/>
              <a:t>inherente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sea de </a:t>
            </a:r>
            <a:r>
              <a:rPr lang="en-US" dirty="0" err="1"/>
              <a:t>hormigas</a:t>
            </a:r>
            <a:r>
              <a:rPr lang="en-US" dirty="0"/>
              <a:t> a </a:t>
            </a:r>
            <a:r>
              <a:rPr lang="en-US" dirty="0" err="1"/>
              <a:t>humanos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lo </a:t>
            </a:r>
            <a:r>
              <a:rPr lang="en-US" dirty="0" err="1"/>
              <a:t>practicamos</a:t>
            </a:r>
            <a:r>
              <a:rPr lang="en-US" dirty="0"/>
              <a:t> de forma </a:t>
            </a:r>
            <a:r>
              <a:rPr lang="en-US" dirty="0" err="1"/>
              <a:t>explicita</a:t>
            </a:r>
            <a:r>
              <a:rPr lang="en-US" dirty="0"/>
              <a:t> o no. Por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desde</a:t>
            </a:r>
            <a:r>
              <a:rPr lang="en-US" dirty="0"/>
              <a:t> que </a:t>
            </a:r>
            <a:r>
              <a:rPr lang="en-US" dirty="0" err="1"/>
              <a:t>éramos</a:t>
            </a:r>
            <a:r>
              <a:rPr lang="en-US" dirty="0"/>
              <a:t> </a:t>
            </a:r>
            <a:r>
              <a:rPr lang="en-US" dirty="0" err="1"/>
              <a:t>cazadores</a:t>
            </a:r>
            <a:r>
              <a:rPr lang="en-US" dirty="0"/>
              <a:t> </a:t>
            </a:r>
            <a:r>
              <a:rPr lang="en-US" dirty="0" err="1"/>
              <a:t>recolectores</a:t>
            </a:r>
            <a:r>
              <a:rPr lang="en-US" dirty="0"/>
              <a:t> hasta la </a:t>
            </a:r>
            <a:r>
              <a:rPr lang="en-US" dirty="0" err="1"/>
              <a:t>actualidad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buscamos</a:t>
            </a:r>
            <a:r>
              <a:rPr lang="en-US" dirty="0"/>
              <a:t> </a:t>
            </a:r>
            <a:r>
              <a:rPr lang="en-US" dirty="0" err="1"/>
              <a:t>adquirir</a:t>
            </a:r>
            <a:r>
              <a:rPr lang="en-US" dirty="0"/>
              <a:t> lo que no </a:t>
            </a:r>
            <a:r>
              <a:rPr lang="en-US" dirty="0" err="1"/>
              <a:t>podíamos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9674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un principio </a:t>
            </a:r>
            <a:r>
              <a:rPr lang="en-US" dirty="0" err="1"/>
              <a:t>probablemente</a:t>
            </a:r>
            <a:r>
              <a:rPr lang="en-US" dirty="0"/>
              <a:t> fuera </a:t>
            </a:r>
            <a:r>
              <a:rPr lang="en-US" dirty="0" err="1"/>
              <a:t>herramientas</a:t>
            </a:r>
            <a:endParaRPr lang="es-ES" dirty="0" err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870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comida </a:t>
            </a:r>
            <a:r>
              <a:rPr lang="en-US" dirty="0" err="1"/>
              <a:t>ya</a:t>
            </a:r>
            <a:r>
              <a:rPr lang="en-US" dirty="0"/>
              <a:t> que </a:t>
            </a:r>
            <a:r>
              <a:rPr lang="en-US" dirty="0" err="1"/>
              <a:t>seguramente</a:t>
            </a:r>
            <a:r>
              <a:rPr lang="en-US" dirty="0"/>
              <a:t> era lo que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escaseaba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867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</a:t>
            </a:r>
            <a:r>
              <a:rPr lang="en-US" dirty="0" err="1"/>
              <a:t>sociedad</a:t>
            </a:r>
            <a:r>
              <a:rPr lang="en-US" dirty="0"/>
              <a:t> </a:t>
            </a:r>
            <a:r>
              <a:rPr lang="en-US" dirty="0" err="1"/>
              <a:t>tuvo</a:t>
            </a:r>
            <a:r>
              <a:rPr lang="en-US" dirty="0"/>
              <a:t> sus </a:t>
            </a:r>
            <a:r>
              <a:rPr lang="en-US" dirty="0" err="1"/>
              <a:t>necesidades</a:t>
            </a:r>
            <a:r>
              <a:rPr lang="en-US" dirty="0"/>
              <a:t> y </a:t>
            </a:r>
            <a:r>
              <a:rPr lang="en-US" dirty="0" err="1"/>
              <a:t>busco</a:t>
            </a:r>
            <a:r>
              <a:rPr lang="en-US" dirty="0"/>
              <a:t> </a:t>
            </a:r>
            <a:r>
              <a:rPr lang="en-US" dirty="0" err="1"/>
              <a:t>saciarlas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intercambio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romanos</a:t>
            </a:r>
            <a:r>
              <a:rPr lang="en-US" dirty="0"/>
              <a:t> </a:t>
            </a:r>
            <a:r>
              <a:rPr lang="en-US" dirty="0" err="1"/>
              <a:t>necesitaron</a:t>
            </a:r>
            <a:r>
              <a:rPr lang="en-US" dirty="0"/>
              <a:t> </a:t>
            </a:r>
            <a:r>
              <a:rPr lang="en-US" dirty="0" err="1"/>
              <a:t>mucho</a:t>
            </a:r>
            <a:r>
              <a:rPr lang="en-US" dirty="0"/>
              <a:t> trigo que </a:t>
            </a:r>
            <a:r>
              <a:rPr lang="en-US" dirty="0" err="1"/>
              <a:t>compraban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egipcios</a:t>
            </a:r>
            <a:r>
              <a:rPr lang="en-US" dirty="0"/>
              <a:t> para que les </a:t>
            </a:r>
            <a:r>
              <a:rPr lang="en-US" dirty="0" err="1"/>
              <a:t>cerrara</a:t>
            </a:r>
            <a:r>
              <a:rPr lang="en-US" dirty="0"/>
              <a:t> la simple </a:t>
            </a:r>
            <a:r>
              <a:rPr lang="en-US" dirty="0" err="1"/>
              <a:t>ecuación</a:t>
            </a:r>
            <a:r>
              <a:rPr lang="en-US" dirty="0"/>
              <a:t> de pan + </a:t>
            </a:r>
            <a:r>
              <a:rPr lang="en-US" dirty="0" err="1"/>
              <a:t>circo</a:t>
            </a:r>
            <a:r>
              <a:rPr lang="en-US" dirty="0"/>
              <a:t>= </a:t>
            </a:r>
            <a:r>
              <a:rPr lang="en-US" dirty="0" err="1"/>
              <a:t>masas</a:t>
            </a:r>
            <a:r>
              <a:rPr lang="en-US" dirty="0"/>
              <a:t> </a:t>
            </a:r>
            <a:r>
              <a:rPr lang="en-US" dirty="0" err="1"/>
              <a:t>contentas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4896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excelente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españoles</a:t>
            </a:r>
            <a:r>
              <a:rPr lang="en-US" dirty="0"/>
              <a:t> y </a:t>
            </a:r>
            <a:r>
              <a:rPr lang="en-US" dirty="0" err="1"/>
              <a:t>portugueses</a:t>
            </a:r>
            <a:r>
              <a:rPr lang="en-US" dirty="0"/>
              <a:t> que no </a:t>
            </a:r>
            <a:r>
              <a:rPr lang="en-US" dirty="0" err="1"/>
              <a:t>perdieron</a:t>
            </a:r>
            <a:r>
              <a:rPr lang="en-US" dirty="0"/>
              <a:t> la </a:t>
            </a:r>
            <a:r>
              <a:rPr lang="en-US" dirty="0" err="1"/>
              <a:t>oportunidad</a:t>
            </a:r>
            <a:r>
              <a:rPr lang="en-US" dirty="0"/>
              <a:t> de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famoso</a:t>
            </a:r>
            <a:r>
              <a:rPr lang="en-US" dirty="0"/>
              <a:t> </a:t>
            </a:r>
            <a:r>
              <a:rPr lang="en-US" dirty="0" err="1"/>
              <a:t>comercio</a:t>
            </a:r>
            <a:r>
              <a:rPr lang="en-US" dirty="0"/>
              <a:t> triangular con </a:t>
            </a:r>
            <a:r>
              <a:rPr lang="en-US" dirty="0" err="1"/>
              <a:t>esclavos</a:t>
            </a:r>
            <a:r>
              <a:rPr lang="en-US" dirty="0"/>
              <a:t> o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monopolios</a:t>
            </a:r>
            <a:r>
              <a:rPr lang="en-US" dirty="0"/>
              <a:t> con sus colonias.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4497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Okey </a:t>
            </a:r>
            <a:r>
              <a:rPr lang="en-US" dirty="0" err="1"/>
              <a:t>todo</a:t>
            </a:r>
            <a:r>
              <a:rPr lang="en-US" dirty="0"/>
              <a:t> perfecto,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solo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seres</a:t>
            </a:r>
            <a:r>
              <a:rPr lang="en-US" dirty="0"/>
              <a:t> </a:t>
            </a:r>
            <a:r>
              <a:rPr lang="en-US" dirty="0" err="1"/>
              <a:t>vivos</a:t>
            </a:r>
            <a:r>
              <a:rPr lang="en-US" dirty="0"/>
              <a:t> </a:t>
            </a:r>
            <a:r>
              <a:rPr lang="en-US" dirty="0" err="1"/>
              <a:t>sociales</a:t>
            </a:r>
            <a:r>
              <a:rPr lang="en-US" dirty="0"/>
              <a:t> </a:t>
            </a:r>
            <a:r>
              <a:rPr lang="en-US" dirty="0" err="1"/>
              <a:t>comercian</a:t>
            </a:r>
            <a:r>
              <a:rPr lang="en-US" dirty="0"/>
              <a:t>. Vender y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productos</a:t>
            </a:r>
            <a:r>
              <a:rPr lang="en-US" dirty="0"/>
              <a:t> no solo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negociar</a:t>
            </a:r>
            <a:r>
              <a:rPr lang="en-US" dirty="0"/>
              <a:t> y </a:t>
            </a:r>
            <a:r>
              <a:rPr lang="en-US" dirty="0" err="1"/>
              <a:t>llegar</a:t>
            </a:r>
            <a:r>
              <a:rPr lang="en-US" dirty="0"/>
              <a:t> a un </a:t>
            </a:r>
            <a:r>
              <a:rPr lang="en-US" dirty="0" err="1"/>
              <a:t>acuerdo</a:t>
            </a:r>
            <a:r>
              <a:rPr lang="en-US" dirty="0"/>
              <a:t> de forma </a:t>
            </a:r>
            <a:r>
              <a:rPr lang="en-US" dirty="0" err="1"/>
              <a:t>pacífica</a:t>
            </a:r>
            <a:r>
              <a:rPr lang="en-US" dirty="0"/>
              <a:t>, no solo </a:t>
            </a:r>
            <a:r>
              <a:rPr lang="en-US" dirty="0" err="1"/>
              <a:t>queda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ese </a:t>
            </a:r>
            <a:r>
              <a:rPr lang="en-US" dirty="0" err="1"/>
              <a:t>regateo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conversación</a:t>
            </a:r>
            <a:r>
              <a:rPr lang="en-US" dirty="0"/>
              <a:t> se da </a:t>
            </a:r>
            <a:r>
              <a:rPr lang="en-US" dirty="0" err="1"/>
              <a:t>mucho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griegos</a:t>
            </a:r>
            <a:r>
              <a:rPr lang="en-US" dirty="0"/>
              <a:t> gracias 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intensa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</a:t>
            </a:r>
            <a:r>
              <a:rPr lang="en-US" dirty="0" err="1"/>
              <a:t>comercial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general </a:t>
            </a:r>
            <a:r>
              <a:rPr lang="en-US" dirty="0" err="1"/>
              <a:t>lograron</a:t>
            </a:r>
            <a:r>
              <a:rPr lang="en-US" dirty="0"/>
              <a:t> no solo </a:t>
            </a:r>
            <a:r>
              <a:rPr lang="en-US" dirty="0" err="1"/>
              <a:t>comerciar</a:t>
            </a:r>
            <a:r>
              <a:rPr lang="en-US" dirty="0"/>
              <a:t> con gran </a:t>
            </a:r>
            <a:r>
              <a:rPr lang="en-US" dirty="0" err="1"/>
              <a:t>parte</a:t>
            </a:r>
            <a:r>
              <a:rPr lang="en-US" dirty="0"/>
              <a:t> del </a:t>
            </a:r>
            <a:r>
              <a:rPr lang="en-US" dirty="0" err="1"/>
              <a:t>mundo</a:t>
            </a:r>
            <a:r>
              <a:rPr lang="en-US" dirty="0"/>
              <a:t> </a:t>
            </a:r>
            <a:r>
              <a:rPr lang="en-US" dirty="0" err="1"/>
              <a:t>conocido</a:t>
            </a:r>
            <a:r>
              <a:rPr lang="en-US" dirty="0"/>
              <a:t> </a:t>
            </a:r>
            <a:r>
              <a:rPr lang="en-US" dirty="0" err="1"/>
              <a:t>sino</a:t>
            </a:r>
            <a:r>
              <a:rPr lang="en-US" dirty="0"/>
              <a:t> también </a:t>
            </a:r>
            <a:r>
              <a:rPr lang="en-US" dirty="0" err="1"/>
              <a:t>aprender</a:t>
            </a:r>
            <a:r>
              <a:rPr lang="en-US" dirty="0"/>
              <a:t> de </a:t>
            </a:r>
            <a:r>
              <a:rPr lang="en-US" dirty="0" err="1"/>
              <a:t>ellos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lo que la </a:t>
            </a:r>
            <a:r>
              <a:rPr lang="en-US" dirty="0" err="1"/>
              <a:t>cultura</a:t>
            </a:r>
            <a:r>
              <a:rPr lang="en-US" dirty="0"/>
              <a:t> se </a:t>
            </a:r>
            <a:r>
              <a:rPr lang="en-US" dirty="0" err="1"/>
              <a:t>esparce</a:t>
            </a:r>
            <a:r>
              <a:rPr lang="en-US" dirty="0"/>
              <a:t> e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llevarnos</a:t>
            </a:r>
            <a:r>
              <a:rPr lang="en-US" dirty="0"/>
              <a:t> a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lugares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les paso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vikingos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636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</a:t>
            </a:r>
            <a:r>
              <a:rPr lang="en-US" dirty="0" err="1"/>
              <a:t>vikingos</a:t>
            </a:r>
            <a:r>
              <a:rPr lang="en-US" dirty="0"/>
              <a:t> es un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curioso </a:t>
            </a:r>
            <a:r>
              <a:rPr lang="en-US" dirty="0" err="1"/>
              <a:t>ya</a:t>
            </a:r>
            <a:r>
              <a:rPr lang="en-US" dirty="0"/>
              <a:t> que </a:t>
            </a:r>
            <a:r>
              <a:rPr lang="en-US" dirty="0" err="1"/>
              <a:t>por</a:t>
            </a:r>
            <a:r>
              <a:rPr lang="en-US" dirty="0"/>
              <a:t> lo general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conocemos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guerreros</a:t>
            </a:r>
            <a:r>
              <a:rPr lang="en-US" dirty="0"/>
              <a:t> </a:t>
            </a:r>
            <a:r>
              <a:rPr lang="en-US" dirty="0" err="1"/>
              <a:t>nórdicos</a:t>
            </a:r>
            <a:r>
              <a:rPr lang="en-US" dirty="0"/>
              <a:t>, </a:t>
            </a:r>
            <a:r>
              <a:rPr lang="en-US" dirty="0" err="1"/>
              <a:t>fueron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primeros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llegar</a:t>
            </a:r>
            <a:r>
              <a:rPr lang="en-US" dirty="0"/>
              <a:t> a América y </a:t>
            </a:r>
            <a:r>
              <a:rPr lang="en-US" dirty="0" err="1"/>
              <a:t>lograron</a:t>
            </a:r>
            <a:r>
              <a:rPr lang="en-US" dirty="0"/>
              <a:t> con sus </a:t>
            </a:r>
            <a:r>
              <a:rPr lang="en-US" dirty="0" err="1"/>
              <a:t>barcos</a:t>
            </a:r>
            <a:r>
              <a:rPr lang="en-US" dirty="0"/>
              <a:t> </a:t>
            </a:r>
            <a:r>
              <a:rPr lang="en-US" dirty="0" err="1"/>
              <a:t>recorrer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distancias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llegaron</a:t>
            </a:r>
            <a:r>
              <a:rPr lang="en-US" dirty="0"/>
              <a:t> a lo que hoy es Sevilla. </a:t>
            </a:r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comercio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importancia</a:t>
            </a:r>
            <a:r>
              <a:rPr lang="en-US" dirty="0"/>
              <a:t> extra para las </a:t>
            </a:r>
            <a:r>
              <a:rPr lang="en-US" dirty="0" err="1"/>
              <a:t>civilizaciones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que las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pacificas</a:t>
            </a:r>
            <a:r>
              <a:rPr lang="en-US" dirty="0"/>
              <a:t>,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alianzas</a:t>
            </a:r>
            <a:r>
              <a:rPr lang="en-US" dirty="0"/>
              <a:t> y </a:t>
            </a:r>
            <a:r>
              <a:rPr lang="en-US" dirty="0" err="1"/>
              <a:t>potencia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descubrimientos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materias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3368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fue</a:t>
            </a:r>
            <a:r>
              <a:rPr lang="en-US" dirty="0"/>
              <a:t> </a:t>
            </a:r>
            <a:r>
              <a:rPr lang="en-US" dirty="0" err="1"/>
              <a:t>posible</a:t>
            </a:r>
            <a:r>
              <a:rPr lang="en-US" dirty="0"/>
              <a:t> la </a:t>
            </a:r>
            <a:r>
              <a:rPr lang="en-US" dirty="0" err="1"/>
              <a:t>conquista</a:t>
            </a:r>
            <a:r>
              <a:rPr lang="en-US" dirty="0"/>
              <a:t> de </a:t>
            </a:r>
            <a:r>
              <a:rPr lang="en-US" dirty="0" err="1"/>
              <a:t>Constantinopla</a:t>
            </a:r>
            <a:r>
              <a:rPr lang="en-US" dirty="0"/>
              <a:t> a manos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otomanos</a:t>
            </a:r>
            <a:r>
              <a:rPr lang="en-US" dirty="0"/>
              <a:t> gracias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cañones</a:t>
            </a:r>
            <a:r>
              <a:rPr lang="en-US" dirty="0"/>
              <a:t> </a:t>
            </a:r>
            <a:r>
              <a:rPr lang="en-US" dirty="0" err="1"/>
              <a:t>gigantes</a:t>
            </a:r>
            <a:r>
              <a:rPr lang="en-US" dirty="0"/>
              <a:t> que le </a:t>
            </a:r>
            <a:r>
              <a:rPr lang="en-US" dirty="0" err="1"/>
              <a:t>compraron</a:t>
            </a:r>
            <a:r>
              <a:rPr lang="en-US" dirty="0"/>
              <a:t> a </a:t>
            </a:r>
            <a:r>
              <a:rPr lang="en-US" dirty="0" err="1"/>
              <a:t>unos</a:t>
            </a:r>
            <a:r>
              <a:rPr lang="en-US" dirty="0"/>
              <a:t> </a:t>
            </a:r>
            <a:r>
              <a:rPr lang="en-US" dirty="0" err="1"/>
              <a:t>artesanos</a:t>
            </a:r>
            <a:r>
              <a:rPr lang="en-US" dirty="0"/>
              <a:t> de </a:t>
            </a:r>
            <a:r>
              <a:rPr lang="en-US" dirty="0" err="1"/>
              <a:t>origen</a:t>
            </a:r>
            <a:r>
              <a:rPr lang="en-US" dirty="0"/>
              <a:t> </a:t>
            </a:r>
            <a:r>
              <a:rPr lang="en-US" dirty="0" err="1"/>
              <a:t>europeo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4415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avance</a:t>
            </a:r>
            <a:r>
              <a:rPr lang="en-US" dirty="0"/>
              <a:t> que le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atribuir</a:t>
            </a:r>
            <a:r>
              <a:rPr lang="en-US" dirty="0"/>
              <a:t> a </a:t>
            </a:r>
            <a:r>
              <a:rPr lang="en-US" dirty="0" err="1"/>
              <a:t>buscar</a:t>
            </a:r>
            <a:r>
              <a:rPr lang="en-US" dirty="0"/>
              <a:t> vender </a:t>
            </a:r>
            <a:r>
              <a:rPr lang="en-US" dirty="0" err="1"/>
              <a:t>más</a:t>
            </a:r>
            <a:r>
              <a:rPr lang="en-US" dirty="0"/>
              <a:t> es la </a:t>
            </a:r>
            <a:r>
              <a:rPr lang="en-US" dirty="0" err="1"/>
              <a:t>miniaturización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aparatos</a:t>
            </a:r>
            <a:r>
              <a:rPr lang="en-US" dirty="0"/>
              <a:t> </a:t>
            </a:r>
            <a:r>
              <a:rPr lang="en-US" dirty="0" err="1"/>
              <a:t>electrónicos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chinos y </a:t>
            </a:r>
            <a:r>
              <a:rPr lang="en-US" dirty="0" err="1"/>
              <a:t>japoneses</a:t>
            </a:r>
            <a:r>
              <a:rPr lang="en-US" dirty="0"/>
              <a:t> </a:t>
            </a:r>
            <a:r>
              <a:rPr lang="en-US" dirty="0" err="1"/>
              <a:t>empezaron</a:t>
            </a:r>
            <a:r>
              <a:rPr lang="en-US" dirty="0"/>
              <a:t> a </a:t>
            </a:r>
            <a:r>
              <a:rPr lang="en-US" dirty="0" err="1"/>
              <a:t>soldar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vertical.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1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 </a:t>
            </a:r>
            <a:r>
              <a:rPr lang="en-US" dirty="0" err="1"/>
              <a:t>haya</a:t>
            </a:r>
            <a:r>
              <a:rPr lang="en-US" dirty="0"/>
              <a:t> de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no </a:t>
            </a:r>
            <a:r>
              <a:rPr lang="en-US" dirty="0" err="1"/>
              <a:t>somos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únicos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la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conveniente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comerciar</a:t>
            </a:r>
            <a:r>
              <a:rPr lang="en-US" dirty="0"/>
              <a:t>, también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hacen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seres</a:t>
            </a:r>
            <a:r>
              <a:rPr lang="en-US" dirty="0"/>
              <a:t> </a:t>
            </a:r>
            <a:r>
              <a:rPr lang="en-US" dirty="0" err="1"/>
              <a:t>vivos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las </a:t>
            </a:r>
            <a:r>
              <a:rPr lang="en-US" dirty="0" err="1"/>
              <a:t>hormigas</a:t>
            </a:r>
            <a:endParaRPr lang="es-ES" dirty="0" err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978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abejas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monos</a:t>
            </a:r>
            <a:r>
              <a:rPr lang="en-US" dirty="0"/>
              <a:t>, etc.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únicos</a:t>
            </a:r>
            <a:r>
              <a:rPr lang="en-US" dirty="0"/>
              <a:t> que no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moneda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sí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social </a:t>
            </a:r>
            <a:r>
              <a:rPr lang="en-US" dirty="0" err="1"/>
              <a:t>en</a:t>
            </a:r>
            <a:r>
              <a:rPr lang="en-US" dirty="0"/>
              <a:t> las que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hacen</a:t>
            </a:r>
            <a:r>
              <a:rPr lang="en-US" dirty="0"/>
              <a:t> </a:t>
            </a:r>
            <a:r>
              <a:rPr lang="en-US" dirty="0" err="1"/>
              <a:t>ciertas</a:t>
            </a:r>
            <a:r>
              <a:rPr lang="en-US" dirty="0"/>
              <a:t> </a:t>
            </a:r>
            <a:r>
              <a:rPr lang="en-US" dirty="0" err="1"/>
              <a:t>tareas</a:t>
            </a:r>
            <a:r>
              <a:rPr lang="en-US" dirty="0"/>
              <a:t> y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otras</a:t>
            </a:r>
            <a:r>
              <a:rPr lang="en-US" dirty="0"/>
              <a:t> para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pertenecer</a:t>
            </a:r>
            <a:r>
              <a:rPr lang="en-US" dirty="0"/>
              <a:t> al </a:t>
            </a:r>
            <a:r>
              <a:rPr lang="en-US" dirty="0" err="1"/>
              <a:t>grupo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365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monos</a:t>
            </a:r>
            <a:r>
              <a:rPr lang="en-US" dirty="0"/>
              <a:t> que </a:t>
            </a:r>
            <a:r>
              <a:rPr lang="en-US" dirty="0" err="1"/>
              <a:t>hacen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intercambio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comida o </a:t>
            </a:r>
            <a:r>
              <a:rPr lang="en-US" dirty="0" err="1"/>
              <a:t>favores</a:t>
            </a:r>
            <a:r>
              <a:rPr lang="en-US" dirty="0"/>
              <a:t>, </a:t>
            </a:r>
            <a:r>
              <a:rPr lang="en-US" dirty="0" err="1"/>
              <a:t>creando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suerte de “</a:t>
            </a:r>
            <a:r>
              <a:rPr lang="en-US" dirty="0" err="1"/>
              <a:t>amistad</a:t>
            </a:r>
            <a:r>
              <a:rPr lang="en-US" dirty="0"/>
              <a:t>”. Es algo similar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contratos</a:t>
            </a:r>
            <a:r>
              <a:rPr lang="en-US" dirty="0"/>
              <a:t> </a:t>
            </a:r>
            <a:r>
              <a:rPr lang="en-US" dirty="0" err="1"/>
              <a:t>sociales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8631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acá</a:t>
            </a:r>
            <a:r>
              <a:rPr lang="en-US" dirty="0"/>
              <a:t> hay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aspecto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humano</a:t>
            </a:r>
            <a:r>
              <a:rPr lang="en-US" dirty="0"/>
              <a:t> </a:t>
            </a:r>
            <a:r>
              <a:rPr lang="en-US" dirty="0" err="1"/>
              <a:t>fue</a:t>
            </a:r>
            <a:r>
              <a:rPr lang="en-US" dirty="0"/>
              <a:t> </a:t>
            </a:r>
            <a:r>
              <a:rPr lang="en-US" dirty="0" err="1"/>
              <a:t>evolucionando</a:t>
            </a:r>
            <a:r>
              <a:rPr lang="en-US" dirty="0"/>
              <a:t> a lo largo de la </a:t>
            </a:r>
            <a:r>
              <a:rPr lang="en-US" dirty="0" err="1"/>
              <a:t>historia</a:t>
            </a:r>
            <a:r>
              <a:rPr lang="en-US" dirty="0"/>
              <a:t>. El </a:t>
            </a:r>
            <a:r>
              <a:rPr lang="en-US" dirty="0" err="1"/>
              <a:t>comercio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principio era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intercambio</a:t>
            </a:r>
            <a:r>
              <a:rPr lang="en-US" dirty="0"/>
              <a:t> de dos </a:t>
            </a:r>
            <a:r>
              <a:rPr lang="en-US" dirty="0" err="1"/>
              <a:t>objetos</a:t>
            </a:r>
            <a:r>
              <a:rPr lang="en-US" dirty="0"/>
              <a:t> o </a:t>
            </a:r>
            <a:r>
              <a:rPr lang="en-US" dirty="0" err="1"/>
              <a:t>servicios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se </a:t>
            </a:r>
            <a:r>
              <a:rPr lang="en-US" dirty="0" err="1"/>
              <a:t>empezó</a:t>
            </a:r>
            <a:r>
              <a:rPr lang="en-US" dirty="0"/>
              <a:t> a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equivalencias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: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2438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kilogramo</a:t>
            </a:r>
            <a:r>
              <a:rPr lang="en-US" dirty="0"/>
              <a:t> de </a:t>
            </a:r>
            <a:r>
              <a:rPr lang="en-US" dirty="0" err="1"/>
              <a:t>sal</a:t>
            </a:r>
            <a:r>
              <a:rPr lang="en-US" dirty="0"/>
              <a:t> equivale a </a:t>
            </a:r>
            <a:r>
              <a:rPr lang="en-US" dirty="0" err="1"/>
              <a:t>una</a:t>
            </a:r>
            <a:r>
              <a:rPr lang="en-US" dirty="0"/>
              <a:t> casa, un </a:t>
            </a:r>
            <a:r>
              <a:rPr lang="en-US" dirty="0" err="1"/>
              <a:t>kilogramo</a:t>
            </a:r>
            <a:r>
              <a:rPr lang="en-US" dirty="0"/>
              <a:t> de </a:t>
            </a:r>
            <a:r>
              <a:rPr lang="en-US" dirty="0" err="1"/>
              <a:t>oro</a:t>
            </a:r>
            <a:r>
              <a:rPr lang="en-US" dirty="0"/>
              <a:t> equivale a 50 </a:t>
            </a:r>
            <a:r>
              <a:rPr lang="en-US" dirty="0" err="1"/>
              <a:t>litros</a:t>
            </a:r>
            <a:r>
              <a:rPr lang="en-US" dirty="0"/>
              <a:t> de vino, </a:t>
            </a:r>
            <a:r>
              <a:rPr lang="en-US" dirty="0" err="1"/>
              <a:t>cosas</a:t>
            </a:r>
            <a:r>
              <a:rPr lang="en-US" dirty="0"/>
              <a:t> de ese </a:t>
            </a:r>
            <a:r>
              <a:rPr lang="en-US" dirty="0" err="1"/>
              <a:t>etilo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hasta </a:t>
            </a:r>
            <a:r>
              <a:rPr lang="en-US" dirty="0" err="1"/>
              <a:t>llegar</a:t>
            </a:r>
            <a:r>
              <a:rPr lang="en-US" dirty="0"/>
              <a:t> a las </a:t>
            </a:r>
            <a:r>
              <a:rPr lang="en-US" dirty="0" err="1"/>
              <a:t>monedas</a:t>
            </a:r>
            <a:r>
              <a:rPr lang="en-US" dirty="0"/>
              <a:t> de </a:t>
            </a:r>
            <a:r>
              <a:rPr lang="en-US" dirty="0" err="1"/>
              <a:t>oro</a:t>
            </a:r>
            <a:r>
              <a:rPr lang="en-US" dirty="0"/>
              <a:t>, </a:t>
            </a:r>
            <a:r>
              <a:rPr lang="en-US" dirty="0" err="1"/>
              <a:t>plata</a:t>
            </a:r>
            <a:r>
              <a:rPr lang="en-US" dirty="0"/>
              <a:t> y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metales</a:t>
            </a:r>
            <a:endParaRPr lang="es-ES" dirty="0" err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5442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embargo,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verdadero</a:t>
            </a:r>
            <a:r>
              <a:rPr lang="en-US" dirty="0"/>
              <a:t> punto de </a:t>
            </a:r>
            <a:r>
              <a:rPr lang="en-US" dirty="0" err="1"/>
              <a:t>inflación</a:t>
            </a:r>
            <a:r>
              <a:rPr lang="en-US" dirty="0"/>
              <a:t> </a:t>
            </a:r>
            <a:r>
              <a:rPr lang="en-US" dirty="0" err="1"/>
              <a:t>llego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genghis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creo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papel</a:t>
            </a:r>
            <a:r>
              <a:rPr lang="en-US" dirty="0"/>
              <a:t> de </a:t>
            </a:r>
            <a:r>
              <a:rPr lang="en-US" dirty="0" err="1"/>
              <a:t>moneda</a:t>
            </a:r>
            <a:r>
              <a:rPr lang="en-US" dirty="0"/>
              <a:t>, </a:t>
            </a:r>
            <a:r>
              <a:rPr lang="en-US" dirty="0" err="1"/>
              <a:t>básicamente</a:t>
            </a:r>
            <a:r>
              <a:rPr lang="en-US" dirty="0"/>
              <a:t> </a:t>
            </a:r>
            <a:r>
              <a:rPr lang="en-US" dirty="0" err="1"/>
              <a:t>dijo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es lo </a:t>
            </a:r>
            <a:r>
              <a:rPr lang="en-US" dirty="0" err="1"/>
              <a:t>mismo</a:t>
            </a:r>
            <a:r>
              <a:rPr lang="en-US" dirty="0"/>
              <a:t> que 50 </a:t>
            </a:r>
            <a:r>
              <a:rPr lang="en-US" dirty="0" err="1"/>
              <a:t>monedas</a:t>
            </a:r>
            <a:r>
              <a:rPr lang="en-US" dirty="0"/>
              <a:t> de </a:t>
            </a:r>
            <a:r>
              <a:rPr lang="en-US" dirty="0" err="1"/>
              <a:t>oro</a:t>
            </a:r>
            <a:r>
              <a:rPr lang="en-US" dirty="0"/>
              <a:t>, </a:t>
            </a:r>
            <a:r>
              <a:rPr lang="en-US" dirty="0" err="1"/>
              <a:t>entonces</a:t>
            </a:r>
            <a:r>
              <a:rPr lang="en-US" dirty="0"/>
              <a:t> uno no </a:t>
            </a:r>
            <a:r>
              <a:rPr lang="en-US" dirty="0" err="1"/>
              <a:t>podía</a:t>
            </a:r>
            <a:r>
              <a:rPr lang="en-US" dirty="0"/>
              <a:t> mover </a:t>
            </a:r>
            <a:r>
              <a:rPr lang="en-US" dirty="0" err="1"/>
              <a:t>el</a:t>
            </a:r>
            <a:r>
              <a:rPr lang="en-US" dirty="0"/>
              <a:t> dinero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fácil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pesaba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y al vender o </a:t>
            </a:r>
            <a:r>
              <a:rPr lang="en-US" dirty="0" err="1"/>
              <a:t>comprar</a:t>
            </a:r>
            <a:r>
              <a:rPr lang="en-US" dirty="0"/>
              <a:t> un </a:t>
            </a:r>
            <a:r>
              <a:rPr lang="en-US" dirty="0" err="1"/>
              <a:t>producto</a:t>
            </a:r>
            <a:r>
              <a:rPr lang="en-US" dirty="0"/>
              <a:t> o </a:t>
            </a:r>
            <a:r>
              <a:rPr lang="en-US" dirty="0" err="1"/>
              <a:t>servicio</a:t>
            </a:r>
            <a:r>
              <a:rPr lang="en-US" dirty="0"/>
              <a:t> no lo tenias que </a:t>
            </a:r>
            <a:r>
              <a:rPr lang="en-US" dirty="0" err="1"/>
              <a:t>intercambiar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algo similar.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011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actualidad</a:t>
            </a:r>
            <a:r>
              <a:rPr lang="en-US" dirty="0"/>
              <a:t> </a:t>
            </a:r>
            <a:r>
              <a:rPr lang="en-US" dirty="0" err="1"/>
              <a:t>derivo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tarjetas</a:t>
            </a:r>
            <a:r>
              <a:rPr lang="en-US" dirty="0"/>
              <a:t> de </a:t>
            </a:r>
            <a:r>
              <a:rPr lang="en-US" dirty="0" err="1"/>
              <a:t>crédito</a:t>
            </a:r>
            <a:endParaRPr lang="es-ES" dirty="0" err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4203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billeteras</a:t>
            </a:r>
            <a:r>
              <a:rPr lang="en-US" dirty="0"/>
              <a:t> </a:t>
            </a:r>
            <a:r>
              <a:rPr lang="en-US" dirty="0" err="1"/>
              <a:t>virtuales</a:t>
            </a:r>
            <a:endParaRPr lang="es-ES" dirty="0" err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2210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el</a:t>
            </a:r>
            <a:r>
              <a:rPr lang="en-US" dirty="0"/>
              <a:t> bitcoin y </a:t>
            </a:r>
            <a:r>
              <a:rPr lang="en-US" dirty="0" err="1"/>
              <a:t>básicamente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dinero que no es dinero.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099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¿Okey “</a:t>
            </a:r>
            <a:r>
              <a:rPr lang="en-US" dirty="0" err="1"/>
              <a:t>el</a:t>
            </a:r>
            <a:r>
              <a:rPr lang="en-US" dirty="0"/>
              <a:t> dinero que no es dinero” que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? Esto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decir</a:t>
            </a:r>
            <a:r>
              <a:rPr lang="en-US" dirty="0"/>
              <a:t> que </a:t>
            </a:r>
            <a:r>
              <a:rPr lang="en-US" dirty="0" err="1"/>
              <a:t>yo</a:t>
            </a:r>
            <a:r>
              <a:rPr lang="en-US" dirty="0"/>
              <a:t> </a:t>
            </a:r>
            <a:r>
              <a:rPr lang="en-US" dirty="0" err="1"/>
              <a:t>decido</a:t>
            </a:r>
            <a:r>
              <a:rPr lang="en-US" dirty="0"/>
              <a:t> </a:t>
            </a:r>
            <a:r>
              <a:rPr lang="en-US" dirty="0" err="1"/>
              <a:t>cuanto</a:t>
            </a:r>
            <a:r>
              <a:rPr lang="en-US" dirty="0"/>
              <a:t> vale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, </a:t>
            </a:r>
            <a:r>
              <a:rPr lang="en-US" dirty="0" err="1"/>
              <a:t>puedo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que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roca</a:t>
            </a:r>
            <a:r>
              <a:rPr lang="en-US" dirty="0"/>
              <a:t> </a:t>
            </a:r>
            <a:r>
              <a:rPr lang="en-US" dirty="0" err="1"/>
              <a:t>valga</a:t>
            </a:r>
            <a:r>
              <a:rPr lang="en-US" dirty="0"/>
              <a:t> lo </a:t>
            </a:r>
            <a:r>
              <a:rPr lang="en-US" dirty="0" err="1"/>
              <a:t>mismo</a:t>
            </a:r>
            <a:r>
              <a:rPr lang="en-US" dirty="0"/>
              <a:t> que </a:t>
            </a:r>
            <a:r>
              <a:rPr lang="en-US" dirty="0" err="1"/>
              <a:t>una</a:t>
            </a:r>
            <a:r>
              <a:rPr lang="en-US" dirty="0"/>
              <a:t> casa o que </a:t>
            </a:r>
            <a:r>
              <a:rPr lang="en-US" dirty="0" err="1"/>
              <a:t>simplemente</a:t>
            </a:r>
            <a:r>
              <a:rPr lang="en-US" dirty="0"/>
              <a:t> sea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roca</a:t>
            </a:r>
            <a:r>
              <a:rPr lang="en-US" dirty="0"/>
              <a:t>. </a:t>
            </a:r>
            <a:r>
              <a:rPr lang="en-US" dirty="0" err="1"/>
              <a:t>Ahora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roca</a:t>
            </a:r>
            <a:r>
              <a:rPr lang="en-US" dirty="0"/>
              <a:t> no es solo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roca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algo y ese algo </a:t>
            </a:r>
            <a:r>
              <a:rPr lang="en-US" dirty="0" err="1"/>
              <a:t>responde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roca</a:t>
            </a:r>
            <a:r>
              <a:rPr lang="en-US" dirty="0"/>
              <a:t>. ¿A </a:t>
            </a:r>
            <a:r>
              <a:rPr lang="en-US" dirty="0" err="1"/>
              <a:t>dónde</a:t>
            </a:r>
            <a:r>
              <a:rPr lang="en-US" dirty="0"/>
              <a:t> </a:t>
            </a:r>
            <a:r>
              <a:rPr lang="en-US" dirty="0" err="1"/>
              <a:t>quiero</a:t>
            </a:r>
            <a:r>
              <a:rPr lang="en-US" dirty="0"/>
              <a:t> </a:t>
            </a:r>
            <a:r>
              <a:rPr lang="en-US" dirty="0" err="1"/>
              <a:t>llegar</a:t>
            </a:r>
            <a:r>
              <a:rPr lang="en-US" dirty="0"/>
              <a:t>? A que, </a:t>
            </a:r>
            <a:r>
              <a:rPr lang="en-US" dirty="0" err="1"/>
              <a:t>si</a:t>
            </a:r>
            <a:r>
              <a:rPr lang="en-US" dirty="0"/>
              <a:t> hay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rocas</a:t>
            </a:r>
            <a:r>
              <a:rPr lang="en-US" dirty="0"/>
              <a:t> de lo que </a:t>
            </a:r>
            <a:r>
              <a:rPr lang="en-US" dirty="0" err="1"/>
              <a:t>representan</a:t>
            </a:r>
            <a:r>
              <a:rPr lang="en-US" dirty="0"/>
              <a:t>, que </a:t>
            </a:r>
            <a:r>
              <a:rPr lang="en-US" dirty="0" err="1"/>
              <a:t>en</a:t>
            </a:r>
            <a:r>
              <a:rPr lang="en-US" dirty="0"/>
              <a:t> palabras </a:t>
            </a:r>
            <a:r>
              <a:rPr lang="en-US" dirty="0" err="1"/>
              <a:t>actuales</a:t>
            </a:r>
            <a:r>
              <a:rPr lang="en-US" dirty="0"/>
              <a:t> es </a:t>
            </a:r>
            <a:r>
              <a:rPr lang="en-US" dirty="0" err="1"/>
              <a:t>imprimir</a:t>
            </a:r>
            <a:r>
              <a:rPr lang="en-US" dirty="0"/>
              <a:t> dinero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inflación</a:t>
            </a:r>
            <a:r>
              <a:rPr lang="en-US" dirty="0"/>
              <a:t>. Ese es uno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de la </a:t>
            </a:r>
            <a:r>
              <a:rPr lang="en-US" dirty="0" err="1"/>
              <a:t>argentina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también lo </a:t>
            </a:r>
            <a:r>
              <a:rPr lang="en-US" dirty="0" err="1"/>
              <a:t>fue</a:t>
            </a:r>
            <a:r>
              <a:rPr lang="en-US" dirty="0"/>
              <a:t> de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la Alemania de la </a:t>
            </a:r>
            <a:r>
              <a:rPr lang="en-US" dirty="0" err="1"/>
              <a:t>posguerra</a:t>
            </a:r>
            <a:r>
              <a:rPr lang="en-US" dirty="0"/>
              <a:t> o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estados</a:t>
            </a:r>
            <a:r>
              <a:rPr lang="en-US" dirty="0"/>
              <a:t> </a:t>
            </a:r>
            <a:r>
              <a:rPr lang="en-US" dirty="0" err="1"/>
              <a:t>unidos</a:t>
            </a:r>
            <a:r>
              <a:rPr lang="en-US" dirty="0"/>
              <a:t> con la crisis de Wall Street.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Okey,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Wall street no </a:t>
            </a:r>
            <a:r>
              <a:rPr lang="en-US" dirty="0" err="1"/>
              <a:t>imprimían</a:t>
            </a:r>
            <a:r>
              <a:rPr lang="en-US" dirty="0"/>
              <a:t> dinero. Bueno es </a:t>
            </a:r>
            <a:r>
              <a:rPr lang="en-US" dirty="0" err="1"/>
              <a:t>cierto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hacían</a:t>
            </a:r>
            <a:r>
              <a:rPr lang="en-US" dirty="0"/>
              <a:t> algo </a:t>
            </a:r>
            <a:r>
              <a:rPr lang="en-US" dirty="0" err="1"/>
              <a:t>parecido</a:t>
            </a:r>
            <a:r>
              <a:rPr lang="en-US" dirty="0"/>
              <a:t> y </a:t>
            </a:r>
            <a:r>
              <a:rPr lang="en-US" dirty="0" err="1"/>
              <a:t>yendo</a:t>
            </a:r>
            <a:r>
              <a:rPr lang="en-US" dirty="0"/>
              <a:t> al </a:t>
            </a:r>
            <a:r>
              <a:rPr lang="en-US" dirty="0" err="1"/>
              <a:t>concepto</a:t>
            </a:r>
            <a:r>
              <a:rPr lang="en-US" dirty="0"/>
              <a:t> es la </a:t>
            </a:r>
            <a:r>
              <a:rPr lang="en-US" dirty="0" err="1"/>
              <a:t>misma</a:t>
            </a:r>
            <a:r>
              <a:rPr lang="en-US" dirty="0"/>
              <a:t> idea;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inversionistas</a:t>
            </a:r>
            <a:r>
              <a:rPr lang="en-US" dirty="0"/>
              <a:t> </a:t>
            </a:r>
            <a:r>
              <a:rPr lang="en-US" dirty="0" err="1"/>
              <a:t>creían</a:t>
            </a:r>
            <a:r>
              <a:rPr lang="en-US" dirty="0"/>
              <a:t> que sus </a:t>
            </a:r>
            <a:r>
              <a:rPr lang="en-US" dirty="0" err="1"/>
              <a:t>acciones</a:t>
            </a:r>
            <a:r>
              <a:rPr lang="en-US" dirty="0"/>
              <a:t> </a:t>
            </a:r>
            <a:r>
              <a:rPr lang="en-US" dirty="0" err="1"/>
              <a:t>valían</a:t>
            </a:r>
            <a:r>
              <a:rPr lang="en-US" dirty="0"/>
              <a:t> mas de lo que </a:t>
            </a:r>
            <a:r>
              <a:rPr lang="en-US" dirty="0" err="1"/>
              <a:t>realmente</a:t>
            </a:r>
            <a:r>
              <a:rPr lang="en-US" dirty="0"/>
              <a:t> </a:t>
            </a:r>
            <a:r>
              <a:rPr lang="en-US" dirty="0" err="1"/>
              <a:t>valían</a:t>
            </a:r>
            <a:r>
              <a:rPr lang="en-US" dirty="0"/>
              <a:t> y un día se </a:t>
            </a:r>
            <a:r>
              <a:rPr lang="en-US" dirty="0" err="1"/>
              <a:t>dieron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de que no </a:t>
            </a:r>
            <a:r>
              <a:rPr lang="en-US" dirty="0" err="1"/>
              <a:t>tenían</a:t>
            </a:r>
            <a:r>
              <a:rPr lang="en-US" dirty="0"/>
              <a:t> tanto dinero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creían</a:t>
            </a:r>
            <a:r>
              <a:rPr lang="en-US" dirty="0"/>
              <a:t> y </a:t>
            </a:r>
            <a:r>
              <a:rPr lang="en-US" dirty="0" err="1"/>
              <a:t>ahí</a:t>
            </a:r>
            <a:r>
              <a:rPr lang="en-US" dirty="0"/>
              <a:t> se </a:t>
            </a:r>
            <a:r>
              <a:rPr lang="en-US" dirty="0" err="1"/>
              <a:t>pincho</a:t>
            </a:r>
            <a:r>
              <a:rPr lang="en-US" dirty="0"/>
              <a:t> la </a:t>
            </a:r>
            <a:r>
              <a:rPr lang="en-US" dirty="0" err="1"/>
              <a:t>burbuja</a:t>
            </a:r>
            <a:r>
              <a:rPr lang="en-US" dirty="0"/>
              <a:t>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964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Cuando</a:t>
            </a:r>
            <a:r>
              <a:rPr lang="en-US" dirty="0"/>
              <a:t> la </a:t>
            </a:r>
            <a:r>
              <a:rPr lang="en-US" dirty="0" err="1"/>
              <a:t>burbuja</a:t>
            </a:r>
            <a:r>
              <a:rPr lang="en-US" dirty="0"/>
              <a:t> se </a:t>
            </a:r>
            <a:r>
              <a:rPr lang="en-US" dirty="0" err="1"/>
              <a:t>pincho</a:t>
            </a:r>
            <a:r>
              <a:rPr lang="en-US" dirty="0"/>
              <a:t> la crisis no tardo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expandirse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mundo</a:t>
            </a:r>
            <a:r>
              <a:rPr lang="en-US" dirty="0"/>
              <a:t> y </a:t>
            </a:r>
            <a:r>
              <a:rPr lang="en-US" dirty="0" err="1"/>
              <a:t>crear</a:t>
            </a:r>
            <a:r>
              <a:rPr lang="en-US" dirty="0"/>
              <a:t> la crisis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años</a:t>
            </a:r>
            <a:r>
              <a:rPr lang="en-US" dirty="0"/>
              <a:t> </a:t>
            </a:r>
            <a:r>
              <a:rPr lang="en-US" dirty="0" err="1"/>
              <a:t>treinta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8128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bien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comercio</a:t>
            </a:r>
            <a:r>
              <a:rPr lang="en-US" dirty="0"/>
              <a:t>, la </a:t>
            </a:r>
            <a:r>
              <a:rPr lang="en-US" dirty="0" err="1"/>
              <a:t>conectividad</a:t>
            </a:r>
            <a:r>
              <a:rPr lang="en-US" dirty="0"/>
              <a:t>, la </a:t>
            </a:r>
            <a:r>
              <a:rPr lang="en-US" dirty="0" err="1"/>
              <a:t>comunicación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sacar</a:t>
            </a:r>
            <a:r>
              <a:rPr lang="en-US" dirty="0"/>
              <a:t> </a:t>
            </a:r>
            <a:r>
              <a:rPr lang="en-US" dirty="0" err="1"/>
              <a:t>cosas</a:t>
            </a:r>
            <a:r>
              <a:rPr lang="en-US" dirty="0"/>
              <a:t> </a:t>
            </a:r>
            <a:r>
              <a:rPr lang="en-US" dirty="0" err="1"/>
              <a:t>provechosas</a:t>
            </a:r>
            <a:r>
              <a:rPr lang="en-US" dirty="0"/>
              <a:t>, a </a:t>
            </a:r>
            <a:r>
              <a:rPr lang="en-US" dirty="0" err="1"/>
              <a:t>veces</a:t>
            </a:r>
            <a:r>
              <a:rPr lang="en-US" dirty="0"/>
              <a:t> un </a:t>
            </a:r>
            <a:r>
              <a:rPr lang="en-US" dirty="0" err="1"/>
              <a:t>exceso</a:t>
            </a:r>
            <a:r>
              <a:rPr lang="en-US" dirty="0"/>
              <a:t> de </a:t>
            </a:r>
            <a:r>
              <a:rPr lang="en-US" dirty="0" err="1"/>
              <a:t>ambición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juega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contra y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replantearnos</a:t>
            </a:r>
            <a:r>
              <a:rPr lang="en-US" dirty="0"/>
              <a:t>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. ¿Que </a:t>
            </a:r>
            <a:r>
              <a:rPr lang="en-US" dirty="0" err="1"/>
              <a:t>podrían</a:t>
            </a:r>
            <a:r>
              <a:rPr lang="en-US" dirty="0"/>
              <a:t> ser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? Por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fordismo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toyotismo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las </a:t>
            </a:r>
            <a:r>
              <a:rPr lang="en-US" dirty="0" err="1"/>
              <a:t>multinacionales</a:t>
            </a:r>
            <a:r>
              <a:rPr lang="en-US" dirty="0"/>
              <a:t>, etc.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4355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Pero hay dos </a:t>
            </a:r>
            <a:r>
              <a:rPr lang="en-US" dirty="0" err="1"/>
              <a:t>formas</a:t>
            </a:r>
            <a:r>
              <a:rPr lang="en-US" dirty="0"/>
              <a:t> para que un </a:t>
            </a:r>
            <a:r>
              <a:rPr lang="en-US" dirty="0" err="1"/>
              <a:t>país</a:t>
            </a:r>
            <a:r>
              <a:rPr lang="en-US" dirty="0"/>
              <a:t> </a:t>
            </a:r>
            <a:r>
              <a:rPr lang="en-US" dirty="0" err="1"/>
              <a:t>haga</a:t>
            </a:r>
            <a:r>
              <a:rPr lang="en-US" dirty="0"/>
              <a:t> dinero y dos </a:t>
            </a:r>
            <a:r>
              <a:rPr lang="en-US" dirty="0" err="1"/>
              <a:t>formas</a:t>
            </a:r>
            <a:r>
              <a:rPr lang="en-US" dirty="0"/>
              <a:t> de </a:t>
            </a:r>
            <a:r>
              <a:rPr lang="en-US" dirty="0" err="1"/>
              <a:t>acomodar</a:t>
            </a:r>
            <a:r>
              <a:rPr lang="en-US" dirty="0"/>
              <a:t> a la </a:t>
            </a:r>
            <a:r>
              <a:rPr lang="en-US" dirty="0" err="1"/>
              <a:t>sociedad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 al dinero. Como </a:t>
            </a:r>
            <a:r>
              <a:rPr lang="en-US" dirty="0" err="1"/>
              <a:t>formas</a:t>
            </a:r>
            <a:r>
              <a:rPr lang="en-US" dirty="0"/>
              <a:t> de </a:t>
            </a:r>
            <a:r>
              <a:rPr lang="en-US" dirty="0" err="1"/>
              <a:t>hacer</a:t>
            </a:r>
            <a:r>
              <a:rPr lang="en-US" dirty="0"/>
              <a:t> dinero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industrial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que </a:t>
            </a:r>
            <a:r>
              <a:rPr lang="en-US" dirty="0" err="1"/>
              <a:t>compro</a:t>
            </a:r>
            <a:r>
              <a:rPr lang="en-US" dirty="0"/>
              <a:t> </a:t>
            </a:r>
            <a:r>
              <a:rPr lang="en-US" dirty="0" err="1"/>
              <a:t>materia</a:t>
            </a:r>
            <a:r>
              <a:rPr lang="en-US" dirty="0"/>
              <a:t> prima y </a:t>
            </a:r>
            <a:r>
              <a:rPr lang="en-US" dirty="0" err="1"/>
              <a:t>vendo</a:t>
            </a:r>
            <a:r>
              <a:rPr lang="en-US" dirty="0"/>
              <a:t> mis </a:t>
            </a:r>
            <a:r>
              <a:rPr lang="en-US" dirty="0" err="1"/>
              <a:t>productos</a:t>
            </a:r>
            <a:r>
              <a:rPr lang="en-US" dirty="0"/>
              <a:t>, o </a:t>
            </a:r>
            <a:r>
              <a:rPr lang="en-US" dirty="0" err="1"/>
              <a:t>sino</a:t>
            </a:r>
            <a:r>
              <a:rPr lang="en-US" dirty="0"/>
              <a:t> lo que </a:t>
            </a:r>
            <a:r>
              <a:rPr lang="en-US" dirty="0" err="1"/>
              <a:t>puedo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es ser la </a:t>
            </a:r>
            <a:r>
              <a:rPr lang="en-US" dirty="0" err="1"/>
              <a:t>materia</a:t>
            </a:r>
            <a:r>
              <a:rPr lang="en-US" dirty="0"/>
              <a:t> prima, es </a:t>
            </a:r>
            <a:r>
              <a:rPr lang="en-US" dirty="0" err="1"/>
              <a:t>decir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un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agroexportador</a:t>
            </a:r>
            <a:r>
              <a:rPr lang="en-US" dirty="0"/>
              <a:t>. Que es lo que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a </a:t>
            </a:r>
            <a:r>
              <a:rPr lang="en-US" dirty="0" err="1"/>
              <a:t>nivel</a:t>
            </a:r>
            <a:r>
              <a:rPr lang="en-US" dirty="0"/>
              <a:t> global,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fuerte</a:t>
            </a:r>
            <a:r>
              <a:rPr lang="en-US" dirty="0"/>
              <a:t> </a:t>
            </a:r>
            <a:r>
              <a:rPr lang="en-US" dirty="0" err="1"/>
              <a:t>distinción</a:t>
            </a:r>
            <a:r>
              <a:rPr lang="en-US" dirty="0"/>
              <a:t> entre </a:t>
            </a:r>
            <a:r>
              <a:rPr lang="en-US" dirty="0" err="1"/>
              <a:t>países</a:t>
            </a:r>
            <a:r>
              <a:rPr lang="en-US" dirty="0"/>
              <a:t> </a:t>
            </a:r>
            <a:r>
              <a:rPr lang="en-US" dirty="0" err="1"/>
              <a:t>industrializados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vías</a:t>
            </a:r>
            <a:r>
              <a:rPr lang="en-US" dirty="0"/>
              <a:t> de </a:t>
            </a:r>
            <a:r>
              <a:rPr lang="en-US" dirty="0" err="1"/>
              <a:t>desarrollo</a:t>
            </a:r>
            <a:r>
              <a:rPr lang="en-US" dirty="0"/>
              <a:t> y no </a:t>
            </a:r>
            <a:r>
              <a:rPr lang="en-US" dirty="0" err="1"/>
              <a:t>industrializados</a:t>
            </a:r>
            <a:r>
              <a:rPr lang="en-US" dirty="0"/>
              <a:t>. Que es lo que </a:t>
            </a:r>
            <a:r>
              <a:rPr lang="en-US" dirty="0" err="1"/>
              <a:t>pasa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países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industrializados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que vender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mercancía</a:t>
            </a:r>
            <a:r>
              <a:rPr lang="en-US" dirty="0"/>
              <a:t> no se la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quedar</a:t>
            </a:r>
            <a:r>
              <a:rPr lang="en-US" dirty="0"/>
              <a:t> y </a:t>
            </a:r>
            <a:r>
              <a:rPr lang="en-US" dirty="0" err="1"/>
              <a:t>necesitan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con que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productos</a:t>
            </a:r>
            <a:r>
              <a:rPr lang="en-US" dirty="0"/>
              <a:t> </a:t>
            </a:r>
            <a:r>
              <a:rPr lang="en-US" dirty="0" err="1"/>
              <a:t>elaborados</a:t>
            </a:r>
            <a:r>
              <a:rPr lang="en-US" dirty="0"/>
              <a:t>, </a:t>
            </a:r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yo</a:t>
            </a:r>
            <a:r>
              <a:rPr lang="en-US" dirty="0"/>
              <a:t> me le </a:t>
            </a:r>
            <a:r>
              <a:rPr lang="en-US" dirty="0" err="1"/>
              <a:t>acerco</a:t>
            </a:r>
            <a:r>
              <a:rPr lang="en-US" dirty="0"/>
              <a:t> a </a:t>
            </a:r>
            <a:r>
              <a:rPr lang="en-US" dirty="0" err="1"/>
              <a:t>pedro</a:t>
            </a:r>
            <a:r>
              <a:rPr lang="en-US" dirty="0"/>
              <a:t> y le </a:t>
            </a:r>
            <a:r>
              <a:rPr lang="en-US" dirty="0" err="1"/>
              <a:t>ofrezco</a:t>
            </a:r>
            <a:r>
              <a:rPr lang="en-US" dirty="0"/>
              <a:t> un metro de la a mil pesos y </a:t>
            </a:r>
            <a:r>
              <a:rPr lang="en-US" dirty="0" err="1"/>
              <a:t>el</a:t>
            </a:r>
            <a:r>
              <a:rPr lang="en-US" dirty="0"/>
              <a:t> no lo </a:t>
            </a:r>
            <a:r>
              <a:rPr lang="en-US" dirty="0" err="1"/>
              <a:t>acepta</a:t>
            </a:r>
            <a:r>
              <a:rPr lang="en-US" dirty="0"/>
              <a:t> </a:t>
            </a:r>
            <a:r>
              <a:rPr lang="en-US" dirty="0" err="1"/>
              <a:t>entonces</a:t>
            </a:r>
            <a:r>
              <a:rPr lang="en-US" dirty="0"/>
              <a:t> se la </a:t>
            </a:r>
            <a:r>
              <a:rPr lang="en-US" dirty="0" err="1"/>
              <a:t>ofrezco</a:t>
            </a:r>
            <a:r>
              <a:rPr lang="en-US" dirty="0"/>
              <a:t> a </a:t>
            </a:r>
            <a:r>
              <a:rPr lang="en-US" dirty="0" err="1"/>
              <a:t>juan</a:t>
            </a:r>
            <a:r>
              <a:rPr lang="en-US" dirty="0"/>
              <a:t>, </a:t>
            </a:r>
            <a:r>
              <a:rPr lang="en-US" dirty="0" err="1"/>
              <a:t>tampoco</a:t>
            </a:r>
            <a:r>
              <a:rPr lang="en-US" dirty="0"/>
              <a:t> la </a:t>
            </a:r>
            <a:r>
              <a:rPr lang="en-US" dirty="0" err="1"/>
              <a:t>quiere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Matías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dispuesto</a:t>
            </a:r>
            <a:r>
              <a:rPr lang="en-US" dirty="0"/>
              <a:t> a </a:t>
            </a:r>
            <a:r>
              <a:rPr lang="en-US" dirty="0" err="1"/>
              <a:t>comprarme</a:t>
            </a:r>
            <a:r>
              <a:rPr lang="en-US" dirty="0"/>
              <a:t> la </a:t>
            </a:r>
            <a:r>
              <a:rPr lang="en-US" dirty="0" err="1"/>
              <a:t>lana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500 pesos, </a:t>
            </a:r>
            <a:r>
              <a:rPr lang="en-US" dirty="0" err="1"/>
              <a:t>yo</a:t>
            </a:r>
            <a:r>
              <a:rPr lang="en-US" dirty="0"/>
              <a:t> no </a:t>
            </a:r>
            <a:r>
              <a:rPr lang="en-US" dirty="0" err="1"/>
              <a:t>tengo</a:t>
            </a:r>
            <a:r>
              <a:rPr lang="en-US" dirty="0"/>
              <a:t> a </a:t>
            </a:r>
            <a:r>
              <a:rPr lang="en-US" dirty="0" err="1"/>
              <a:t>quien</a:t>
            </a:r>
            <a:r>
              <a:rPr lang="en-US" dirty="0"/>
              <a:t> </a:t>
            </a:r>
            <a:r>
              <a:rPr lang="en-US" dirty="0" err="1"/>
              <a:t>vendérsela</a:t>
            </a:r>
            <a:r>
              <a:rPr lang="en-US" dirty="0"/>
              <a:t> y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 se la </a:t>
            </a:r>
            <a:r>
              <a:rPr lang="en-US" dirty="0" err="1"/>
              <a:t>doy</a:t>
            </a:r>
            <a:r>
              <a:rPr lang="en-US" dirty="0"/>
              <a:t>. Por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, también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pasar que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quieran</a:t>
            </a:r>
            <a:r>
              <a:rPr lang="en-US" dirty="0"/>
              <a:t> </a:t>
            </a:r>
            <a:r>
              <a:rPr lang="en-US" dirty="0" err="1"/>
              <a:t>lana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 de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producto</a:t>
            </a:r>
            <a:r>
              <a:rPr lang="en-US" dirty="0"/>
              <a:t> </a:t>
            </a:r>
            <a:r>
              <a:rPr lang="en-US" dirty="0" err="1"/>
              <a:t>ahora</a:t>
            </a:r>
            <a:r>
              <a:rPr lang="en-US" dirty="0"/>
              <a:t> </a:t>
            </a:r>
            <a:r>
              <a:rPr lang="en-US" dirty="0" err="1"/>
              <a:t>valga</a:t>
            </a:r>
            <a:r>
              <a:rPr lang="en-US" dirty="0"/>
              <a:t> 2000 pesos o que de </a:t>
            </a:r>
            <a:r>
              <a:rPr lang="en-US" dirty="0" err="1"/>
              <a:t>repente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quedes</a:t>
            </a:r>
            <a:r>
              <a:rPr lang="en-US" dirty="0"/>
              <a:t> sin </a:t>
            </a:r>
            <a:r>
              <a:rPr lang="en-US" dirty="0" err="1"/>
              <a:t>lana</a:t>
            </a:r>
            <a:r>
              <a:rPr lang="en-US" dirty="0"/>
              <a:t> y no </a:t>
            </a:r>
            <a:r>
              <a:rPr lang="en-US" dirty="0" err="1"/>
              <a:t>tengas</a:t>
            </a:r>
            <a:r>
              <a:rPr lang="en-US" dirty="0"/>
              <a:t> que vender o que </a:t>
            </a:r>
            <a:r>
              <a:rPr lang="en-US" dirty="0" err="1"/>
              <a:t>nadie</a:t>
            </a:r>
            <a:r>
              <a:rPr lang="en-US" dirty="0"/>
              <a:t> </a:t>
            </a:r>
            <a:r>
              <a:rPr lang="en-US" dirty="0" err="1"/>
              <a:t>quiera</a:t>
            </a:r>
            <a:r>
              <a:rPr lang="en-US" dirty="0"/>
              <a:t> mas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producto</a:t>
            </a:r>
            <a:r>
              <a:rPr lang="en-US" dirty="0"/>
              <a:t>. En </a:t>
            </a:r>
            <a:r>
              <a:rPr lang="en-US" dirty="0" err="1"/>
              <a:t>cambio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vos</a:t>
            </a:r>
            <a:r>
              <a:rPr lang="en-US" dirty="0"/>
              <a:t> no </a:t>
            </a:r>
            <a:r>
              <a:rPr lang="en-US" dirty="0" err="1"/>
              <a:t>vendes</a:t>
            </a:r>
            <a:r>
              <a:rPr lang="en-US" dirty="0"/>
              <a:t> solo la </a:t>
            </a:r>
            <a:r>
              <a:rPr lang="en-US" dirty="0" err="1"/>
              <a:t>lana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que también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buso</a:t>
            </a:r>
            <a:r>
              <a:rPr lang="en-US" dirty="0"/>
              <a:t> </a:t>
            </a:r>
            <a:r>
              <a:rPr lang="en-US" dirty="0" err="1"/>
              <a:t>tenes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ventaja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que,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aburren</a:t>
            </a:r>
            <a:r>
              <a:rPr lang="en-US" dirty="0"/>
              <a:t> del </a:t>
            </a:r>
            <a:r>
              <a:rPr lang="en-US" dirty="0" err="1"/>
              <a:t>diseño</a:t>
            </a:r>
            <a:r>
              <a:rPr lang="en-US" dirty="0"/>
              <a:t> </a:t>
            </a:r>
            <a:r>
              <a:rPr lang="en-US" dirty="0" err="1"/>
              <a:t>podes</a:t>
            </a:r>
            <a:r>
              <a:rPr lang="en-US" dirty="0"/>
              <a:t> </a:t>
            </a:r>
            <a:r>
              <a:rPr lang="en-US" dirty="0" err="1"/>
              <a:t>cambiarlo</a:t>
            </a:r>
            <a:r>
              <a:rPr lang="en-US" dirty="0"/>
              <a:t>, </a:t>
            </a:r>
            <a:r>
              <a:rPr lang="en-US" dirty="0" err="1"/>
              <a:t>podes</a:t>
            </a:r>
            <a:r>
              <a:rPr lang="en-US" dirty="0"/>
              <a:t> </a:t>
            </a:r>
            <a:r>
              <a:rPr lang="en-US" dirty="0" err="1"/>
              <a:t>elegir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materia</a:t>
            </a:r>
            <a:r>
              <a:rPr lang="en-US" dirty="0"/>
              <a:t> prima, gracias a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vas a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que a </a:t>
            </a:r>
            <a:r>
              <a:rPr lang="en-US" dirty="0" err="1"/>
              <a:t>quienes</a:t>
            </a:r>
            <a:r>
              <a:rPr lang="en-US" dirty="0"/>
              <a:t> le </a:t>
            </a:r>
            <a:r>
              <a:rPr lang="en-US" dirty="0" err="1"/>
              <a:t>compras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42074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Pero la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ruptura</a:t>
            </a:r>
            <a:r>
              <a:rPr lang="en-US" dirty="0"/>
              <a:t> que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dinero es entre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capitalista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comunista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actualidad</a:t>
            </a:r>
            <a:r>
              <a:rPr lang="en-US" dirty="0"/>
              <a:t> no </a:t>
            </a:r>
            <a:r>
              <a:rPr lang="en-US" dirty="0" err="1"/>
              <a:t>existe</a:t>
            </a:r>
            <a:r>
              <a:rPr lang="en-US" dirty="0"/>
              <a:t> un solo </a:t>
            </a:r>
            <a:r>
              <a:rPr lang="en-US" dirty="0" err="1"/>
              <a:t>país</a:t>
            </a:r>
            <a:r>
              <a:rPr lang="en-US" dirty="0"/>
              <a:t> que sea 100% </a:t>
            </a:r>
            <a:r>
              <a:rPr lang="en-US" dirty="0" err="1"/>
              <a:t>comunista</a:t>
            </a:r>
            <a:r>
              <a:rPr lang="en-US" dirty="0"/>
              <a:t> o </a:t>
            </a:r>
            <a:r>
              <a:rPr lang="en-US" dirty="0" err="1"/>
              <a:t>capitalista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hay </a:t>
            </a:r>
            <a:r>
              <a:rPr lang="en-US" dirty="0" err="1"/>
              <a:t>mesclas</a:t>
            </a:r>
            <a:r>
              <a:rPr lang="en-US" dirty="0"/>
              <a:t>;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984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buena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de la </a:t>
            </a:r>
            <a:r>
              <a:rPr lang="en-US" dirty="0" err="1"/>
              <a:t>historia</a:t>
            </a:r>
            <a:r>
              <a:rPr lang="en-US" dirty="0"/>
              <a:t> de la </a:t>
            </a:r>
            <a:r>
              <a:rPr lang="en-US" dirty="0" err="1"/>
              <a:t>argentina</a:t>
            </a:r>
            <a:r>
              <a:rPr lang="en-US" dirty="0"/>
              <a:t> </a:t>
            </a:r>
            <a:r>
              <a:rPr lang="en-US" dirty="0" err="1"/>
              <a:t>valoramos</a:t>
            </a:r>
            <a:r>
              <a:rPr lang="en-US" dirty="0"/>
              <a:t> que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podamos</a:t>
            </a:r>
            <a:r>
              <a:rPr lang="en-US" dirty="0"/>
              <a:t> acceder a la </a:t>
            </a:r>
            <a:r>
              <a:rPr lang="en-US" dirty="0" err="1"/>
              <a:t>educación</a:t>
            </a:r>
            <a:r>
              <a:rPr lang="en-US" dirty="0"/>
              <a:t> y a la </a:t>
            </a:r>
            <a:r>
              <a:rPr lang="en-US" dirty="0" err="1"/>
              <a:t>salud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sin </a:t>
            </a:r>
            <a:r>
              <a:rPr lang="en-US" dirty="0" err="1"/>
              <a:t>perder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libre mercado.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93296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países</a:t>
            </a:r>
            <a:r>
              <a:rPr lang="en-US" dirty="0"/>
              <a:t> </a:t>
            </a:r>
            <a:r>
              <a:rPr lang="en-US" dirty="0" err="1"/>
              <a:t>excomunistas</a:t>
            </a:r>
            <a:r>
              <a:rPr lang="en-US" dirty="0"/>
              <a:t> </a:t>
            </a:r>
            <a:r>
              <a:rPr lang="en-US" dirty="0" err="1"/>
              <a:t>hicieron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inverso</a:t>
            </a:r>
            <a:r>
              <a:rPr lang="en-US" dirty="0"/>
              <a:t> </a:t>
            </a:r>
            <a:r>
              <a:rPr lang="en-US" dirty="0" err="1"/>
              <a:t>renovaron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economía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 a un libre mercado. Este libre mercado es y que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</a:t>
            </a:r>
            <a:r>
              <a:rPr lang="en-US" dirty="0" err="1"/>
              <a:t>competencia</a:t>
            </a:r>
            <a:r>
              <a:rPr lang="en-US" dirty="0"/>
              <a:t> entre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productos</a:t>
            </a:r>
            <a:r>
              <a:rPr lang="en-US" dirty="0"/>
              <a:t>. Sin embargo, a </a:t>
            </a:r>
            <a:r>
              <a:rPr lang="en-US" dirty="0" err="1"/>
              <a:t>veces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rivalidad</a:t>
            </a:r>
            <a:r>
              <a:rPr lang="en-US" dirty="0"/>
              <a:t> </a:t>
            </a:r>
            <a:r>
              <a:rPr lang="en-US" dirty="0" err="1"/>
              <a:t>comercial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</a:t>
            </a:r>
            <a:r>
              <a:rPr lang="en-US" dirty="0" err="1"/>
              <a:t>conflictos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de </a:t>
            </a:r>
            <a:r>
              <a:rPr lang="en-US" dirty="0" err="1"/>
              <a:t>Taiwán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09642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lo que </a:t>
            </a:r>
            <a:r>
              <a:rPr lang="en-US" dirty="0" err="1"/>
              <a:t>sucede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Taiwán</a:t>
            </a:r>
            <a:r>
              <a:rPr lang="en-US" dirty="0"/>
              <a:t>? Lo que </a:t>
            </a:r>
            <a:r>
              <a:rPr lang="en-US" dirty="0" err="1"/>
              <a:t>pasa</a:t>
            </a:r>
            <a:r>
              <a:rPr lang="en-US" dirty="0"/>
              <a:t> es que la </a:t>
            </a:r>
            <a:r>
              <a:rPr lang="en-US" dirty="0" err="1"/>
              <a:t>provincia</a:t>
            </a:r>
            <a:r>
              <a:rPr lang="en-US" dirty="0"/>
              <a:t> </a:t>
            </a:r>
            <a:r>
              <a:rPr lang="en-US" dirty="0" err="1"/>
              <a:t>renegada</a:t>
            </a:r>
            <a:r>
              <a:rPr lang="en-US" dirty="0"/>
              <a:t> de </a:t>
            </a:r>
            <a:r>
              <a:rPr lang="en-US" dirty="0" err="1"/>
              <a:t>china</a:t>
            </a:r>
            <a:r>
              <a:rPr lang="en-US" dirty="0"/>
              <a:t> es </a:t>
            </a:r>
            <a:r>
              <a:rPr lang="en-US" dirty="0" err="1"/>
              <a:t>aliada</a:t>
            </a:r>
            <a:r>
              <a:rPr lang="en-US" dirty="0"/>
              <a:t> de </a:t>
            </a:r>
            <a:r>
              <a:rPr lang="en-US" dirty="0" err="1"/>
              <a:t>estados</a:t>
            </a:r>
            <a:r>
              <a:rPr lang="en-US" dirty="0"/>
              <a:t> </a:t>
            </a:r>
            <a:r>
              <a:rPr lang="en-US" dirty="0" err="1"/>
              <a:t>unidos</a:t>
            </a:r>
            <a:r>
              <a:rPr lang="en-US" dirty="0"/>
              <a:t> y es un </a:t>
            </a:r>
            <a:r>
              <a:rPr lang="en-US" dirty="0" err="1"/>
              <a:t>estorbo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planes </a:t>
            </a:r>
            <a:r>
              <a:rPr lang="en-US" dirty="0" err="1"/>
              <a:t>expansionistas</a:t>
            </a:r>
            <a:r>
              <a:rPr lang="en-US" dirty="0"/>
              <a:t> chinos, para que se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expandir</a:t>
            </a:r>
            <a:r>
              <a:rPr lang="en-US" dirty="0"/>
              <a:t> </a:t>
            </a:r>
            <a:r>
              <a:rPr lang="en-US" dirty="0" err="1"/>
              <a:t>china</a:t>
            </a:r>
            <a:r>
              <a:rPr lang="en-US" dirty="0"/>
              <a:t>, </a:t>
            </a:r>
            <a:r>
              <a:rPr lang="en-US" dirty="0" err="1"/>
              <a:t>pues</a:t>
            </a:r>
            <a:r>
              <a:rPr lang="en-US" dirty="0"/>
              <a:t> para </a:t>
            </a:r>
            <a:r>
              <a:rPr lang="en-US" dirty="0" err="1"/>
              <a:t>controlar</a:t>
            </a:r>
            <a:r>
              <a:rPr lang="en-US" dirty="0"/>
              <a:t> la mayor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rutas</a:t>
            </a:r>
            <a:r>
              <a:rPr lang="en-US" dirty="0"/>
              <a:t> </a:t>
            </a:r>
            <a:r>
              <a:rPr lang="en-US" dirty="0" err="1"/>
              <a:t>comerciales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 y de </a:t>
            </a:r>
            <a:r>
              <a:rPr lang="en-US" dirty="0" err="1"/>
              <a:t>esa</a:t>
            </a:r>
            <a:r>
              <a:rPr lang="en-US" dirty="0"/>
              <a:t> forma </a:t>
            </a:r>
            <a:r>
              <a:rPr lang="en-US" dirty="0" err="1"/>
              <a:t>seguir</a:t>
            </a:r>
            <a:r>
              <a:rPr lang="en-US" dirty="0"/>
              <a:t> </a:t>
            </a:r>
            <a:r>
              <a:rPr lang="en-US" dirty="0" err="1"/>
              <a:t>creciendo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25781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</a:t>
            </a:r>
            <a:r>
              <a:rPr lang="en-US" dirty="0" err="1"/>
              <a:t>vimos</a:t>
            </a:r>
            <a:r>
              <a:rPr lang="en-US" dirty="0"/>
              <a:t> las </a:t>
            </a:r>
            <a:r>
              <a:rPr lang="en-US" dirty="0" err="1"/>
              <a:t>cosas</a:t>
            </a:r>
            <a:r>
              <a:rPr lang="en-US" dirty="0"/>
              <a:t> </a:t>
            </a:r>
            <a:r>
              <a:rPr lang="en-US" dirty="0" err="1"/>
              <a:t>positivas</a:t>
            </a:r>
            <a:r>
              <a:rPr lang="en-US" dirty="0"/>
              <a:t> y </a:t>
            </a:r>
            <a:r>
              <a:rPr lang="en-US" dirty="0" err="1"/>
              <a:t>negativas</a:t>
            </a:r>
            <a:r>
              <a:rPr lang="en-US" dirty="0"/>
              <a:t> del </a:t>
            </a:r>
            <a:r>
              <a:rPr lang="en-US" dirty="0" err="1"/>
              <a:t>comercio</a:t>
            </a:r>
            <a:r>
              <a:rPr lang="en-US" dirty="0"/>
              <a:t> a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mundial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también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efectos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nosotros</a:t>
            </a:r>
            <a:r>
              <a:rPr lang="en-US" dirty="0"/>
              <a:t>, no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hecho</a:t>
            </a:r>
            <a:r>
              <a:rPr lang="en-US" dirty="0"/>
              <a:t> de lo que </a:t>
            </a:r>
            <a:r>
              <a:rPr lang="en-US" dirty="0" err="1"/>
              <a:t>implica</a:t>
            </a:r>
            <a:r>
              <a:rPr lang="en-US" dirty="0"/>
              <a:t> vender y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sino</a:t>
            </a:r>
            <a:r>
              <a:rPr lang="en-US" dirty="0"/>
              <a:t> de </a:t>
            </a:r>
            <a:r>
              <a:rPr lang="en-US" dirty="0" err="1"/>
              <a:t>tener</a:t>
            </a:r>
            <a:r>
              <a:rPr lang="en-US" dirty="0"/>
              <a:t> dinero. El dinero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cosas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ropa</a:t>
            </a:r>
            <a:r>
              <a:rPr lang="en-US" dirty="0"/>
              <a:t> a autos o comida, </a:t>
            </a:r>
            <a:r>
              <a:rPr lang="en-US" dirty="0" err="1"/>
              <a:t>pero</a:t>
            </a:r>
            <a:r>
              <a:rPr lang="en-US" dirty="0"/>
              <a:t> también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usos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para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compulsivamente</a:t>
            </a:r>
            <a:r>
              <a:rPr lang="en-US" dirty="0"/>
              <a:t> o para </a:t>
            </a:r>
            <a:r>
              <a:rPr lang="en-US" dirty="0" err="1"/>
              <a:t>apostar</a:t>
            </a:r>
            <a:r>
              <a:rPr lang="en-US" dirty="0"/>
              <a:t> o </a:t>
            </a:r>
            <a:r>
              <a:rPr lang="en-US" dirty="0" err="1"/>
              <a:t>consumir</a:t>
            </a:r>
            <a:r>
              <a:rPr lang="en-US" dirty="0"/>
              <a:t> alcohol.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6050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Entonces</a:t>
            </a:r>
            <a:r>
              <a:rPr lang="en-US" dirty="0"/>
              <a:t>,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mercado </a:t>
            </a:r>
            <a:r>
              <a:rPr lang="en-US" dirty="0" err="1"/>
              <a:t>limpio</a:t>
            </a:r>
            <a:r>
              <a:rPr lang="en-US" dirty="0"/>
              <a:t> también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sucio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mercado negro </a:t>
            </a:r>
            <a:r>
              <a:rPr lang="en-US" dirty="0" err="1"/>
              <a:t>donde</a:t>
            </a:r>
            <a:r>
              <a:rPr lang="en-US" dirty="0"/>
              <a:t> se </a:t>
            </a:r>
            <a:r>
              <a:rPr lang="en-US" dirty="0" err="1"/>
              <a:t>comercializa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lo que no se </a:t>
            </a:r>
            <a:r>
              <a:rPr lang="en-US" dirty="0" err="1"/>
              <a:t>debería</a:t>
            </a:r>
            <a:r>
              <a:rPr lang="en-US" dirty="0"/>
              <a:t>, que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momias</a:t>
            </a:r>
            <a:r>
              <a:rPr lang="en-US" dirty="0"/>
              <a:t>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4148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drogas</a:t>
            </a:r>
            <a:r>
              <a:rPr lang="en-US" dirty="0"/>
              <a:t>.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mercancías</a:t>
            </a:r>
            <a:r>
              <a:rPr lang="en-US" dirty="0"/>
              <a:t> </a:t>
            </a:r>
            <a:r>
              <a:rPr lang="en-US" dirty="0" err="1"/>
              <a:t>ilegales</a:t>
            </a:r>
            <a:r>
              <a:rPr lang="en-US" dirty="0"/>
              <a:t> </a:t>
            </a:r>
            <a:r>
              <a:rPr lang="en-US" dirty="0" err="1"/>
              <a:t>crean</a:t>
            </a:r>
            <a:r>
              <a:rPr lang="en-US" dirty="0"/>
              <a:t> </a:t>
            </a:r>
            <a:r>
              <a:rPr lang="en-US" dirty="0" err="1"/>
              <a:t>negocios</a:t>
            </a:r>
            <a:r>
              <a:rPr lang="en-US" dirty="0"/>
              <a:t> que </a:t>
            </a:r>
            <a:r>
              <a:rPr lang="en-US" dirty="0" err="1"/>
              <a:t>pueden</a:t>
            </a:r>
            <a:r>
              <a:rPr lang="en-US" dirty="0"/>
              <a:t> ser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rentables</a:t>
            </a:r>
            <a:r>
              <a:rPr lang="en-US" dirty="0"/>
              <a:t> y que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afán</a:t>
            </a:r>
            <a:r>
              <a:rPr lang="en-US" dirty="0"/>
              <a:t> de </a:t>
            </a:r>
            <a:r>
              <a:rPr lang="en-US" dirty="0" err="1"/>
              <a:t>ganar</a:t>
            </a:r>
            <a:r>
              <a:rPr lang="en-US" dirty="0"/>
              <a:t> dinero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terminan</a:t>
            </a:r>
            <a:r>
              <a:rPr lang="en-US" dirty="0"/>
              <a:t> </a:t>
            </a:r>
            <a:r>
              <a:rPr lang="en-US" dirty="0" err="1"/>
              <a:t>entrando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ese </a:t>
            </a:r>
            <a:r>
              <a:rPr lang="en-US" dirty="0" err="1"/>
              <a:t>desagradable</a:t>
            </a:r>
            <a:r>
              <a:rPr lang="en-US" dirty="0"/>
              <a:t> </a:t>
            </a:r>
            <a:r>
              <a:rPr lang="en-US" dirty="0" err="1"/>
              <a:t>mundo</a:t>
            </a:r>
            <a:r>
              <a:rPr lang="en-US" dirty="0"/>
              <a:t>, a </a:t>
            </a:r>
            <a:r>
              <a:rPr lang="en-US" dirty="0" err="1"/>
              <a:t>veces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necesidad</a:t>
            </a:r>
            <a:r>
              <a:rPr lang="en-US" dirty="0"/>
              <a:t>,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veces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curiosidad</a:t>
            </a:r>
            <a:r>
              <a:rPr lang="en-US" dirty="0"/>
              <a:t> y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veces</a:t>
            </a:r>
            <a:r>
              <a:rPr lang="en-US" dirty="0"/>
              <a:t> </a:t>
            </a:r>
            <a:r>
              <a:rPr lang="en-US" dirty="0" err="1"/>
              <a:t>simplemente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quieren</a:t>
            </a:r>
            <a:r>
              <a:rPr lang="en-US" dirty="0"/>
              <a:t>. Todo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que </a:t>
            </a:r>
            <a:r>
              <a:rPr lang="en-US" dirty="0" err="1"/>
              <a:t>prolifere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contrabando</a:t>
            </a:r>
            <a:r>
              <a:rPr lang="en-US" dirty="0"/>
              <a:t> y de </a:t>
            </a:r>
            <a:r>
              <a:rPr lang="en-US" dirty="0" err="1"/>
              <a:t>repente</a:t>
            </a:r>
            <a:r>
              <a:rPr lang="en-US" dirty="0"/>
              <a:t> mover </a:t>
            </a:r>
            <a:r>
              <a:rPr lang="en-US" dirty="0" err="1"/>
              <a:t>unos</a:t>
            </a:r>
            <a:r>
              <a:rPr lang="en-US" dirty="0"/>
              <a:t> kilos de </a:t>
            </a:r>
            <a:r>
              <a:rPr lang="en-US" dirty="0" err="1"/>
              <a:t>cocaína</a:t>
            </a:r>
            <a:r>
              <a:rPr lang="en-US" dirty="0"/>
              <a:t> sea </a:t>
            </a:r>
            <a:r>
              <a:rPr lang="en-US" dirty="0" err="1"/>
              <a:t>muy</a:t>
            </a:r>
            <a:r>
              <a:rPr lang="en-US" dirty="0"/>
              <a:t> rentable. Sin embargo,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ahí</a:t>
            </a:r>
            <a:r>
              <a:rPr lang="en-US" dirty="0"/>
              <a:t> un </a:t>
            </a:r>
            <a:r>
              <a:rPr lang="en-US" dirty="0" err="1"/>
              <a:t>negocio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contrabando</a:t>
            </a:r>
            <a:r>
              <a:rPr lang="en-US" dirty="0"/>
              <a:t>, también lo hay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piratería</a:t>
            </a:r>
            <a:r>
              <a:rPr lang="en-US" dirty="0"/>
              <a:t>, 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comercio</a:t>
            </a:r>
            <a:r>
              <a:rPr lang="en-US" dirty="0"/>
              <a:t> </a:t>
            </a:r>
            <a:r>
              <a:rPr lang="en-US" dirty="0" err="1"/>
              <a:t>legítimo</a:t>
            </a:r>
            <a:r>
              <a:rPr lang="en-US" dirty="0"/>
              <a:t>,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42839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ejemplo</a:t>
            </a:r>
            <a:r>
              <a:rPr lang="en-US" dirty="0"/>
              <a:t> es mercado libre que sin vender nada mas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servicio</a:t>
            </a:r>
            <a:r>
              <a:rPr lang="en-US" dirty="0"/>
              <a:t> de </a:t>
            </a:r>
            <a:r>
              <a:rPr lang="en-US" dirty="0" err="1"/>
              <a:t>llevar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compra</a:t>
            </a:r>
            <a:r>
              <a:rPr lang="en-US" dirty="0"/>
              <a:t> hasta la </a:t>
            </a:r>
            <a:r>
              <a:rPr lang="en-US" dirty="0" err="1"/>
              <a:t>puerta</a:t>
            </a:r>
            <a:r>
              <a:rPr lang="en-US" dirty="0"/>
              <a:t> de </a:t>
            </a:r>
            <a:r>
              <a:rPr lang="en-US" dirty="0" err="1"/>
              <a:t>tu</a:t>
            </a:r>
            <a:r>
              <a:rPr lang="en-US" dirty="0"/>
              <a:t> casa </a:t>
            </a:r>
            <a:r>
              <a:rPr lang="en-US" dirty="0" err="1"/>
              <a:t>vos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elegís</a:t>
            </a:r>
            <a:r>
              <a:rPr lang="en-US" dirty="0"/>
              <a:t> </a:t>
            </a:r>
            <a:r>
              <a:rPr lang="en-US" dirty="0" err="1"/>
              <a:t>comprar</a:t>
            </a:r>
            <a:r>
              <a:rPr lang="en-US" dirty="0"/>
              <a:t> </a:t>
            </a:r>
            <a:r>
              <a:rPr lang="en-US" dirty="0" err="1"/>
              <a:t>ahí</a:t>
            </a:r>
            <a:r>
              <a:rPr lang="en-US" dirty="0"/>
              <a:t> no </a:t>
            </a:r>
            <a:r>
              <a:rPr lang="en-US" dirty="0" err="1"/>
              <a:t>directo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tienda.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9398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conclusión</a:t>
            </a:r>
            <a:r>
              <a:rPr lang="en-US" dirty="0"/>
              <a:t>, la </a:t>
            </a:r>
            <a:r>
              <a:rPr lang="en-US" dirty="0" err="1"/>
              <a:t>compra</a:t>
            </a:r>
            <a:r>
              <a:rPr lang="en-US" dirty="0"/>
              <a:t> y </a:t>
            </a:r>
            <a:r>
              <a:rPr lang="en-US" dirty="0" err="1"/>
              <a:t>venta</a:t>
            </a:r>
            <a:r>
              <a:rPr lang="en-US" dirty="0"/>
              <a:t> de </a:t>
            </a:r>
            <a:r>
              <a:rPr lang="en-US" dirty="0" err="1"/>
              <a:t>productos</a:t>
            </a:r>
            <a:r>
              <a:rPr lang="en-US" dirty="0"/>
              <a:t> o </a:t>
            </a:r>
            <a:r>
              <a:rPr lang="en-US" dirty="0" err="1"/>
              <a:t>servicios</a:t>
            </a:r>
            <a:r>
              <a:rPr lang="en-US" dirty="0"/>
              <a:t> de forma legal o no a </a:t>
            </a:r>
            <a:r>
              <a:rPr lang="en-US" dirty="0" err="1"/>
              <a:t>llevado</a:t>
            </a:r>
            <a:r>
              <a:rPr lang="en-US" dirty="0"/>
              <a:t> a la </a:t>
            </a:r>
            <a:r>
              <a:rPr lang="en-US" dirty="0" err="1"/>
              <a:t>humanidad</a:t>
            </a:r>
            <a:r>
              <a:rPr lang="en-US" dirty="0"/>
              <a:t> a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algunas</a:t>
            </a:r>
            <a:r>
              <a:rPr lang="en-US" dirty="0"/>
              <a:t> de las </a:t>
            </a:r>
            <a:r>
              <a:rPr lang="en-US" dirty="0" err="1"/>
              <a:t>cosas</a:t>
            </a:r>
            <a:r>
              <a:rPr lang="en-US" dirty="0"/>
              <a:t> mas </a:t>
            </a:r>
            <a:r>
              <a:rPr lang="en-US" dirty="0" err="1"/>
              <a:t>impresionantes</a:t>
            </a:r>
            <a:r>
              <a:rPr lang="en-US" dirty="0"/>
              <a:t> del </a:t>
            </a:r>
            <a:r>
              <a:rPr lang="en-US" dirty="0" err="1"/>
              <a:t>mundo</a:t>
            </a:r>
            <a:r>
              <a:rPr lang="en-US" dirty="0"/>
              <a:t> que van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digitales</a:t>
            </a:r>
            <a:r>
              <a:rPr lang="en-US" dirty="0"/>
              <a:t> </a:t>
            </a:r>
            <a:r>
              <a:rPr lang="en-US" dirty="0" err="1"/>
              <a:t>bancarios</a:t>
            </a:r>
            <a:r>
              <a:rPr lang="en-US" dirty="0"/>
              <a:t>, </a:t>
            </a:r>
            <a:r>
              <a:rPr lang="en-US" dirty="0" err="1"/>
              <a:t>monedas</a:t>
            </a:r>
            <a:r>
              <a:rPr lang="en-US" dirty="0"/>
              <a:t> </a:t>
            </a:r>
            <a:r>
              <a:rPr lang="en-US" dirty="0" err="1"/>
              <a:t>universales</a:t>
            </a:r>
            <a:r>
              <a:rPr lang="en-US" dirty="0"/>
              <a:t>, </a:t>
            </a:r>
            <a:r>
              <a:rPr lang="en-US" dirty="0" err="1"/>
              <a:t>barcos</a:t>
            </a:r>
            <a:r>
              <a:rPr lang="en-US" dirty="0"/>
              <a:t> </a:t>
            </a:r>
            <a:r>
              <a:rPr lang="en-US" dirty="0" err="1"/>
              <a:t>inmensos</a:t>
            </a:r>
            <a:r>
              <a:rPr lang="en-US" dirty="0"/>
              <a:t>, a </a:t>
            </a:r>
            <a:r>
              <a:rPr lang="en-US" dirty="0" err="1"/>
              <a:t>sistemas</a:t>
            </a:r>
            <a:r>
              <a:rPr lang="en-US" dirty="0"/>
              <a:t> para </a:t>
            </a:r>
            <a:r>
              <a:rPr lang="en-US" dirty="0" err="1"/>
              <a:t>dominar</a:t>
            </a:r>
            <a:r>
              <a:rPr lang="en-US" dirty="0"/>
              <a:t> y </a:t>
            </a:r>
            <a:r>
              <a:rPr lang="en-US" dirty="0" err="1"/>
              <a:t>organizar</a:t>
            </a:r>
            <a:r>
              <a:rPr lang="en-US" dirty="0"/>
              <a:t>. Gran </a:t>
            </a:r>
            <a:r>
              <a:rPr lang="en-US" dirty="0" err="1"/>
              <a:t>parte</a:t>
            </a:r>
            <a:r>
              <a:rPr lang="en-US" dirty="0"/>
              <a:t> del </a:t>
            </a:r>
            <a:r>
              <a:rPr lang="en-US" dirty="0" err="1"/>
              <a:t>mundo</a:t>
            </a:r>
            <a:r>
              <a:rPr lang="en-US" dirty="0"/>
              <a:t>, gran </a:t>
            </a:r>
            <a:r>
              <a:rPr lang="en-US" dirty="0" err="1"/>
              <a:t>parte</a:t>
            </a:r>
            <a:r>
              <a:rPr lang="en-US" dirty="0"/>
              <a:t> de lo que </a:t>
            </a:r>
            <a:r>
              <a:rPr lang="en-US" dirty="0" err="1"/>
              <a:t>significa</a:t>
            </a:r>
            <a:r>
              <a:rPr lang="en-US" dirty="0"/>
              <a:t> ser </a:t>
            </a:r>
            <a:r>
              <a:rPr lang="en-US" dirty="0" err="1"/>
              <a:t>humano</a:t>
            </a:r>
            <a:r>
              <a:rPr lang="en-US" dirty="0"/>
              <a:t> </a:t>
            </a:r>
            <a:r>
              <a:rPr lang="en-US" dirty="0" err="1"/>
              <a:t>pasa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comprar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dinero y la </a:t>
            </a:r>
            <a:r>
              <a:rPr lang="en-US" dirty="0" err="1"/>
              <a:t>avaricia</a:t>
            </a:r>
            <a:r>
              <a:rPr lang="en-US" dirty="0"/>
              <a:t> de un poco </a:t>
            </a:r>
            <a:r>
              <a:rPr lang="en-US" dirty="0" err="1"/>
              <a:t>más</a:t>
            </a:r>
            <a:r>
              <a:rPr lang="en-US" dirty="0"/>
              <a:t>. Es lo que </a:t>
            </a:r>
            <a:r>
              <a:rPr lang="en-US" dirty="0" err="1"/>
              <a:t>lleva</a:t>
            </a:r>
            <a:r>
              <a:rPr lang="en-US" dirty="0"/>
              <a:t> a </a:t>
            </a:r>
            <a:r>
              <a:rPr lang="en-US" dirty="0" err="1"/>
              <a:t>separarnos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clases</a:t>
            </a:r>
            <a:r>
              <a:rPr lang="en-US" dirty="0"/>
              <a:t>, a </a:t>
            </a:r>
            <a:r>
              <a:rPr lang="en-US" dirty="0" err="1"/>
              <a:t>buscar</a:t>
            </a:r>
            <a:r>
              <a:rPr lang="en-US" dirty="0"/>
              <a:t> algo que no </a:t>
            </a:r>
            <a:r>
              <a:rPr lang="en-US" dirty="0" err="1"/>
              <a:t>necesitamos</a:t>
            </a:r>
            <a:r>
              <a:rPr lang="en-US" dirty="0"/>
              <a:t>, a </a:t>
            </a:r>
            <a:r>
              <a:rPr lang="en-US" dirty="0" err="1"/>
              <a:t>encontrar</a:t>
            </a:r>
            <a:r>
              <a:rPr lang="en-US" dirty="0"/>
              <a:t> la </a:t>
            </a:r>
            <a:r>
              <a:rPr lang="en-US" dirty="0" err="1"/>
              <a:t>felicidad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lo material y a </a:t>
            </a:r>
            <a:r>
              <a:rPr lang="en-US" dirty="0" err="1"/>
              <a:t>trabajar</a:t>
            </a:r>
            <a:r>
              <a:rPr lang="en-US" dirty="0"/>
              <a:t> para </a:t>
            </a:r>
            <a:r>
              <a:rPr lang="en-US" dirty="0" err="1"/>
              <a:t>tener</a:t>
            </a:r>
            <a:r>
              <a:rPr lang="en-US" dirty="0"/>
              <a:t> dinero que </a:t>
            </a:r>
            <a:r>
              <a:rPr lang="en-US" dirty="0" err="1"/>
              <a:t>gastar</a:t>
            </a:r>
            <a:r>
              <a:rPr lang="en-US" dirty="0"/>
              <a:t>. Todo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mundo</a:t>
            </a:r>
            <a:r>
              <a:rPr lang="en-US" dirty="0"/>
              <a:t> actual y algo de lo que no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separar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mucho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C8D5E-2B94-4B81-9317-85FA867346E5}" type="slidenum"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004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8C0E-4878-46C4-B527-3446BADE14FF}" type="datetime1">
              <a:rPr lang="es-AR" smtClean="0"/>
              <a:t>3/12/2024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40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2A8E-FD18-44D3-8F9F-3819A46774C7}" type="datetime1">
              <a:rPr lang="es-AR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8BD07-312B-4B6D-AF84-AA8523D33608}" type="datetime1">
              <a:rPr lang="es-AR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0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4A24B-E369-4A88-8EAD-3AD42CC66E7E}" type="datetime1">
              <a:rPr lang="es-AR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7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A6CC-D50C-43C0-B957-955232239BF6}" type="datetime1">
              <a:rPr lang="es-AR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4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A91BF-9F65-46EB-A2FB-1A3C99D0B967}" type="datetime1">
              <a:rPr lang="es-AR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5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E734-88EE-478E-87C2-3CA44E610083}" type="datetime1">
              <a:rPr lang="es-AR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0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AB5F-1B4E-4A4F-B6CA-7D84AA936488}" type="datetime1">
              <a:rPr lang="es-AR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4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03642-CC82-4EF8-ADF8-7825FD330EAE}" type="datetime1">
              <a:rPr lang="es-AR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3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49B1-2707-4758-91F1-6EC253228297}" type="datetime1">
              <a:rPr lang="es-AR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4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EAF0-B544-4B5F-90E3-37870B82558A}" type="datetime1">
              <a:rPr lang="es-AR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55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50896-3FCC-453C-A2DA-A7AA78DED83E}" type="datetime1">
              <a:rPr lang="es-AR" smtClean="0"/>
              <a:t>3/12/2024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‹Nº›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2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hyperlink" Target="https://en.wikipedia.org/wiki/Wall_Stree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8.svg"/><Relationship Id="rId7" Type="http://schemas.openxmlformats.org/officeDocument/2006/relationships/image" Target="../media/image44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Concepto genético abstracto">
            <a:extLst>
              <a:ext uri="{FF2B5EF4-FFF2-40B4-BE49-F238E27FC236}">
                <a16:creationId xmlns:a16="http://schemas.microsoft.com/office/drawing/2014/main" id="{6FD59B2E-87FA-5EF6-3167-E5CB6BED7E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487" r="6" b="18252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s-AR" sz="9600" b="1" u="sng">
                <a:solidFill>
                  <a:srgbClr val="FFFFFF"/>
                </a:solidFill>
              </a:rPr>
              <a:t>Comercio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D767E3F-5FD8-43EF-92CC-71463D47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326BAA-9686-4D37-B702-A459A43F9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39C5BD-3F39-7823-7ED9-C6B19578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122363"/>
            <a:ext cx="504748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"El comercio es el intercambio de bienes"</a:t>
            </a:r>
          </a:p>
        </p:txBody>
      </p:sp>
      <p:sp>
        <p:nvSpPr>
          <p:cNvPr id="34" name="Oval 1">
            <a:extLst>
              <a:ext uri="{FF2B5EF4-FFF2-40B4-BE49-F238E27FC236}">
                <a16:creationId xmlns:a16="http://schemas.microsoft.com/office/drawing/2014/main" id="{AB330529-CB1E-4112-8F01-435C2E299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decorative circles">
            <a:extLst>
              <a:ext uri="{FF2B5EF4-FFF2-40B4-BE49-F238E27FC236}">
                <a16:creationId xmlns:a16="http://schemas.microsoft.com/office/drawing/2014/main" id="{A6BAEEFE-5A15-4E44-B100-CFD7F5D6D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F653A2A-2CD3-4B8D-B1DB-0B410110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B14CA02-0561-4C97-8FF3-95C5A56793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D1DCF05-9A46-4ED2-9213-6762C697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C2DFB0F-9C5B-42B4-A4C5-1C4308E5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9002102-7C3F-4562-B6C9-B6662E8A2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8ABC509-D5C1-4B54-88A3-76D47A1AE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9564177-4282-4F98-81F4-F758FF774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B760430-7B8B-4E35-A89B-197E3299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Graphic 5" descr="Transferencia">
            <a:extLst>
              <a:ext uri="{FF2B5EF4-FFF2-40B4-BE49-F238E27FC236}">
                <a16:creationId xmlns:a16="http://schemas.microsoft.com/office/drawing/2014/main" id="{EBF1A9F1-7CD7-8925-FA93-317217398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9476" y="1650594"/>
            <a:ext cx="3607206" cy="360720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AC2813-9411-4D66-8B7F-10C9B23C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4778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5D20674-CF0C-4687-81B6-A613F871A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" name="Picture 3" descr="Personas debatiendo ">
            <a:extLst>
              <a:ext uri="{FF2B5EF4-FFF2-40B4-BE49-F238E27FC236}">
                <a16:creationId xmlns:a16="http://schemas.microsoft.com/office/drawing/2014/main" id="{1BE2DF1C-7EFF-5CFB-37C4-7B430668017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alphaModFix/>
          </a:blip>
          <a:srcRect r="6250"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C2BD3211-5B9B-40DA-8BD0-C3426AE78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9872" y="0"/>
            <a:ext cx="113367" cy="113367"/>
          </a:xfrm>
          <a:prstGeom prst="ellipse">
            <a:avLst/>
          </a:prstGeom>
          <a:solidFill>
            <a:srgbClr val="F39E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8121B6-45E6-447F-87B8-58EDD064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8414" y="63468"/>
            <a:ext cx="56114" cy="56114"/>
          </a:xfrm>
          <a:prstGeom prst="ellipse">
            <a:avLst/>
          </a:prstGeom>
          <a:solidFill>
            <a:srgbClr val="F39E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C95B8E3-CBB0-4A5C-B65B-59C12D44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2370" y="655738"/>
            <a:ext cx="466441" cy="4664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EA710C0-F536-4B31-8D0F-28E2F089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9769" y="579797"/>
            <a:ext cx="113367" cy="1133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1EB61F8-34CD-4251-9B31-59AB92843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0824" y="374048"/>
            <a:ext cx="230878" cy="230878"/>
          </a:xfrm>
          <a:prstGeom prst="ellipse">
            <a:avLst/>
          </a:prstGeom>
          <a:solidFill>
            <a:schemeClr val="accent2">
              <a:lumMod val="60000"/>
              <a:lumOff val="4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3FA5DB-69DC-4137-9264-5F838B990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5468" y="971670"/>
            <a:ext cx="113367" cy="1133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98D956-6B7A-4A94-B508-F7A30E642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334" y="512240"/>
            <a:ext cx="703889" cy="703889"/>
          </a:xfrm>
          <a:prstGeom prst="ellipse">
            <a:avLst/>
          </a:prstGeom>
          <a:solidFill>
            <a:schemeClr val="accent3">
              <a:lumMod val="40000"/>
              <a:lumOff val="6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6A3D2FC-6F98-4157-94A8-7D7FBD56E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41428" y="815149"/>
            <a:ext cx="113367" cy="1133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7AE16AB-F0AB-4AC3-BD8F-336B5D98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7435" y="1096664"/>
            <a:ext cx="405140" cy="405140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19BFF-25C5-425C-8CD1-789F7A30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1840754"/>
            <a:ext cx="12188952" cy="501724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E30A90-048E-AC10-8A5B-BE1DCC39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88205"/>
            <a:ext cx="8731683" cy="11604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Negociar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0BE49C6-06E3-4324-91A8-F25B7DA1D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66319" y="1989824"/>
            <a:ext cx="226735" cy="22673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78ABC8A-B58F-4AAE-8F6F-A07EB9D6D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30" y="2808040"/>
            <a:ext cx="226735" cy="22673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2D2EA6-6502-4EB7-B8BA-41531F91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37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DB3FE-299B-542B-594B-591DB3EF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5926317"/>
          </a:xfrm>
        </p:spPr>
        <p:txBody>
          <a:bodyPr>
            <a:noAutofit/>
          </a:bodyPr>
          <a:lstStyle/>
          <a:p>
            <a:r>
              <a:rPr lang="es-ES" sz="4800" dirty="0">
                <a:latin typeface="Calibri"/>
                <a:ea typeface="Calibri"/>
                <a:cs typeface="Calibri"/>
              </a:rPr>
              <a:t>"Que el comercio es un intercambio de bienes o servicios entre dos individuos que deben tener los medios suficientes como para comunicarse exitosamente y llegar a un acuerdo."</a:t>
            </a:r>
            <a:endParaRPr lang="es-ES" sz="4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505EB0-81ED-4FE9-B7E7-FE8C28DE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9112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10802-6984-9C82-737B-4898D19E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" name="Imagen 2" descr="siempre buscamos adquirir lo que no podíamos tener">
            <a:extLst>
              <a:ext uri="{FF2B5EF4-FFF2-40B4-BE49-F238E27FC236}">
                <a16:creationId xmlns:a16="http://schemas.microsoft.com/office/drawing/2014/main" id="{3EA13BCD-2DA3-E776-8A99-641CC61D1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291AAE1-B682-C0C8-8E36-30B0F358C1DC}"/>
              </a:ext>
            </a:extLst>
          </p:cNvPr>
          <p:cNvSpPr/>
          <p:nvPr/>
        </p:nvSpPr>
        <p:spPr>
          <a:xfrm>
            <a:off x="-87086" y="-21771"/>
            <a:ext cx="2743200" cy="6901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802DA2-69A5-27EE-7B39-6B841018EA91}"/>
              </a:ext>
            </a:extLst>
          </p:cNvPr>
          <p:cNvSpPr/>
          <p:nvPr/>
        </p:nvSpPr>
        <p:spPr>
          <a:xfrm>
            <a:off x="9535885" y="-43543"/>
            <a:ext cx="267788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78E0B0-9790-46ED-9E55-BA79BB0B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15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as herramientas de piedra en nuestra prehistoria - Grupo de Investigadores  del Parque Lineal (GIPL)">
            <a:extLst>
              <a:ext uri="{FF2B5EF4-FFF2-40B4-BE49-F238E27FC236}">
                <a16:creationId xmlns:a16="http://schemas.microsoft.com/office/drawing/2014/main" id="{DA7CF238-FB95-787E-84C3-AB013C05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71" y="17074"/>
            <a:ext cx="12059188" cy="683823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F37B31-C95F-44CE-94FC-1FFF6828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8064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Qué carne tiene más proteínas | Artemonte">
            <a:extLst>
              <a:ext uri="{FF2B5EF4-FFF2-40B4-BE49-F238E27FC236}">
                <a16:creationId xmlns:a16="http://schemas.microsoft.com/office/drawing/2014/main" id="{371193C3-2294-CB53-72FF-6FE3B7DA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46" y="27049"/>
            <a:ext cx="10167487" cy="683265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52CFAD5-AE7E-11A2-E706-08BD4BCD1E2C}"/>
              </a:ext>
            </a:extLst>
          </p:cNvPr>
          <p:cNvSpPr/>
          <p:nvPr/>
        </p:nvSpPr>
        <p:spPr>
          <a:xfrm>
            <a:off x="-130628" y="-65314"/>
            <a:ext cx="1153885" cy="6945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3577A2-59C6-EFD3-F768-20B15925A658}"/>
              </a:ext>
            </a:extLst>
          </p:cNvPr>
          <p:cNvSpPr/>
          <p:nvPr/>
        </p:nvSpPr>
        <p:spPr>
          <a:xfrm>
            <a:off x="11040579" y="20950"/>
            <a:ext cx="1153885" cy="6945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45D22-F603-4663-98D3-8BA02ED5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576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a Piedra Caliza: El Eje de la Magnificencia del Coliseo Romano y su  Versatilidad en la Arquitectura - demarmoles.com">
            <a:extLst>
              <a:ext uri="{FF2B5EF4-FFF2-40B4-BE49-F238E27FC236}">
                <a16:creationId xmlns:a16="http://schemas.microsoft.com/office/drawing/2014/main" id="{EA292334-79F1-9289-24A1-A6669319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40" y="-1886"/>
            <a:ext cx="11944884" cy="71061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255C24-373B-3B42-ADCA-904AF37B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93" y="2751766"/>
            <a:ext cx="11205449" cy="1339940"/>
          </a:xfrm>
        </p:spPr>
        <p:txBody>
          <a:bodyPr>
            <a:no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PAN + CIRCO= MASAS CONTENTAS</a:t>
            </a:r>
            <a:endParaRPr lang="es-ES" sz="6000" b="1" dirty="0">
              <a:solidFill>
                <a:schemeClr val="bg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A6A460-5E09-409C-B4EA-E5A864C9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2001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DC30A-426E-CA1F-9234-C63B9184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" name="Imagen 2" descr="Comercio triangular">
            <a:extLst>
              <a:ext uri="{FF2B5EF4-FFF2-40B4-BE49-F238E27FC236}">
                <a16:creationId xmlns:a16="http://schemas.microsoft.com/office/drawing/2014/main" id="{50422402-8FD2-FA9B-CBC2-1B2D2E54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816" y="-808"/>
            <a:ext cx="7993990" cy="710403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E802072-13F1-5C86-F1F5-3B4B3AAD0CD0}"/>
              </a:ext>
            </a:extLst>
          </p:cNvPr>
          <p:cNvSpPr/>
          <p:nvPr/>
        </p:nvSpPr>
        <p:spPr>
          <a:xfrm>
            <a:off x="-152400" y="21771"/>
            <a:ext cx="2307771" cy="7075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B8F0330-A047-C779-139A-5006AD27CCE7}"/>
              </a:ext>
            </a:extLst>
          </p:cNvPr>
          <p:cNvSpPr/>
          <p:nvPr/>
        </p:nvSpPr>
        <p:spPr>
          <a:xfrm>
            <a:off x="9882997" y="-107626"/>
            <a:ext cx="2307771" cy="7075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56A226-2A1F-49BA-B2CE-7055955F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3382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0A3EB-FC30-449C-DEA6-D2C20830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" name="Imagen 2" descr="Entrada al Ágora de Atenas - Reserva en Civitatis.com Argentina">
            <a:extLst>
              <a:ext uri="{FF2B5EF4-FFF2-40B4-BE49-F238E27FC236}">
                <a16:creationId xmlns:a16="http://schemas.microsoft.com/office/drawing/2014/main" id="{8760EA3D-D592-2CC4-A0A4-62E7FCE35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37" y="-1706"/>
            <a:ext cx="10282505" cy="686141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D383098-B962-60DE-AC4F-AE916CA4F050}"/>
              </a:ext>
            </a:extLst>
          </p:cNvPr>
          <p:cNvSpPr/>
          <p:nvPr/>
        </p:nvSpPr>
        <p:spPr>
          <a:xfrm>
            <a:off x="-65314" y="0"/>
            <a:ext cx="1023257" cy="6923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3708AF-2159-32C4-F56C-D07F7B5770C3}"/>
              </a:ext>
            </a:extLst>
          </p:cNvPr>
          <p:cNvSpPr/>
          <p:nvPr/>
        </p:nvSpPr>
        <p:spPr>
          <a:xfrm>
            <a:off x="11163402" y="-1"/>
            <a:ext cx="1023257" cy="6923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FD70BC-A3FE-4928-B1C1-D11E04DB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1220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mbarcaciones históricas: Barcos vikingos | Escuela Náutica Neptuno">
            <a:extLst>
              <a:ext uri="{FF2B5EF4-FFF2-40B4-BE49-F238E27FC236}">
                <a16:creationId xmlns:a16="http://schemas.microsoft.com/office/drawing/2014/main" id="{9EB7CDB9-5DE0-3CAE-76E0-88DABFDA7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90" y="-59664"/>
            <a:ext cx="12231535" cy="6919819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FC5409-FEA2-4E6C-B300-7B57B5D7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9958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Orbán (fabricante de armas) - Wikipedia, la enciclopedia libre">
            <a:extLst>
              <a:ext uri="{FF2B5EF4-FFF2-40B4-BE49-F238E27FC236}">
                <a16:creationId xmlns:a16="http://schemas.microsoft.com/office/drawing/2014/main" id="{EAEBB1BB-447D-248D-1599-BE4FF7E9F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956" y="1259"/>
            <a:ext cx="12217157" cy="685548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4128B4-82C8-4CBC-ACA0-14A9A102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5395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lacas Electrónicas - LOSI Y CIA">
            <a:extLst>
              <a:ext uri="{FF2B5EF4-FFF2-40B4-BE49-F238E27FC236}">
                <a16:creationId xmlns:a16="http://schemas.microsoft.com/office/drawing/2014/main" id="{110DCE69-A0F6-3476-BA26-815C47D2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43" y="27049"/>
            <a:ext cx="10253751" cy="683265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923ED33-8476-A187-1CF5-10EF8EE5EA3B}"/>
              </a:ext>
            </a:extLst>
          </p:cNvPr>
          <p:cNvSpPr/>
          <p:nvPr/>
        </p:nvSpPr>
        <p:spPr>
          <a:xfrm>
            <a:off x="-65314" y="-43543"/>
            <a:ext cx="124097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FA667A0-F6B5-21CB-2737-E035C5F23A96}"/>
              </a:ext>
            </a:extLst>
          </p:cNvPr>
          <p:cNvSpPr/>
          <p:nvPr/>
        </p:nvSpPr>
        <p:spPr>
          <a:xfrm>
            <a:off x="10947742" y="-43544"/>
            <a:ext cx="124097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9A27ED-41BE-42B2-A38A-CFB9EBD4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11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as hormigas | PPT | Descarga Gratuita">
            <a:extLst>
              <a:ext uri="{FF2B5EF4-FFF2-40B4-BE49-F238E27FC236}">
                <a16:creationId xmlns:a16="http://schemas.microsoft.com/office/drawing/2014/main" id="{65B36A4B-71E9-8BE5-6935-0BE60B23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343" y="32171"/>
            <a:ext cx="9109312" cy="682241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723DFF7-1911-2C89-A4FC-2AFAB96167C8}"/>
              </a:ext>
            </a:extLst>
          </p:cNvPr>
          <p:cNvSpPr/>
          <p:nvPr/>
        </p:nvSpPr>
        <p:spPr>
          <a:xfrm>
            <a:off x="-87085" y="-21772"/>
            <a:ext cx="169817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0DEE7F-335B-7A55-571B-6F58CF28FF38}"/>
              </a:ext>
            </a:extLst>
          </p:cNvPr>
          <p:cNvSpPr/>
          <p:nvPr/>
        </p:nvSpPr>
        <p:spPr>
          <a:xfrm>
            <a:off x="10494650" y="-21773"/>
            <a:ext cx="169817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7ACFF4-2659-4BDD-AA76-16EF8CC1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5465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l Tierrero - Existen 3 clases sociales entre las abejas: 1. Reina Es la  más importante de la comunidad ya que sin ella no pueden seguir existiendo.  Solo hay 1 por colonia,">
            <a:extLst>
              <a:ext uri="{FF2B5EF4-FFF2-40B4-BE49-F238E27FC236}">
                <a16:creationId xmlns:a16="http://schemas.microsoft.com/office/drawing/2014/main" id="{23EF9170-96C8-D060-F1B4-C6FE207D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059" y="5122"/>
            <a:ext cx="5609505" cy="686213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59A2CDE-AD5A-66E1-D395-8C24E69433E0}"/>
              </a:ext>
            </a:extLst>
          </p:cNvPr>
          <p:cNvSpPr/>
          <p:nvPr/>
        </p:nvSpPr>
        <p:spPr>
          <a:xfrm>
            <a:off x="-195943" y="0"/>
            <a:ext cx="3483428" cy="6836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97C512-FF6D-30BC-027D-350812028AAB}"/>
              </a:ext>
            </a:extLst>
          </p:cNvPr>
          <p:cNvSpPr/>
          <p:nvPr/>
        </p:nvSpPr>
        <p:spPr>
          <a:xfrm>
            <a:off x="8904925" y="14377"/>
            <a:ext cx="3483428" cy="6836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5314AD-8FC1-4DE1-87C5-31CECFD1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3716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os monos y un mono bebé Foto de stock 2295678055 | Shutterstock">
            <a:extLst>
              <a:ext uri="{FF2B5EF4-FFF2-40B4-BE49-F238E27FC236}">
                <a16:creationId xmlns:a16="http://schemas.microsoft.com/office/drawing/2014/main" id="{38E8AA82-85A5-769B-0924-C54F162F6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82" b="14286"/>
          <a:stretch/>
        </p:blipFill>
        <p:spPr>
          <a:xfrm>
            <a:off x="2480994" y="-6378"/>
            <a:ext cx="7230695" cy="688536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253B934-3EDC-482D-D666-D9DDECA3D9FB}"/>
              </a:ext>
            </a:extLst>
          </p:cNvPr>
          <p:cNvSpPr/>
          <p:nvPr/>
        </p:nvSpPr>
        <p:spPr>
          <a:xfrm>
            <a:off x="-7394" y="-7806"/>
            <a:ext cx="2488926" cy="6886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E92E3C1-2F87-6C5C-62FA-CEE32684B22C}"/>
              </a:ext>
            </a:extLst>
          </p:cNvPr>
          <p:cNvSpPr/>
          <p:nvPr/>
        </p:nvSpPr>
        <p:spPr>
          <a:xfrm>
            <a:off x="9697322" y="-22184"/>
            <a:ext cx="2488926" cy="6886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71BA48-435C-4F0E-839C-F3968E4A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3739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Antigua balanza de comercio 1kg | Medidas de peso | Antigüedad">
            <a:extLst>
              <a:ext uri="{FF2B5EF4-FFF2-40B4-BE49-F238E27FC236}">
                <a16:creationId xmlns:a16="http://schemas.microsoft.com/office/drawing/2014/main" id="{D7DC8C87-A1EA-EF39-FE96-B1D01564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07" y="8088"/>
            <a:ext cx="9597783" cy="6856202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63FCBA2-D05A-E59E-A79B-EFE815863C4F}"/>
              </a:ext>
            </a:extLst>
          </p:cNvPr>
          <p:cNvSpPr/>
          <p:nvPr/>
        </p:nvSpPr>
        <p:spPr>
          <a:xfrm>
            <a:off x="-65315" y="-65314"/>
            <a:ext cx="1371600" cy="6901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69B139-85FD-F719-E522-D42C88465384}"/>
              </a:ext>
            </a:extLst>
          </p:cNvPr>
          <p:cNvSpPr/>
          <p:nvPr/>
        </p:nvSpPr>
        <p:spPr>
          <a:xfrm>
            <a:off x="10818345" y="6572"/>
            <a:ext cx="1371600" cy="6901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2DBD99-AA3B-460A-AE47-A342B57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24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uánto vale una moneda de oro? - Stark Joyas">
            <a:extLst>
              <a:ext uri="{FF2B5EF4-FFF2-40B4-BE49-F238E27FC236}">
                <a16:creationId xmlns:a16="http://schemas.microsoft.com/office/drawing/2014/main" id="{DF61C184-717A-3D6A-4CC2-8F5F37A9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4" y="-2154"/>
            <a:ext cx="12030252" cy="6862309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54BB66-1ED1-4C0E-BFC9-EA3267E5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1060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Billete Mongolia 5000 Tugrik (2013) Gengis Kan - Fuente | Meses sin interés">
            <a:extLst>
              <a:ext uri="{FF2B5EF4-FFF2-40B4-BE49-F238E27FC236}">
                <a16:creationId xmlns:a16="http://schemas.microsoft.com/office/drawing/2014/main" id="{F210FF07-0975-5C36-14B4-35A958E7F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52" y="371387"/>
            <a:ext cx="12244835" cy="611522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D63EDE7-E6E4-CA87-C884-33AEB7A8CEF6}"/>
              </a:ext>
            </a:extLst>
          </p:cNvPr>
          <p:cNvSpPr/>
          <p:nvPr/>
        </p:nvSpPr>
        <p:spPr>
          <a:xfrm>
            <a:off x="-65315" y="-87086"/>
            <a:ext cx="12344400" cy="522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7B1DD6C-BF1D-B132-6108-66398A562534}"/>
              </a:ext>
            </a:extLst>
          </p:cNvPr>
          <p:cNvSpPr/>
          <p:nvPr/>
        </p:nvSpPr>
        <p:spPr>
          <a:xfrm>
            <a:off x="-65316" y="6339593"/>
            <a:ext cx="12344400" cy="522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78F123-F523-41BD-B5C2-FCC63025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8485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onsejos de la Defensoría del Pueblo para evitar problemas con las tarjetas  de crédito | Defensoría del Pueblo de la Provincia de Santa Fe">
            <a:extLst>
              <a:ext uri="{FF2B5EF4-FFF2-40B4-BE49-F238E27FC236}">
                <a16:creationId xmlns:a16="http://schemas.microsoft.com/office/drawing/2014/main" id="{69FB03F7-5C53-F11A-3EAE-3D681DD7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" b="10042"/>
          <a:stretch/>
        </p:blipFill>
        <p:spPr>
          <a:xfrm>
            <a:off x="-899" y="-5553"/>
            <a:ext cx="12452600" cy="6850753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041DE9-5336-4299-A987-F4C27F29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864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Billeteras virtuales: las aplicaciones más seguras, faciles de usar y con  mayor tasa de interés">
            <a:extLst>
              <a:ext uri="{FF2B5EF4-FFF2-40B4-BE49-F238E27FC236}">
                <a16:creationId xmlns:a16="http://schemas.microsoft.com/office/drawing/2014/main" id="{74923751-0761-E045-C46C-B284AA42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4" y="-16083"/>
            <a:ext cx="10368769" cy="687578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39DB070-50FD-9F6B-CFBF-6E363CA4303A}"/>
              </a:ext>
            </a:extLst>
          </p:cNvPr>
          <p:cNvSpPr/>
          <p:nvPr/>
        </p:nvSpPr>
        <p:spPr>
          <a:xfrm>
            <a:off x="-36972" y="-14377"/>
            <a:ext cx="2314755" cy="68797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8E0CDF-E1EA-3D58-3EA9-82D1588F29FF}"/>
              </a:ext>
            </a:extLst>
          </p:cNvPr>
          <p:cNvSpPr/>
          <p:nvPr/>
        </p:nvSpPr>
        <p:spPr>
          <a:xfrm>
            <a:off x="9912160" y="-28755"/>
            <a:ext cx="2286000" cy="68797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FCF044-F776-4EDB-BF5B-75B97F3C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0839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Bitcoin se toma un respiro y desacelera su carrera antes de un hito  histórico - LA NACION">
            <a:extLst>
              <a:ext uri="{FF2B5EF4-FFF2-40B4-BE49-F238E27FC236}">
                <a16:creationId xmlns:a16="http://schemas.microsoft.com/office/drawing/2014/main" id="{3B719B46-02C7-4B0B-E965-0F46D7E1C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311" y="1"/>
            <a:ext cx="12227701" cy="6874532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9C5C98-75E0-4176-BB3E-C57B7121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5978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B01B6B-514B-4339-A0DA-C76682523662}"/>
              </a:ext>
            </a:extLst>
          </p:cNvPr>
          <p:cNvSpPr txBox="1"/>
          <p:nvPr/>
        </p:nvSpPr>
        <p:spPr>
          <a:xfrm>
            <a:off x="1472381" y="2921168"/>
            <a:ext cx="92472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6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“el dinero que no es dinero” </a:t>
            </a:r>
            <a:endParaRPr lang="es-AR" sz="6000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422472-C7C3-40EA-A2EA-2C1CFAAA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696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ll Street - Wikipedia, la enciclopedia libre">
            <a:extLst>
              <a:ext uri="{FF2B5EF4-FFF2-40B4-BE49-F238E27FC236}">
                <a16:creationId xmlns:a16="http://schemas.microsoft.com/office/drawing/2014/main" id="{77474E5E-3CA2-412E-AEDE-B9648B785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258" y="-50822"/>
            <a:ext cx="9291484" cy="695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128D57B-FB32-43BE-B17E-71270F4799A1}"/>
              </a:ext>
            </a:extLst>
          </p:cNvPr>
          <p:cNvSpPr/>
          <p:nvPr/>
        </p:nvSpPr>
        <p:spPr>
          <a:xfrm>
            <a:off x="0" y="0"/>
            <a:ext cx="146009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3BE981E-FAB4-48D5-B883-8C0FC4C49A9D}"/>
              </a:ext>
            </a:extLst>
          </p:cNvPr>
          <p:cNvSpPr/>
          <p:nvPr/>
        </p:nvSpPr>
        <p:spPr>
          <a:xfrm>
            <a:off x="10731910" y="0"/>
            <a:ext cx="146009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E898D9-8930-446B-906B-52F1192A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4694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lla miseria - Wikipedia, la enciclopedia libre">
            <a:extLst>
              <a:ext uri="{FF2B5EF4-FFF2-40B4-BE49-F238E27FC236}">
                <a16:creationId xmlns:a16="http://schemas.microsoft.com/office/drawing/2014/main" id="{80B5FFD4-ED11-45B9-9255-A742CE341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021" y="0"/>
            <a:ext cx="9461957" cy="688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2A2AE7D-0295-453F-80FE-C0FE9E1DED45}"/>
              </a:ext>
            </a:extLst>
          </p:cNvPr>
          <p:cNvSpPr/>
          <p:nvPr/>
        </p:nvSpPr>
        <p:spPr>
          <a:xfrm>
            <a:off x="0" y="0"/>
            <a:ext cx="146009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393B0A-CD5A-4B87-B6E0-6AE2E528EB0D}"/>
              </a:ext>
            </a:extLst>
          </p:cNvPr>
          <p:cNvSpPr/>
          <p:nvPr/>
        </p:nvSpPr>
        <p:spPr>
          <a:xfrm>
            <a:off x="10731909" y="0"/>
            <a:ext cx="146009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F3C9DB4-7877-4123-9D09-68391091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0098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XPLOTACIÓN LABORAL Y FORDISMO. El primer carro Ford y el aumento de la  explotación obrera">
            <a:extLst>
              <a:ext uri="{FF2B5EF4-FFF2-40B4-BE49-F238E27FC236}">
                <a16:creationId xmlns:a16="http://schemas.microsoft.com/office/drawing/2014/main" id="{A2E2AFB7-8F2E-42A5-AE31-EE49B838F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43620"/>
            <a:ext cx="10972800" cy="690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0B5C2C4-2A73-4AD3-871F-4BC4FDAA6F71}"/>
              </a:ext>
            </a:extLst>
          </p:cNvPr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F52C39-85E5-4809-AFD2-9C756C9EEB26}"/>
              </a:ext>
            </a:extLst>
          </p:cNvPr>
          <p:cNvSpPr/>
          <p:nvPr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F81055-8D51-4EE1-8411-5EE29CA4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2867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7D5B722-F902-4120-8C5C-6984424AE326}"/>
              </a:ext>
            </a:extLst>
          </p:cNvPr>
          <p:cNvSpPr txBox="1"/>
          <p:nvPr/>
        </p:nvSpPr>
        <p:spPr>
          <a:xfrm>
            <a:off x="421341" y="2998113"/>
            <a:ext cx="113493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5000" b="1" dirty="0"/>
              <a:t>Modelo industrial vs modelo agropecuario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C6D9EE-C170-44B6-AA20-B359AEF9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96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AC6AA0A-BC0E-41AB-B060-44B914A5CFE5}"/>
              </a:ext>
            </a:extLst>
          </p:cNvPr>
          <p:cNvSpPr txBox="1"/>
          <p:nvPr/>
        </p:nvSpPr>
        <p:spPr>
          <a:xfrm>
            <a:off x="327212" y="2998113"/>
            <a:ext cx="115375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5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AR" sz="5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istema capitalista vs el sistema comunista</a:t>
            </a:r>
            <a:endParaRPr lang="es-AR" sz="5000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EAF434-A327-4EA5-BA49-79CA6470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9602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B0ABC07-F9E5-4045-B045-D6058E80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646E80-D444-441F-8ADB-F64EEBDF3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Oval 3">
            <a:extLst>
              <a:ext uri="{FF2B5EF4-FFF2-40B4-BE49-F238E27FC236}">
                <a16:creationId xmlns:a16="http://schemas.microsoft.com/office/drawing/2014/main" id="{F62C2263-3D73-4723-93D3-F6AF7B658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1122" y="262303"/>
            <a:ext cx="1571298" cy="15712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76ED79-CD8E-4018-9335-56377B4D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833601"/>
            <a:ext cx="5047488" cy="24875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dirty="0"/>
              <a:t>Argentina</a:t>
            </a:r>
          </a:p>
        </p:txBody>
      </p:sp>
      <p:grpSp>
        <p:nvGrpSpPr>
          <p:cNvPr id="35" name="decorative circles">
            <a:extLst>
              <a:ext uri="{FF2B5EF4-FFF2-40B4-BE49-F238E27FC236}">
                <a16:creationId xmlns:a16="http://schemas.microsoft.com/office/drawing/2014/main" id="{01F916D2-2CB1-4D26-A192-15FFC2D04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8662" y="310026"/>
            <a:ext cx="1902995" cy="6016634"/>
            <a:chOff x="7098662" y="310026"/>
            <a:chExt cx="1902995" cy="601663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503EA68-E00D-4C2B-9964-F9F99F1C7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08370" y="6020880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1057767-0940-4A54-986D-B4E949FD6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98662" y="578700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E9BAD30-6E28-4D0F-9823-DC43157F1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08481" y="310026"/>
              <a:ext cx="226735" cy="226735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9B88238-48E4-4035-88A7-D6B3CACD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35216" y="735547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Imagen 2" descr="Argentina - Wikipedia, la enciclopedia libre">
            <a:extLst>
              <a:ext uri="{FF2B5EF4-FFF2-40B4-BE49-F238E27FC236}">
                <a16:creationId xmlns:a16="http://schemas.microsoft.com/office/drawing/2014/main" id="{4988F833-2A9F-6049-3E71-4B27541C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54" r="18821" b="-2"/>
          <a:stretch/>
        </p:blipFill>
        <p:spPr>
          <a:xfrm>
            <a:off x="6775322" y="651862"/>
            <a:ext cx="5039984" cy="5039984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FA55DB5-CE1D-4F30-8494-A4AFC9391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4216" y="262302"/>
            <a:ext cx="1571299" cy="1571299"/>
          </a:xfrm>
          <a:prstGeom prst="rect">
            <a:avLst/>
          </a:prstGeom>
        </p:spPr>
      </p:pic>
      <p:sp>
        <p:nvSpPr>
          <p:cNvPr id="43" name="Oval 1">
            <a:extLst>
              <a:ext uri="{FF2B5EF4-FFF2-40B4-BE49-F238E27FC236}">
                <a16:creationId xmlns:a16="http://schemas.microsoft.com/office/drawing/2014/main" id="{49B741D7-1877-4B31-B705-15BE6A243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2422" y="4357470"/>
            <a:ext cx="1996328" cy="19963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12DB8D05-6B5C-43A3-8DB4-4A567CA8B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2420" y="4364041"/>
            <a:ext cx="2000751" cy="1962619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135315-CD39-4290-8F28-770737EE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94729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FD5705B-63E0-4364-B909-EC902FEAA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7E355D-DAEA-4421-B67A-FA13C0FBD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D944D6-B439-9D09-46D5-E5BE912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122363"/>
            <a:ext cx="504748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AR" sz="8000" b="1"/>
              <a:t>China</a:t>
            </a:r>
          </a:p>
        </p:txBody>
      </p:sp>
      <p:grpSp>
        <p:nvGrpSpPr>
          <p:cNvPr id="33" name="decorative circles">
            <a:extLst>
              <a:ext uri="{FF2B5EF4-FFF2-40B4-BE49-F238E27FC236}">
                <a16:creationId xmlns:a16="http://schemas.microsoft.com/office/drawing/2014/main" id="{61D9147E-6246-4344-B99C-7E58532D8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9D06285-CD49-4308-BDD4-0AF48D39B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D4A3886-A465-4577-99CE-251AA7B92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B4A1D21-7CBB-44D9-A528-DB74C3107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600DE0-90F9-4BD7-A084-ECB65A2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C243907-3995-49EB-94E9-35C68C13C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629A2DC-7066-4487-A307-68F210722C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508B2B-067E-421A-9C09-522CFF39F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89BA730-4DAE-4702-A5C5-013F9CEB0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Imagen 2" descr="República Popular China - Wikipedia, la enciclopedia libre">
            <a:extLst>
              <a:ext uri="{FF2B5EF4-FFF2-40B4-BE49-F238E27FC236}">
                <a16:creationId xmlns:a16="http://schemas.microsoft.com/office/drawing/2014/main" id="{E90FADCC-F4A3-2C09-6EB2-779F81DD9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453" b="-2"/>
          <a:stretch/>
        </p:blipFill>
        <p:spPr>
          <a:xfrm>
            <a:off x="6306574" y="552339"/>
            <a:ext cx="5728174" cy="5728174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ED80F5-F95F-4B63-BCC3-C5BAEC59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63811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5,073 en la categoría «China taiwan map» de fotos e imágenes de stock  libres de regalías | Shutterstock">
            <a:extLst>
              <a:ext uri="{FF2B5EF4-FFF2-40B4-BE49-F238E27FC236}">
                <a16:creationId xmlns:a16="http://schemas.microsoft.com/office/drawing/2014/main" id="{2B97F14A-1DEF-9336-4888-40538D14D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3" y="41427"/>
            <a:ext cx="10239373" cy="683265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12B396F-2311-6FE6-7D49-5778766230CA}"/>
              </a:ext>
            </a:extLst>
          </p:cNvPr>
          <p:cNvSpPr/>
          <p:nvPr/>
        </p:nvSpPr>
        <p:spPr>
          <a:xfrm>
            <a:off x="0" y="14377"/>
            <a:ext cx="969033" cy="6843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B09FF64-ADA2-1B58-58FA-6758D49AB263}"/>
              </a:ext>
            </a:extLst>
          </p:cNvPr>
          <p:cNvSpPr/>
          <p:nvPr/>
        </p:nvSpPr>
        <p:spPr>
          <a:xfrm>
            <a:off x="11214339" y="28754"/>
            <a:ext cx="969033" cy="6843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785271-ADFD-B469-BC3E-C415153238B7}"/>
              </a:ext>
            </a:extLst>
          </p:cNvPr>
          <p:cNvSpPr txBox="1"/>
          <p:nvPr/>
        </p:nvSpPr>
        <p:spPr>
          <a:xfrm>
            <a:off x="2732108" y="5961264"/>
            <a:ext cx="4326353" cy="70788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AR" sz="4000" b="1" dirty="0">
                <a:ea typeface="Calibri"/>
                <a:cs typeface="Calibri"/>
              </a:rPr>
              <a:t>Taiwán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269A72FE-B701-EE2B-51EB-7838595087A4}"/>
              </a:ext>
            </a:extLst>
          </p:cNvPr>
          <p:cNvSpPr/>
          <p:nvPr/>
        </p:nvSpPr>
        <p:spPr>
          <a:xfrm rot="18060000">
            <a:off x="6063257" y="4830566"/>
            <a:ext cx="2934212" cy="7574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BBDA17-372D-43C0-B183-41DB43D4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264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ubai Mall - Shop Review | Condé Nast Traveler">
            <a:extLst>
              <a:ext uri="{FF2B5EF4-FFF2-40B4-BE49-F238E27FC236}">
                <a16:creationId xmlns:a16="http://schemas.microsoft.com/office/drawing/2014/main" id="{7DCFF5FB-EBFC-5918-14AB-04117781B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1" y="-2156"/>
            <a:ext cx="12159650" cy="686231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085ED7-661C-4B2A-B1BA-7DF2CB57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ráfico de momias, entre el espectáculo y la ciencia">
            <a:extLst>
              <a:ext uri="{FF2B5EF4-FFF2-40B4-BE49-F238E27FC236}">
                <a16:creationId xmlns:a16="http://schemas.microsoft.com/office/drawing/2014/main" id="{CF835E49-7004-069C-E30A-D29398D56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306" y="-183491"/>
            <a:ext cx="9569389" cy="721060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A92EE6D-6CD0-3AE5-AF55-6B398F40BE18}"/>
              </a:ext>
            </a:extLst>
          </p:cNvPr>
          <p:cNvSpPr/>
          <p:nvPr/>
        </p:nvSpPr>
        <p:spPr>
          <a:xfrm>
            <a:off x="0" y="0"/>
            <a:ext cx="1328466" cy="6843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82632A-5EB5-3284-89F8-308646A02087}"/>
              </a:ext>
            </a:extLst>
          </p:cNvPr>
          <p:cNvSpPr/>
          <p:nvPr/>
        </p:nvSpPr>
        <p:spPr>
          <a:xfrm>
            <a:off x="10863533" y="-5751"/>
            <a:ext cx="1328466" cy="6843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7D87903-988C-4B3C-9535-59DE744C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35979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ágenes de Comercio de drogas libres de derechos | Depositphotos">
            <a:extLst>
              <a:ext uri="{FF2B5EF4-FFF2-40B4-BE49-F238E27FC236}">
                <a16:creationId xmlns:a16="http://schemas.microsoft.com/office/drawing/2014/main" id="{6EE65E49-2064-D9AD-E7E4-63D383A5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18" y="-1885"/>
            <a:ext cx="11043965" cy="684739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C3AE007-899C-0019-0BAA-EC86CEC5E1AD}"/>
              </a:ext>
            </a:extLst>
          </p:cNvPr>
          <p:cNvSpPr/>
          <p:nvPr/>
        </p:nvSpPr>
        <p:spPr>
          <a:xfrm>
            <a:off x="0" y="0"/>
            <a:ext cx="566466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AD58E5-684F-F357-57CE-6B20C3EFC5A2}"/>
              </a:ext>
            </a:extLst>
          </p:cNvPr>
          <p:cNvSpPr/>
          <p:nvPr/>
        </p:nvSpPr>
        <p:spPr>
          <a:xfrm>
            <a:off x="11616905" y="-1"/>
            <a:ext cx="566466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EEA9E6-6348-4540-813B-B2C417DF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15392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Guía para vender en Mercado Libre | Sales Layer">
            <a:extLst>
              <a:ext uri="{FF2B5EF4-FFF2-40B4-BE49-F238E27FC236}">
                <a16:creationId xmlns:a16="http://schemas.microsoft.com/office/drawing/2014/main" id="{F1937DF2-8C54-5A02-0493-5004BA74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2" t="11571" r="4527" b="11258"/>
          <a:stretch/>
        </p:blipFill>
        <p:spPr>
          <a:xfrm>
            <a:off x="-159497" y="2563"/>
            <a:ext cx="12350523" cy="6877884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B21A98-4439-4648-BDF2-806B37DD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47617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1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DACBDB-9C38-4364-A45F-E430E57D7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4FA0A4-DC00-4A44-912A-BAC6A6C13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2" name="Decorative Circles">
            <a:extLst>
              <a:ext uri="{FF2B5EF4-FFF2-40B4-BE49-F238E27FC236}">
                <a16:creationId xmlns:a16="http://schemas.microsoft.com/office/drawing/2014/main" id="{2880F677-3490-475B-ABC2-E84BDEC5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4277" y="956155"/>
            <a:ext cx="9049452" cy="1836961"/>
            <a:chOff x="374277" y="956155"/>
            <a:chExt cx="9049452" cy="1836961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7BBAE30-715D-4400-9E05-1E39217EC8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06096" y="1977248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F9419BD-66B8-4B5D-979F-64863DD32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68530" y="95615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0E411BB-D3CD-40AD-9676-915898DABD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10362" y="235440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0FC9C30-25A3-47A4-9A66-92AE50359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4277" y="1901154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8C1C480-F57B-4132-A7DA-6909F076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012" y="2326675"/>
              <a:ext cx="466441" cy="466441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Oval 3">
            <a:extLst>
              <a:ext uri="{FF2B5EF4-FFF2-40B4-BE49-F238E27FC236}">
                <a16:creationId xmlns:a16="http://schemas.microsoft.com/office/drawing/2014/main" id="{83530D07-6CB8-4A4F-8F6A-9BA5DAFB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665048" y="0"/>
            <a:ext cx="4408870" cy="2474031"/>
          </a:xfrm>
          <a:custGeom>
            <a:avLst/>
            <a:gdLst>
              <a:gd name="connsiteX0" fmla="*/ 18128 w 4408870"/>
              <a:gd name="connsiteY0" fmla="*/ 0 h 2474031"/>
              <a:gd name="connsiteX1" fmla="*/ 4390742 w 4408870"/>
              <a:gd name="connsiteY1" fmla="*/ 0 h 2474031"/>
              <a:gd name="connsiteX2" fmla="*/ 4397489 w 4408870"/>
              <a:gd name="connsiteY2" fmla="*/ 44205 h 2474031"/>
              <a:gd name="connsiteX3" fmla="*/ 4408870 w 4408870"/>
              <a:gd name="connsiteY3" fmla="*/ 269596 h 2474031"/>
              <a:gd name="connsiteX4" fmla="*/ 2204435 w 4408870"/>
              <a:gd name="connsiteY4" fmla="*/ 2474031 h 2474031"/>
              <a:gd name="connsiteX5" fmla="*/ 0 w 4408870"/>
              <a:gd name="connsiteY5" fmla="*/ 269596 h 2474031"/>
              <a:gd name="connsiteX6" fmla="*/ 11381 w 4408870"/>
              <a:gd name="connsiteY6" fmla="*/ 44205 h 24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8870" h="2474031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94965F7A-44F2-4AEF-8A25-106E57C63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832" t="48467" r="13582" b="10444"/>
          <a:stretch/>
        </p:blipFill>
        <p:spPr>
          <a:xfrm>
            <a:off x="688614" y="0"/>
            <a:ext cx="4368276" cy="2507327"/>
          </a:xfrm>
          <a:prstGeom prst="rect">
            <a:avLst/>
          </a:prstGeom>
        </p:spPr>
      </p:pic>
      <p:sp>
        <p:nvSpPr>
          <p:cNvPr id="43" name="Oval 4">
            <a:extLst>
              <a:ext uri="{FF2B5EF4-FFF2-40B4-BE49-F238E27FC236}">
                <a16:creationId xmlns:a16="http://schemas.microsoft.com/office/drawing/2014/main" id="{A0B0F77F-92C2-4EA4-88A3-070B345D0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09152" y="94983"/>
            <a:ext cx="2698133" cy="269813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2">
            <a:extLst>
              <a:ext uri="{FF2B5EF4-FFF2-40B4-BE49-F238E27FC236}">
                <a16:creationId xmlns:a16="http://schemas.microsoft.com/office/drawing/2014/main" id="{2F3205C3-F980-4EB3-9545-9CAA456A4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326987" y="0"/>
            <a:ext cx="2861965" cy="3133761"/>
          </a:xfrm>
          <a:custGeom>
            <a:avLst/>
            <a:gdLst>
              <a:gd name="connsiteX0" fmla="*/ 152193 w 2976254"/>
              <a:gd name="connsiteY0" fmla="*/ 0 h 3258904"/>
              <a:gd name="connsiteX1" fmla="*/ 2976254 w 2976254"/>
              <a:gd name="connsiteY1" fmla="*/ 0 h 3258904"/>
              <a:gd name="connsiteX2" fmla="*/ 2976254 w 2976254"/>
              <a:gd name="connsiteY2" fmla="*/ 3192289 h 3258904"/>
              <a:gd name="connsiteX3" fmla="*/ 2908439 w 2976254"/>
              <a:gd name="connsiteY3" fmla="*/ 3209726 h 3258904"/>
              <a:gd name="connsiteX4" fmla="*/ 2420603 w 2976254"/>
              <a:gd name="connsiteY4" fmla="*/ 3258904 h 3258904"/>
              <a:gd name="connsiteX5" fmla="*/ 0 w 2976254"/>
              <a:gd name="connsiteY5" fmla="*/ 838301 h 3258904"/>
              <a:gd name="connsiteX6" fmla="*/ 108826 w 2976254"/>
              <a:gd name="connsiteY6" fmla="*/ 118488 h 325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6254" h="3258904">
                <a:moveTo>
                  <a:pt x="152193" y="0"/>
                </a:moveTo>
                <a:lnTo>
                  <a:pt x="2976254" y="0"/>
                </a:lnTo>
                <a:lnTo>
                  <a:pt x="2976254" y="3192289"/>
                </a:lnTo>
                <a:lnTo>
                  <a:pt x="2908439" y="3209726"/>
                </a:lnTo>
                <a:cubicBezTo>
                  <a:pt x="2750864" y="3241971"/>
                  <a:pt x="2587711" y="3258904"/>
                  <a:pt x="2420603" y="3258904"/>
                </a:cubicBezTo>
                <a:cubicBezTo>
                  <a:pt x="1083741" y="3258904"/>
                  <a:pt x="0" y="2175163"/>
                  <a:pt x="0" y="838301"/>
                </a:cubicBezTo>
                <a:cubicBezTo>
                  <a:pt x="0" y="587639"/>
                  <a:pt x="38100" y="345877"/>
                  <a:pt x="108826" y="11848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D916385E-2011-4632-B599-29C7D2834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6094" t="40236" r="11854" b="12510"/>
          <a:stretch/>
        </p:blipFill>
        <p:spPr>
          <a:xfrm rot="5400000">
            <a:off x="9217184" y="189704"/>
            <a:ext cx="3133760" cy="28319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FBF0C22-064E-DEF7-3578-1A692DB42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826" y="2978149"/>
            <a:ext cx="7311973" cy="21693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err="1"/>
              <a:t>Conclusión</a:t>
            </a:r>
            <a:endParaRPr lang="en-US" sz="8000" b="1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A6269A2E-1142-4640-87F2-FB272B760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9151" y="94983"/>
            <a:ext cx="2698133" cy="2698133"/>
          </a:xfrm>
          <a:prstGeom prst="rect">
            <a:avLst/>
          </a:prstGeom>
        </p:spPr>
      </p:pic>
      <p:sp>
        <p:nvSpPr>
          <p:cNvPr id="51" name="Oval 1">
            <a:extLst>
              <a:ext uri="{FF2B5EF4-FFF2-40B4-BE49-F238E27FC236}">
                <a16:creationId xmlns:a16="http://schemas.microsoft.com/office/drawing/2014/main" id="{6268828B-23B3-4AF6-A838-6F0128B6F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590" y="3219078"/>
            <a:ext cx="3186814" cy="3638922"/>
          </a:xfrm>
          <a:custGeom>
            <a:avLst/>
            <a:gdLst>
              <a:gd name="connsiteX0" fmla="*/ 1156116 w 3186814"/>
              <a:gd name="connsiteY0" fmla="*/ 0 h 3638922"/>
              <a:gd name="connsiteX1" fmla="*/ 3186814 w 3186814"/>
              <a:gd name="connsiteY1" fmla="*/ 2030698 h 3638922"/>
              <a:gd name="connsiteX2" fmla="*/ 2447829 w 3186814"/>
              <a:gd name="connsiteY2" fmla="*/ 3597684 h 3638922"/>
              <a:gd name="connsiteX3" fmla="*/ 2392682 w 3186814"/>
              <a:gd name="connsiteY3" fmla="*/ 3638922 h 3638922"/>
              <a:gd name="connsiteX4" fmla="*/ 0 w 3186814"/>
              <a:gd name="connsiteY4" fmla="*/ 3638922 h 3638922"/>
              <a:gd name="connsiteX5" fmla="*/ 0 w 3186814"/>
              <a:gd name="connsiteY5" fmla="*/ 362315 h 3638922"/>
              <a:gd name="connsiteX6" fmla="*/ 20733 w 3186814"/>
              <a:gd name="connsiteY6" fmla="*/ 346811 h 3638922"/>
              <a:gd name="connsiteX7" fmla="*/ 1156116 w 3186814"/>
              <a:gd name="connsiteY7" fmla="*/ 0 h 363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6814" h="3638922">
                <a:moveTo>
                  <a:pt x="1156116" y="0"/>
                </a:moveTo>
                <a:cubicBezTo>
                  <a:pt x="2277640" y="0"/>
                  <a:pt x="3186814" y="909174"/>
                  <a:pt x="3186814" y="2030698"/>
                </a:cubicBezTo>
                <a:cubicBezTo>
                  <a:pt x="3186814" y="2661556"/>
                  <a:pt x="2899146" y="3225224"/>
                  <a:pt x="2447829" y="3597684"/>
                </a:cubicBezTo>
                <a:lnTo>
                  <a:pt x="2392682" y="3638922"/>
                </a:lnTo>
                <a:lnTo>
                  <a:pt x="0" y="3638922"/>
                </a:lnTo>
                <a:lnTo>
                  <a:pt x="0" y="362315"/>
                </a:lnTo>
                <a:lnTo>
                  <a:pt x="20733" y="346811"/>
                </a:lnTo>
                <a:cubicBezTo>
                  <a:pt x="344835" y="127853"/>
                  <a:pt x="735545" y="0"/>
                  <a:pt x="1156116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758A7C53-8BE5-44E4-AC0C-CFA49FB91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199" t="12146" r="12288" b="18832"/>
          <a:stretch/>
        </p:blipFill>
        <p:spPr>
          <a:xfrm>
            <a:off x="-10590" y="3270329"/>
            <a:ext cx="3197404" cy="358767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9B2C6A-3BC9-4FE0-9AF7-A979F87B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60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1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7AB4D1A-6270-4D15-9F1C-349AF05AF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553057-9FF3-400D-90FC-4F897734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2" name="Decorative Circles">
            <a:extLst>
              <a:ext uri="{FF2B5EF4-FFF2-40B4-BE49-F238E27FC236}">
                <a16:creationId xmlns:a16="http://schemas.microsoft.com/office/drawing/2014/main" id="{FFAB95AE-AE0F-4D82-A957-C1FE11C5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484" y="236341"/>
            <a:ext cx="10677791" cy="4262956"/>
            <a:chOff x="767484" y="236341"/>
            <a:chExt cx="10677791" cy="42629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5C0E34-833A-4A81-9A27-E03E0EB21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9767" y="3283228"/>
              <a:ext cx="226735" cy="22673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43D5840-78C4-4DDD-A239-29FC71B8D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13359" y="386135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EA2506C-4097-4C37-AB61-12712392E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90699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BA1AACA-257E-441B-837C-A7436CB2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7484" y="2755518"/>
              <a:ext cx="466441" cy="466441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AD1D194-BF30-4E78-B2C4-860ABCD58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31908" y="3813254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51373E2-E4A1-406C-AAF4-2750E933F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75095" y="3592374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1F67221-E5C0-4E62-9F4D-4E6FC8E73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4104" y="438593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Oval 2">
            <a:extLst>
              <a:ext uri="{FF2B5EF4-FFF2-40B4-BE49-F238E27FC236}">
                <a16:creationId xmlns:a16="http://schemas.microsoft.com/office/drawing/2014/main" id="{5D2FE535-33D9-4D08-9B67-47CF8CC7E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474" y="305966"/>
            <a:ext cx="2051331" cy="20513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">
            <a:extLst>
              <a:ext uri="{FF2B5EF4-FFF2-40B4-BE49-F238E27FC236}">
                <a16:creationId xmlns:a16="http://schemas.microsoft.com/office/drawing/2014/main" id="{1CB206CF-E798-414B-B6B6-2B6E96871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8580" y="0"/>
            <a:ext cx="2733089" cy="2357297"/>
          </a:xfrm>
          <a:custGeom>
            <a:avLst/>
            <a:gdLst>
              <a:gd name="connsiteX0" fmla="*/ 288659 w 3192131"/>
              <a:gd name="connsiteY0" fmla="*/ 0 h 2753222"/>
              <a:gd name="connsiteX1" fmla="*/ 3192131 w 3192131"/>
              <a:gd name="connsiteY1" fmla="*/ 0 h 2753222"/>
              <a:gd name="connsiteX2" fmla="*/ 3192131 w 3192131"/>
              <a:gd name="connsiteY2" fmla="*/ 2058956 h 2753222"/>
              <a:gd name="connsiteX3" fmla="*/ 3158043 w 3192131"/>
              <a:gd name="connsiteY3" fmla="*/ 2104541 h 2753222"/>
              <a:gd name="connsiteX4" fmla="*/ 1782545 w 3192131"/>
              <a:gd name="connsiteY4" fmla="*/ 2753222 h 2753222"/>
              <a:gd name="connsiteX5" fmla="*/ 0 w 3192131"/>
              <a:gd name="connsiteY5" fmla="*/ 970677 h 2753222"/>
              <a:gd name="connsiteX6" fmla="*/ 215144 w 3192131"/>
              <a:gd name="connsiteY6" fmla="*/ 121011 h 2753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2131" h="2753222">
                <a:moveTo>
                  <a:pt x="288659" y="0"/>
                </a:moveTo>
                <a:lnTo>
                  <a:pt x="3192131" y="0"/>
                </a:lnTo>
                <a:lnTo>
                  <a:pt x="3192131" y="2058956"/>
                </a:lnTo>
                <a:lnTo>
                  <a:pt x="3158043" y="2104541"/>
                </a:lnTo>
                <a:cubicBezTo>
                  <a:pt x="2831098" y="2500707"/>
                  <a:pt x="2336311" y="2753222"/>
                  <a:pt x="1782545" y="2753222"/>
                </a:cubicBezTo>
                <a:cubicBezTo>
                  <a:pt x="798073" y="2753222"/>
                  <a:pt x="0" y="1955149"/>
                  <a:pt x="0" y="970677"/>
                </a:cubicBezTo>
                <a:cubicBezTo>
                  <a:pt x="0" y="663030"/>
                  <a:pt x="77937" y="373585"/>
                  <a:pt x="215144" y="121011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8A06537E-CB60-4703-A5FF-0C413BB01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31" t="30907" r="23362" b="17441"/>
          <a:stretch/>
        </p:blipFill>
        <p:spPr>
          <a:xfrm>
            <a:off x="9573575" y="-4327"/>
            <a:ext cx="2668147" cy="237589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69695EF-4593-BC2A-56D1-C3CC8BA9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606" y="1122363"/>
            <a:ext cx="706373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err="1"/>
              <a:t>Muchas</a:t>
            </a:r>
            <a:r>
              <a:rPr lang="en-US" sz="6600" b="1" dirty="0"/>
              <a:t> gracias </a:t>
            </a:r>
            <a:r>
              <a:rPr lang="en-US" sz="6600" b="1" err="1"/>
              <a:t>por</a:t>
            </a:r>
            <a:r>
              <a:rPr lang="en-US" sz="6600" b="1" dirty="0"/>
              <a:t> </a:t>
            </a:r>
            <a:r>
              <a:rPr lang="en-US" sz="6600" b="1" err="1"/>
              <a:t>escuchar</a:t>
            </a:r>
            <a:endParaRPr lang="en-US" sz="6600" b="1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F427EE0-0478-4A7D-94D8-E51EE9ACB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99" y="319698"/>
            <a:ext cx="2037600" cy="2037600"/>
          </a:xfrm>
          <a:prstGeom prst="rect">
            <a:avLst/>
          </a:prstGeom>
        </p:spPr>
      </p:pic>
      <p:sp>
        <p:nvSpPr>
          <p:cNvPr id="50" name="Oval 3">
            <a:extLst>
              <a:ext uri="{FF2B5EF4-FFF2-40B4-BE49-F238E27FC236}">
                <a16:creationId xmlns:a16="http://schemas.microsoft.com/office/drawing/2014/main" id="{11C1B1CF-F716-4EA9-BB3A-85AE11437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rot="16200000">
            <a:off x="-639576" y="4068576"/>
            <a:ext cx="2914772" cy="1635620"/>
          </a:xfrm>
          <a:custGeom>
            <a:avLst/>
            <a:gdLst>
              <a:gd name="connsiteX0" fmla="*/ 18128 w 4408870"/>
              <a:gd name="connsiteY0" fmla="*/ 0 h 2474031"/>
              <a:gd name="connsiteX1" fmla="*/ 4390742 w 4408870"/>
              <a:gd name="connsiteY1" fmla="*/ 0 h 2474031"/>
              <a:gd name="connsiteX2" fmla="*/ 4397489 w 4408870"/>
              <a:gd name="connsiteY2" fmla="*/ 44205 h 2474031"/>
              <a:gd name="connsiteX3" fmla="*/ 4408870 w 4408870"/>
              <a:gd name="connsiteY3" fmla="*/ 269596 h 2474031"/>
              <a:gd name="connsiteX4" fmla="*/ 2204435 w 4408870"/>
              <a:gd name="connsiteY4" fmla="*/ 2474031 h 2474031"/>
              <a:gd name="connsiteX5" fmla="*/ 0 w 4408870"/>
              <a:gd name="connsiteY5" fmla="*/ 269596 h 2474031"/>
              <a:gd name="connsiteX6" fmla="*/ 11381 w 4408870"/>
              <a:gd name="connsiteY6" fmla="*/ 44205 h 24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8870" h="2474031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37083F91-C28A-466E-A0D2-C510356BB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5737" t="12146" r="12288" b="12942"/>
          <a:stretch/>
        </p:blipFill>
        <p:spPr>
          <a:xfrm>
            <a:off x="0" y="3409035"/>
            <a:ext cx="1633210" cy="2914772"/>
          </a:xfrm>
          <a:prstGeom prst="rect">
            <a:avLst/>
          </a:prstGeom>
        </p:spPr>
      </p:pic>
      <p:sp>
        <p:nvSpPr>
          <p:cNvPr id="54" name="Oval 4">
            <a:extLst>
              <a:ext uri="{FF2B5EF4-FFF2-40B4-BE49-F238E27FC236}">
                <a16:creationId xmlns:a16="http://schemas.microsoft.com/office/drawing/2014/main" id="{C5A4BEDA-180D-4F05-BED0-FCA62B717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994790" y="4395253"/>
            <a:ext cx="2216879" cy="2462747"/>
          </a:xfrm>
          <a:custGeom>
            <a:avLst/>
            <a:gdLst>
              <a:gd name="connsiteX0" fmla="*/ 2133985 w 3086667"/>
              <a:gd name="connsiteY0" fmla="*/ 0 h 3429000"/>
              <a:gd name="connsiteX1" fmla="*/ 2964628 w 3086667"/>
              <a:gd name="connsiteY1" fmla="*/ 167699 h 3429000"/>
              <a:gd name="connsiteX2" fmla="*/ 3086667 w 3086667"/>
              <a:gd name="connsiteY2" fmla="*/ 226489 h 3429000"/>
              <a:gd name="connsiteX3" fmla="*/ 3086667 w 3086667"/>
              <a:gd name="connsiteY3" fmla="*/ 3429000 h 3429000"/>
              <a:gd name="connsiteX4" fmla="*/ 440639 w 3086667"/>
              <a:gd name="connsiteY4" fmla="*/ 3429000 h 3429000"/>
              <a:gd name="connsiteX5" fmla="*/ 364451 w 3086667"/>
              <a:gd name="connsiteY5" fmla="*/ 3327116 h 3429000"/>
              <a:gd name="connsiteX6" fmla="*/ 0 w 3086667"/>
              <a:gd name="connsiteY6" fmla="*/ 2133985 h 3429000"/>
              <a:gd name="connsiteX7" fmla="*/ 2133985 w 3086667"/>
              <a:gd name="connsiteY7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86667" h="3429000">
                <a:moveTo>
                  <a:pt x="2133985" y="0"/>
                </a:moveTo>
                <a:cubicBezTo>
                  <a:pt x="2428627" y="0"/>
                  <a:pt x="2709322" y="59714"/>
                  <a:pt x="2964628" y="167699"/>
                </a:cubicBezTo>
                <a:lnTo>
                  <a:pt x="3086667" y="226489"/>
                </a:lnTo>
                <a:lnTo>
                  <a:pt x="3086667" y="3429000"/>
                </a:lnTo>
                <a:lnTo>
                  <a:pt x="440639" y="3429000"/>
                </a:lnTo>
                <a:lnTo>
                  <a:pt x="364451" y="3327116"/>
                </a:lnTo>
                <a:cubicBezTo>
                  <a:pt x="134356" y="2986530"/>
                  <a:pt x="0" y="2575948"/>
                  <a:pt x="0" y="2133985"/>
                </a:cubicBezTo>
                <a:cubicBezTo>
                  <a:pt x="0" y="955418"/>
                  <a:pt x="955418" y="0"/>
                  <a:pt x="213398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2CC0D334-814F-4E8B-846F-D4001B39A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2606" t="11163" r="32354" b="30172"/>
          <a:stretch/>
        </p:blipFill>
        <p:spPr>
          <a:xfrm>
            <a:off x="9994790" y="4395253"/>
            <a:ext cx="2216879" cy="246274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AE538C-4238-4766-BC36-8851A206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28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nfetti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9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2046</Words>
  <Application>Microsoft Office PowerPoint</Application>
  <PresentationFormat>Panorámica</PresentationFormat>
  <Paragraphs>119</Paragraphs>
  <Slides>37</Slides>
  <Notes>35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Arial</vt:lpstr>
      <vt:lpstr>AvenirNext LT Pro Medium</vt:lpstr>
      <vt:lpstr>Calibri</vt:lpstr>
      <vt:lpstr>Gill Sans Nova</vt:lpstr>
      <vt:lpstr>ConfettiVTI</vt:lpstr>
      <vt:lpstr>Comercio</vt:lpstr>
      <vt:lpstr>"El comercio es el intercambio de bienes"</vt:lpstr>
      <vt:lpstr>Negociar</vt:lpstr>
      <vt:lpstr>"Que el comercio es un intercambio de bienes o servicios entre dos individuos que deben tener los medios suficientes como para comunicarse exitosamente y llegar a un acuerdo."</vt:lpstr>
      <vt:lpstr>Presentación de PowerPoint</vt:lpstr>
      <vt:lpstr>Presentación de PowerPoint</vt:lpstr>
      <vt:lpstr>Presentación de PowerPoint</vt:lpstr>
      <vt:lpstr>PAN + CIRCO= MASAS CONTENTAS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Argentina</vt:lpstr>
      <vt:lpstr>China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Muchas gracias por escuchar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Comercio</dc:title>
  <dc:creator/>
  <cp:lastModifiedBy>Joaquin Rodriguez Tortora</cp:lastModifiedBy>
  <cp:revision>311</cp:revision>
  <dcterms:created xsi:type="dcterms:W3CDTF">2024-12-02T18:58:44Z</dcterms:created>
  <dcterms:modified xsi:type="dcterms:W3CDTF">2024-12-03T19:38:28Z</dcterms:modified>
</cp:coreProperties>
</file>