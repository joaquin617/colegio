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70" r:id="rId10"/>
    <p:sldId id="267" r:id="rId11"/>
    <p:sldId id="268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EE7DF9-B78C-B1BF-2274-BB5BC02E93EE}" v="3" dt="2024-05-04T17:08:13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0" autoAdjust="0"/>
    <p:restoredTop sz="94660"/>
  </p:normalViewPr>
  <p:slideViewPr>
    <p:cSldViewPr snapToGrid="0">
      <p:cViewPr varScale="1">
        <p:scale>
          <a:sx n="71" d="100"/>
          <a:sy n="71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04/05/2024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04/05/2024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04/05/2024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04/05/2024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04/05/2024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04/05/2024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04/05/2024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04/05/2024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04/05/2024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04/05/2024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04/05/2024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874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04/05/2024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4E2F94-7799-F825-4028-8DFAEE46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8738" y="2125606"/>
            <a:ext cx="5107920" cy="34393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Análisis</a:t>
            </a:r>
            <a:r>
              <a:rPr lang="en-US" sz="3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AR" sz="3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literario</a:t>
            </a:r>
            <a:r>
              <a:rPr lang="en-US" sz="3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de: </a:t>
            </a:r>
            <a:br>
              <a:rPr lang="en-US" sz="3200" kern="1200" dirty="0"/>
            </a:br>
            <a:r>
              <a:rPr lang="en-US" sz="3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"No soy </a:t>
            </a:r>
            <a:r>
              <a:rPr lang="en-US" sz="32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malo</a:t>
            </a:r>
            <a:r>
              <a:rPr lang="en-US" sz="3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soy </a:t>
            </a:r>
            <a:r>
              <a:rPr lang="en-US" sz="32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una</a:t>
            </a:r>
            <a:r>
              <a:rPr lang="en-US" sz="3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</a:t>
            </a:r>
            <a:r>
              <a:rPr lang="es-AR" sz="3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herramienta</a:t>
            </a:r>
            <a:r>
              <a:rPr lang="en-US" sz="3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"</a:t>
            </a:r>
            <a:endParaRPr lang="en-US" sz="3200" kern="1200" dirty="0">
              <a:solidFill>
                <a:schemeClr val="tx2"/>
              </a:solidFill>
              <a:latin typeface="+mj-lt"/>
            </a:endParaRPr>
          </a:p>
          <a:p>
            <a:br>
              <a:rPr lang="en-US" sz="1900" kern="1200" dirty="0"/>
            </a:br>
            <a:endParaRPr lang="en-US" sz="3200" kern="12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6" name="Graphic 5" descr="Libros">
            <a:extLst>
              <a:ext uri="{FF2B5EF4-FFF2-40B4-BE49-F238E27FC236}">
                <a16:creationId xmlns:a16="http://schemas.microsoft.com/office/drawing/2014/main" id="{70DC2ABA-1BD2-95CD-1107-274997D5E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24083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" name="TextShape 3"/>
          <p:cNvSpPr txBox="1"/>
          <p:nvPr/>
        </p:nvSpPr>
        <p:spPr>
          <a:xfrm>
            <a:off x="1151640" y="888120"/>
            <a:ext cx="9888840" cy="132516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6600" b="0" u="sng" strike="noStrike" spc="-1" dirty="0">
                <a:uFillTx/>
                <a:latin typeface="The Serif Hand Black"/>
              </a:rPr>
              <a:t>Primer párrafo:</a:t>
            </a:r>
            <a:endParaRPr lang="es-ES" sz="6600" b="0" strike="noStrike" spc="-1" dirty="0">
              <a:latin typeface="The Hand Bold"/>
            </a:endParaRPr>
          </a:p>
        </p:txBody>
      </p:sp>
      <p:sp>
        <p:nvSpPr>
          <p:cNvPr id="91" name="CustomShape 4"/>
          <p:cNvSpPr/>
          <p:nvPr/>
        </p:nvSpPr>
        <p:spPr>
          <a:xfrm>
            <a:off x="1117080" y="2325960"/>
            <a:ext cx="9957600" cy="18000"/>
          </a:xfrm>
          <a:custGeom>
            <a:avLst/>
            <a:gdLst/>
            <a:ahLst/>
            <a:cxnLst/>
            <a:rect l="l" t="t" r="r" b="b"/>
            <a:pathLst>
              <a:path w="9957816" h="18288">
                <a:moveTo>
                  <a:pt x="0" y="0"/>
                </a:moveTo>
                <a:cubicBezTo>
                  <a:pt x="258912" y="4528"/>
                  <a:pt x="602792" y="35413"/>
                  <a:pt x="863011" y="0"/>
                </a:cubicBezTo>
                <a:cubicBezTo>
                  <a:pt x="1123230" y="-35413"/>
                  <a:pt x="1110743" y="8950"/>
                  <a:pt x="1327709" y="0"/>
                </a:cubicBezTo>
                <a:cubicBezTo>
                  <a:pt x="1544675" y="-8950"/>
                  <a:pt x="1720121" y="-30004"/>
                  <a:pt x="2091141" y="0"/>
                </a:cubicBezTo>
                <a:cubicBezTo>
                  <a:pt x="2462161" y="30004"/>
                  <a:pt x="2325710" y="-22120"/>
                  <a:pt x="2555839" y="0"/>
                </a:cubicBezTo>
                <a:cubicBezTo>
                  <a:pt x="2785968" y="22120"/>
                  <a:pt x="2943172" y="14890"/>
                  <a:pt x="3219694" y="0"/>
                </a:cubicBezTo>
                <a:cubicBezTo>
                  <a:pt x="3496216" y="-14890"/>
                  <a:pt x="3789247" y="-1477"/>
                  <a:pt x="3983126" y="0"/>
                </a:cubicBezTo>
                <a:cubicBezTo>
                  <a:pt x="4177005" y="1477"/>
                  <a:pt x="4180112" y="16397"/>
                  <a:pt x="4348246" y="0"/>
                </a:cubicBezTo>
                <a:cubicBezTo>
                  <a:pt x="4516380" y="-16397"/>
                  <a:pt x="4601818" y="4117"/>
                  <a:pt x="4713366" y="0"/>
                </a:cubicBezTo>
                <a:cubicBezTo>
                  <a:pt x="4824914" y="-4117"/>
                  <a:pt x="5400642" y="663"/>
                  <a:pt x="5576377" y="0"/>
                </a:cubicBezTo>
                <a:cubicBezTo>
                  <a:pt x="5752112" y="-663"/>
                  <a:pt x="6036350" y="11452"/>
                  <a:pt x="6240231" y="0"/>
                </a:cubicBezTo>
                <a:cubicBezTo>
                  <a:pt x="6444112" y="-11452"/>
                  <a:pt x="6508667" y="-15154"/>
                  <a:pt x="6605351" y="0"/>
                </a:cubicBezTo>
                <a:cubicBezTo>
                  <a:pt x="6702035" y="15154"/>
                  <a:pt x="7096186" y="19291"/>
                  <a:pt x="7269206" y="0"/>
                </a:cubicBezTo>
                <a:cubicBezTo>
                  <a:pt x="7442227" y="-19291"/>
                  <a:pt x="7802902" y="39720"/>
                  <a:pt x="8132216" y="0"/>
                </a:cubicBezTo>
                <a:cubicBezTo>
                  <a:pt x="8461530" y="-39720"/>
                  <a:pt x="8551221" y="24341"/>
                  <a:pt x="8696493" y="0"/>
                </a:cubicBezTo>
                <a:cubicBezTo>
                  <a:pt x="8841765" y="-24341"/>
                  <a:pt x="9091257" y="15574"/>
                  <a:pt x="9260769" y="0"/>
                </a:cubicBezTo>
                <a:cubicBezTo>
                  <a:pt x="9430281" y="-15574"/>
                  <a:pt x="9809458" y="-15806"/>
                  <a:pt x="9957816" y="0"/>
                </a:cubicBezTo>
                <a:cubicBezTo>
                  <a:pt x="9958154" y="7640"/>
                  <a:pt x="9957366" y="11289"/>
                  <a:pt x="9957816" y="18288"/>
                </a:cubicBezTo>
                <a:cubicBezTo>
                  <a:pt x="9789958" y="23645"/>
                  <a:pt x="9437684" y="-10787"/>
                  <a:pt x="9293962" y="18288"/>
                </a:cubicBezTo>
                <a:cubicBezTo>
                  <a:pt x="9150240" y="47363"/>
                  <a:pt x="8858466" y="6899"/>
                  <a:pt x="8530529" y="18288"/>
                </a:cubicBezTo>
                <a:cubicBezTo>
                  <a:pt x="8202592" y="29677"/>
                  <a:pt x="8042036" y="-12845"/>
                  <a:pt x="7767096" y="18288"/>
                </a:cubicBezTo>
                <a:cubicBezTo>
                  <a:pt x="7492156" y="49421"/>
                  <a:pt x="7464764" y="38557"/>
                  <a:pt x="7302398" y="18288"/>
                </a:cubicBezTo>
                <a:cubicBezTo>
                  <a:pt x="7140032" y="-1981"/>
                  <a:pt x="6674139" y="-20177"/>
                  <a:pt x="6439388" y="18288"/>
                </a:cubicBezTo>
                <a:cubicBezTo>
                  <a:pt x="6204637" y="56753"/>
                  <a:pt x="6044763" y="2398"/>
                  <a:pt x="5775533" y="18288"/>
                </a:cubicBezTo>
                <a:cubicBezTo>
                  <a:pt x="5506303" y="34178"/>
                  <a:pt x="5528640" y="8636"/>
                  <a:pt x="5410413" y="18288"/>
                </a:cubicBezTo>
                <a:cubicBezTo>
                  <a:pt x="5292186" y="27940"/>
                  <a:pt x="4880771" y="-3659"/>
                  <a:pt x="4746559" y="18288"/>
                </a:cubicBezTo>
                <a:cubicBezTo>
                  <a:pt x="4612347" y="40235"/>
                  <a:pt x="4346390" y="46329"/>
                  <a:pt x="4182283" y="18288"/>
                </a:cubicBezTo>
                <a:cubicBezTo>
                  <a:pt x="4018176" y="-9753"/>
                  <a:pt x="3743247" y="40654"/>
                  <a:pt x="3618006" y="18288"/>
                </a:cubicBezTo>
                <a:cubicBezTo>
                  <a:pt x="3492765" y="-4078"/>
                  <a:pt x="3201495" y="15624"/>
                  <a:pt x="3053730" y="18288"/>
                </a:cubicBezTo>
                <a:cubicBezTo>
                  <a:pt x="2905965" y="20952"/>
                  <a:pt x="2770855" y="10382"/>
                  <a:pt x="2489454" y="18288"/>
                </a:cubicBezTo>
                <a:cubicBezTo>
                  <a:pt x="2208053" y="26194"/>
                  <a:pt x="1999579" y="12705"/>
                  <a:pt x="1726021" y="18288"/>
                </a:cubicBezTo>
                <a:cubicBezTo>
                  <a:pt x="1452463" y="23871"/>
                  <a:pt x="1261725" y="2423"/>
                  <a:pt x="1062167" y="18288"/>
                </a:cubicBezTo>
                <a:cubicBezTo>
                  <a:pt x="862609" y="34153"/>
                  <a:pt x="828837" y="34680"/>
                  <a:pt x="697047" y="18288"/>
                </a:cubicBezTo>
                <a:cubicBezTo>
                  <a:pt x="565257" y="1896"/>
                  <a:pt x="290333" y="-12656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  <a:moveTo>
                  <a:pt x="0" y="0"/>
                </a:moveTo>
                <a:cubicBezTo>
                  <a:pt x="239894" y="-13568"/>
                  <a:pt x="444306" y="20490"/>
                  <a:pt x="564276" y="0"/>
                </a:cubicBezTo>
                <a:cubicBezTo>
                  <a:pt x="684246" y="-20490"/>
                  <a:pt x="829702" y="-16311"/>
                  <a:pt x="929396" y="0"/>
                </a:cubicBezTo>
                <a:cubicBezTo>
                  <a:pt x="1029090" y="16311"/>
                  <a:pt x="1434080" y="4599"/>
                  <a:pt x="1792407" y="0"/>
                </a:cubicBezTo>
                <a:cubicBezTo>
                  <a:pt x="2150734" y="-4599"/>
                  <a:pt x="2230922" y="-3217"/>
                  <a:pt x="2356683" y="0"/>
                </a:cubicBezTo>
                <a:cubicBezTo>
                  <a:pt x="2482444" y="3217"/>
                  <a:pt x="2727176" y="10118"/>
                  <a:pt x="2920959" y="0"/>
                </a:cubicBezTo>
                <a:cubicBezTo>
                  <a:pt x="3114742" y="-10118"/>
                  <a:pt x="3583268" y="6126"/>
                  <a:pt x="3783970" y="0"/>
                </a:cubicBezTo>
                <a:cubicBezTo>
                  <a:pt x="3984672" y="-6126"/>
                  <a:pt x="4119530" y="12121"/>
                  <a:pt x="4248668" y="0"/>
                </a:cubicBezTo>
                <a:cubicBezTo>
                  <a:pt x="4377806" y="-12121"/>
                  <a:pt x="4830370" y="39306"/>
                  <a:pt x="5111679" y="0"/>
                </a:cubicBezTo>
                <a:cubicBezTo>
                  <a:pt x="5392988" y="-39306"/>
                  <a:pt x="5595981" y="-37432"/>
                  <a:pt x="5974690" y="0"/>
                </a:cubicBezTo>
                <a:cubicBezTo>
                  <a:pt x="6353399" y="37432"/>
                  <a:pt x="6382398" y="-32218"/>
                  <a:pt x="6638544" y="0"/>
                </a:cubicBezTo>
                <a:cubicBezTo>
                  <a:pt x="6894690" y="32218"/>
                  <a:pt x="7107197" y="-8479"/>
                  <a:pt x="7501555" y="0"/>
                </a:cubicBezTo>
                <a:cubicBezTo>
                  <a:pt x="7895913" y="8479"/>
                  <a:pt x="7913370" y="-2556"/>
                  <a:pt x="8065831" y="0"/>
                </a:cubicBezTo>
                <a:cubicBezTo>
                  <a:pt x="8218292" y="2556"/>
                  <a:pt x="8391465" y="4509"/>
                  <a:pt x="8630107" y="0"/>
                </a:cubicBezTo>
                <a:cubicBezTo>
                  <a:pt x="8868749" y="-4509"/>
                  <a:pt x="9078381" y="-9348"/>
                  <a:pt x="9393540" y="0"/>
                </a:cubicBezTo>
                <a:cubicBezTo>
                  <a:pt x="9708699" y="9348"/>
                  <a:pt x="9789190" y="-16759"/>
                  <a:pt x="9957816" y="0"/>
                </a:cubicBezTo>
                <a:cubicBezTo>
                  <a:pt x="9957941" y="4395"/>
                  <a:pt x="9957741" y="9776"/>
                  <a:pt x="9957816" y="18288"/>
                </a:cubicBezTo>
                <a:cubicBezTo>
                  <a:pt x="9649812" y="40651"/>
                  <a:pt x="9486007" y="41594"/>
                  <a:pt x="9194383" y="18288"/>
                </a:cubicBezTo>
                <a:cubicBezTo>
                  <a:pt x="8902759" y="-5018"/>
                  <a:pt x="8744094" y="43814"/>
                  <a:pt x="8530529" y="18288"/>
                </a:cubicBezTo>
                <a:cubicBezTo>
                  <a:pt x="8316964" y="-7238"/>
                  <a:pt x="8282371" y="24093"/>
                  <a:pt x="8165409" y="18288"/>
                </a:cubicBezTo>
                <a:cubicBezTo>
                  <a:pt x="8048447" y="12483"/>
                  <a:pt x="7851788" y="12040"/>
                  <a:pt x="7700711" y="18288"/>
                </a:cubicBezTo>
                <a:cubicBezTo>
                  <a:pt x="7549634" y="24536"/>
                  <a:pt x="7127225" y="27915"/>
                  <a:pt x="6837700" y="18288"/>
                </a:cubicBezTo>
                <a:cubicBezTo>
                  <a:pt x="6548175" y="8661"/>
                  <a:pt x="6330711" y="50037"/>
                  <a:pt x="6173846" y="18288"/>
                </a:cubicBezTo>
                <a:cubicBezTo>
                  <a:pt x="6016981" y="-13461"/>
                  <a:pt x="5930031" y="15985"/>
                  <a:pt x="5709148" y="18288"/>
                </a:cubicBezTo>
                <a:cubicBezTo>
                  <a:pt x="5488265" y="20591"/>
                  <a:pt x="5372997" y="43097"/>
                  <a:pt x="5045293" y="18288"/>
                </a:cubicBezTo>
                <a:cubicBezTo>
                  <a:pt x="4717590" y="-6521"/>
                  <a:pt x="4829875" y="6803"/>
                  <a:pt x="4680174" y="18288"/>
                </a:cubicBezTo>
                <a:cubicBezTo>
                  <a:pt x="4530473" y="29773"/>
                  <a:pt x="4441300" y="27030"/>
                  <a:pt x="4315054" y="18288"/>
                </a:cubicBezTo>
                <a:cubicBezTo>
                  <a:pt x="4188808" y="9546"/>
                  <a:pt x="3846162" y="4446"/>
                  <a:pt x="3651199" y="18288"/>
                </a:cubicBezTo>
                <a:cubicBezTo>
                  <a:pt x="3456236" y="32130"/>
                  <a:pt x="3412656" y="-1324"/>
                  <a:pt x="3186501" y="18288"/>
                </a:cubicBezTo>
                <a:cubicBezTo>
                  <a:pt x="2960346" y="37900"/>
                  <a:pt x="2783091" y="19872"/>
                  <a:pt x="2423069" y="18288"/>
                </a:cubicBezTo>
                <a:cubicBezTo>
                  <a:pt x="2063047" y="16704"/>
                  <a:pt x="2066062" y="18692"/>
                  <a:pt x="1958370" y="18288"/>
                </a:cubicBezTo>
                <a:cubicBezTo>
                  <a:pt x="1850678" y="17884"/>
                  <a:pt x="1403255" y="47471"/>
                  <a:pt x="1194938" y="18288"/>
                </a:cubicBezTo>
                <a:cubicBezTo>
                  <a:pt x="986621" y="-10895"/>
                  <a:pt x="986435" y="4670"/>
                  <a:pt x="829818" y="18288"/>
                </a:cubicBezTo>
                <a:cubicBezTo>
                  <a:pt x="673201" y="31906"/>
                  <a:pt x="178831" y="-2639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60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TextShape 5"/>
          <p:cNvSpPr txBox="1"/>
          <p:nvPr/>
        </p:nvSpPr>
        <p:spPr>
          <a:xfrm>
            <a:off x="1151640" y="2320293"/>
            <a:ext cx="9957600" cy="328464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/>
          <a:p>
            <a:pPr marL="635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2400" b="0" strike="noStrike" spc="-1" dirty="0">
                <a:latin typeface="Calibri"/>
                <a:ea typeface="Calibri"/>
                <a:cs typeface="Calibri"/>
              </a:rPr>
              <a:t>De forma misteriosa y atreves de la repetición decimos quién es el "amo</a:t>
            </a:r>
            <a:r>
              <a:rPr lang="es-ES" sz="2400" spc="-1" dirty="0">
                <a:latin typeface="Calibri"/>
                <a:ea typeface="Calibri"/>
                <a:cs typeface="Calibri"/>
              </a:rPr>
              <a:t>" o "</a:t>
            </a:r>
            <a:r>
              <a:rPr lang="es-ES" sz="2400" b="0" strike="noStrike" spc="-1" dirty="0">
                <a:latin typeface="Calibri"/>
                <a:ea typeface="Calibri"/>
                <a:cs typeface="Calibri"/>
              </a:rPr>
              <a:t>dueño" del Can cebero:</a:t>
            </a:r>
            <a:endParaRPr lang="es-ES" dirty="0"/>
          </a:p>
          <a:p>
            <a:pPr>
              <a:lnSpc>
                <a:spcPct val="110000"/>
              </a:lnSpc>
              <a:spcBef>
                <a:spcPts val="1001"/>
              </a:spcBef>
            </a:pPr>
            <a:r>
              <a:rPr lang="es-ES" sz="2400" b="0" strike="noStrike" spc="-1" dirty="0">
                <a:latin typeface="Calibri"/>
                <a:ea typeface="Calibri"/>
                <a:cs typeface="Calibri"/>
              </a:rPr>
              <a:t>“… </a:t>
            </a:r>
            <a:r>
              <a:rPr lang="es-ES" sz="2400" spc="-1" dirty="0">
                <a:latin typeface="Calibri"/>
                <a:ea typeface="Calibri"/>
                <a:cs typeface="Calibri"/>
              </a:rPr>
              <a:t>Todos conocen a mi dueño, todos saben quién es y de que es capaz, pero yo lo vivo. …”</a:t>
            </a:r>
          </a:p>
          <a:p>
            <a:pPr marL="635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2400" b="0" strike="noStrike" spc="-1" dirty="0">
                <a:latin typeface="Calibri"/>
                <a:ea typeface="The Hand Bold"/>
                <a:cs typeface="Calibri"/>
              </a:rPr>
              <a:t>Inestabilidad de su puesto:</a:t>
            </a:r>
            <a:endParaRPr lang="es-ES" sz="2400" b="0" strike="noStrike" spc="-1" dirty="0">
              <a:latin typeface="Calibri"/>
              <a:ea typeface="Calibri"/>
              <a:cs typeface="Calibri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2400" spc="-1" dirty="0">
                <a:latin typeface="Calibri"/>
                <a:cs typeface="Calibri"/>
              </a:rPr>
              <a:t>“... Pero lo que, si tengo muy claro, y mis hermanos también, es de que no hay nada que evite que yo sea el que grite de dolor. …”</a:t>
            </a:r>
            <a:endParaRPr lang="es-AR" sz="2400" spc="-1" dirty="0">
              <a:latin typeface="Calibri"/>
              <a:cs typeface="Calibri"/>
            </a:endParaRPr>
          </a:p>
          <a:p>
            <a:pPr marL="342900" indent="-342900">
              <a:lnSpc>
                <a:spcPct val="11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es-ES" sz="2400" b="0" strike="noStrike" spc="-1" dirty="0">
              <a:solidFill>
                <a:srgbClr val="000000"/>
              </a:solidFill>
              <a:latin typeface="The Hand Bold"/>
            </a:endParaRPr>
          </a:p>
          <a:p>
            <a:pPr marL="342900" indent="-342900">
              <a:lnSpc>
                <a:spcPct val="11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es-ES" sz="2400" b="0" strike="noStrike" spc="-1" dirty="0">
              <a:solidFill>
                <a:srgbClr val="000000"/>
              </a:solidFill>
              <a:latin typeface="The Hand Bold"/>
            </a:endParaRPr>
          </a:p>
          <a:p>
            <a:pPr marL="342900" indent="-342900">
              <a:lnSpc>
                <a:spcPct val="11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es-ES" sz="2400" b="0" strike="noStrike" spc="-1" dirty="0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" name="TextShape 3"/>
          <p:cNvSpPr txBox="1"/>
          <p:nvPr/>
        </p:nvSpPr>
        <p:spPr>
          <a:xfrm>
            <a:off x="697547" y="429505"/>
            <a:ext cx="10502280" cy="5706576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6600" u="sng" spc="-1" dirty="0">
                <a:latin typeface="The Serif Hand Black"/>
              </a:rPr>
              <a:t>Segundo párrafo:</a:t>
            </a:r>
          </a:p>
          <a:p>
            <a:pPr marL="635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2400" spc="-1" dirty="0">
                <a:latin typeface="Calibri"/>
                <a:cs typeface="Calibri"/>
              </a:rPr>
              <a:t>La relación cercana pero no por eso amorosa:</a:t>
            </a:r>
          </a:p>
          <a:p>
            <a:pPr marL="635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2400" spc="-1" dirty="0">
                <a:latin typeface="Calibri"/>
                <a:cs typeface="Calibri"/>
              </a:rPr>
              <a:t>“… Aunque el me acogió de joven, cuándo no era más que un cachorro, por que vio algo en mí, no demostró gran afecto.  …”</a:t>
            </a:r>
          </a:p>
          <a:p>
            <a:pPr marL="635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2400" spc="-1" dirty="0">
                <a:latin typeface="Calibri"/>
                <a:cs typeface="Calibri"/>
              </a:rPr>
              <a:t>Agradecido:</a:t>
            </a:r>
          </a:p>
          <a:p>
            <a:pPr marL="635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2400" spc="-1" dirty="0">
                <a:latin typeface="Calibri"/>
                <a:cs typeface="Calibri"/>
              </a:rPr>
              <a:t>“… Estaba agradecido con él. …”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761801" y="328512"/>
            <a:ext cx="4778387" cy="16289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u="sng" spc="-1" dirty="0" err="1">
                <a:latin typeface="The Serif Hand Black"/>
              </a:rPr>
              <a:t>Tercer</a:t>
            </a:r>
            <a:r>
              <a:rPr lang="en-US" sz="6600" u="sng" spc="-1" dirty="0">
                <a:latin typeface="The Serif Hand Black"/>
              </a:rPr>
              <a:t> </a:t>
            </a:r>
            <a:r>
              <a:rPr lang="en-US" sz="6600" u="sng" spc="-1" dirty="0" err="1">
                <a:latin typeface="The Serif Hand Black"/>
              </a:rPr>
              <a:t>párrafo</a:t>
            </a:r>
            <a:r>
              <a:rPr lang="en-US" sz="6600" u="sng" spc="-1" dirty="0">
                <a:latin typeface="The Serif Hand Black"/>
              </a:rPr>
              <a:t>:</a:t>
            </a:r>
          </a:p>
        </p:txBody>
      </p:sp>
      <p:sp>
        <p:nvSpPr>
          <p:cNvPr id="98" name="TextShape 2"/>
          <p:cNvSpPr txBox="1"/>
          <p:nvPr/>
        </p:nvSpPr>
        <p:spPr>
          <a:xfrm>
            <a:off x="761801" y="1957482"/>
            <a:ext cx="10856397" cy="4049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400" spc="-1" dirty="0">
                <a:latin typeface="Calibri"/>
                <a:cs typeface="Calibri"/>
              </a:rPr>
              <a:t>Dos </a:t>
            </a:r>
            <a:r>
              <a:rPr lang="en-US" sz="2400" spc="-1" dirty="0" err="1">
                <a:latin typeface="Calibri"/>
                <a:cs typeface="Calibri"/>
              </a:rPr>
              <a:t>mundos</a:t>
            </a:r>
            <a:r>
              <a:rPr lang="en-US" sz="2400" spc="-1" dirty="0">
                <a:latin typeface="Calibri"/>
                <a:cs typeface="Calibri"/>
              </a:rPr>
              <a:t>:</a:t>
            </a:r>
            <a:endParaRPr lang="es-ES" sz="2400" spc="-1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400" spc="-1" dirty="0">
                <a:latin typeface="Calibri"/>
                <a:cs typeface="Calibri"/>
              </a:rPr>
              <a:t>“… </a:t>
            </a:r>
            <a:r>
              <a:rPr lang="es-ES" sz="2400" spc="-1" dirty="0">
                <a:latin typeface="Calibri"/>
                <a:cs typeface="Calibri"/>
              </a:rPr>
              <a:t>Parecía bastante alegre, había flores, nubes y se veían a algunas personas muy dichosas, sonrientes y alegres. Y menos mal que lo eran. Porqué aquí hay un calor sofocante que me tomo mucho tiempo para adaptarme a él y poder respirar, de todos modos, hay circunstancias, muy puntuales y aisladas en las que ni con toda la calma puedo escapar de esta tortura. </a:t>
            </a:r>
            <a:r>
              <a:rPr lang="en-US" sz="2400" spc="-1" dirty="0">
                <a:latin typeface="Calibri"/>
                <a:cs typeface="Calibri"/>
              </a:rPr>
              <a:t>…”</a:t>
            </a:r>
          </a:p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400" spc="-1" dirty="0">
                <a:latin typeface="Calibri"/>
                <a:cs typeface="Calibri"/>
              </a:rPr>
              <a:t>Soledad que </a:t>
            </a:r>
            <a:r>
              <a:rPr lang="en-US" sz="2400" spc="-1" dirty="0" err="1">
                <a:latin typeface="Calibri"/>
                <a:cs typeface="Calibri"/>
              </a:rPr>
              <a:t>sentía</a:t>
            </a:r>
            <a:r>
              <a:rPr lang="en-US" sz="2400" spc="-1" dirty="0">
                <a:latin typeface="Calibri"/>
                <a:cs typeface="Calibri"/>
              </a:rPr>
              <a:t>: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400" spc="-1" dirty="0">
                <a:latin typeface="Calibri"/>
                <a:cs typeface="Calibri"/>
              </a:rPr>
              <a:t>“… </a:t>
            </a:r>
            <a:r>
              <a:rPr lang="es-ES" sz="2400" spc="-1" dirty="0">
                <a:latin typeface="Calibri"/>
                <a:cs typeface="Calibri"/>
              </a:rPr>
              <a:t>Lamentablemente, aunque hay muchas personas en este inhóspito desierto, nadie se detiene a jugar conmigo, parece que les causo pavor. Hace mucho tiempo que quien debería ser mi más fiel amigo, solo se dedica a sus tareas y no me da más labor que dormir en el pórtico. </a:t>
            </a:r>
            <a:r>
              <a:rPr lang="en-US" sz="2400" spc="-1" dirty="0">
                <a:latin typeface="Calibri"/>
                <a:cs typeface="Calibri"/>
              </a:rPr>
              <a:t>…”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761801" y="328512"/>
            <a:ext cx="4850273" cy="1183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u="sng" spc="-1" dirty="0">
                <a:latin typeface="The Serif Hand Black"/>
              </a:rPr>
              <a:t>CUARTO PÁRRAFO:</a:t>
            </a:r>
          </a:p>
        </p:txBody>
      </p:sp>
      <p:sp>
        <p:nvSpPr>
          <p:cNvPr id="102" name="TextShape 2"/>
          <p:cNvSpPr txBox="1"/>
          <p:nvPr/>
        </p:nvSpPr>
        <p:spPr>
          <a:xfrm>
            <a:off x="761802" y="1248183"/>
            <a:ext cx="10668398" cy="2180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400" spc="-1" dirty="0" err="1">
                <a:latin typeface="Calibri"/>
                <a:cs typeface="Calibri"/>
              </a:rPr>
              <a:t>Excepciones</a:t>
            </a:r>
            <a:r>
              <a:rPr lang="en-US" sz="2400" spc="-1" dirty="0">
                <a:latin typeface="Calibri"/>
                <a:cs typeface="Calibri"/>
              </a:rPr>
              <a:t> de </a:t>
            </a:r>
            <a:r>
              <a:rPr lang="en-US" sz="2400" spc="-1" dirty="0" err="1">
                <a:latin typeface="Calibri"/>
                <a:cs typeface="Calibri"/>
              </a:rPr>
              <a:t>su</a:t>
            </a:r>
            <a:r>
              <a:rPr lang="en-US" sz="2400" spc="-1" dirty="0">
                <a:latin typeface="Calibri"/>
                <a:cs typeface="Calibri"/>
              </a:rPr>
              <a:t> </a:t>
            </a:r>
            <a:r>
              <a:rPr lang="en-US" sz="2400" spc="-1" dirty="0" err="1">
                <a:latin typeface="Calibri"/>
                <a:cs typeface="Calibri"/>
              </a:rPr>
              <a:t>sufrimiento</a:t>
            </a:r>
            <a:r>
              <a:rPr lang="en-US" sz="2400" spc="-1" dirty="0">
                <a:latin typeface="Calibri"/>
                <a:cs typeface="Calibri"/>
              </a:rPr>
              <a:t>:</a:t>
            </a:r>
            <a:endParaRPr lang="es-ES" sz="2400" spc="-1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400" spc="-1" dirty="0">
                <a:latin typeface="Calibri"/>
                <a:cs typeface="Calibri"/>
              </a:rPr>
              <a:t>“…</a:t>
            </a:r>
            <a:r>
              <a:rPr lang="es-ES" sz="2400" spc="-1" dirty="0">
                <a:latin typeface="Calibri"/>
                <a:cs typeface="Calibri"/>
              </a:rPr>
              <a:t>Tristemente era tan especial y novedosa esa sensación que no la podía manejar, me causaba una paz interior capaz de alejar cualquier tormento, incluso el mismo tártaro. </a:t>
            </a:r>
            <a:r>
              <a:rPr lang="en-US" sz="2400" spc="-1" dirty="0">
                <a:latin typeface="Calibri"/>
                <a:cs typeface="Calibri"/>
              </a:rPr>
              <a:t>…”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838080" y="548542"/>
            <a:ext cx="10515240" cy="10156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s-ES" sz="6600" u="sng" spc="-1" dirty="0">
                <a:latin typeface="The Serif Hand Black"/>
              </a:rPr>
              <a:t>QUINTO PÁRRAFO:</a:t>
            </a:r>
          </a:p>
        </p:txBody>
      </p:sp>
      <p:sp>
        <p:nvSpPr>
          <p:cNvPr id="104" name="TextShape 2"/>
          <p:cNvSpPr txBox="1"/>
          <p:nvPr/>
        </p:nvSpPr>
        <p:spPr>
          <a:xfrm>
            <a:off x="838080" y="1564205"/>
            <a:ext cx="10555245" cy="4153530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es-AR" sz="2400" spc="-1" dirty="0">
                <a:latin typeface="Calibri"/>
                <a:cs typeface="Calibri"/>
              </a:rPr>
              <a:t>Factor Heracles:</a:t>
            </a:r>
          </a:p>
          <a:p>
            <a:r>
              <a:rPr lang="es-ES" sz="2400" spc="-1" dirty="0">
                <a:latin typeface="Calibri"/>
                <a:cs typeface="Calibri"/>
              </a:rPr>
              <a:t>“…Sin embargo, un día vino alguien, era distinto, imponente, musculoso y alto como mi rey, llego con un andar único, como si el mundo estuviera a su disposición, fue lo más interesante que me paso en la vida. ...” </a:t>
            </a:r>
          </a:p>
          <a:p>
            <a:r>
              <a:rPr lang="es-ES" sz="2400" spc="-1" dirty="0">
                <a:latin typeface="Calibri"/>
                <a:cs typeface="Calibri"/>
              </a:rPr>
              <a:t>Paso mucho tiempo reflexionando</a:t>
            </a:r>
          </a:p>
          <a:p>
            <a:r>
              <a:rPr lang="es-ES" sz="2400" spc="-1" dirty="0">
                <a:latin typeface="Calibri"/>
                <a:cs typeface="Calibri"/>
              </a:rPr>
              <a:t>Desea aprobación:</a:t>
            </a:r>
          </a:p>
          <a:p>
            <a:r>
              <a:rPr lang="es-ES" sz="2400" spc="-1" dirty="0">
                <a:latin typeface="Calibri"/>
                <a:cs typeface="Calibri"/>
              </a:rPr>
              <a:t>“…Solo quería un poco de amabilidad y amor de alguien que no me lo podía dar. …”</a:t>
            </a:r>
          </a:p>
          <a:p>
            <a:r>
              <a:rPr lang="es-ES" sz="2400" spc="-1" dirty="0">
                <a:latin typeface="Calibri"/>
                <a:cs typeface="Calibri"/>
              </a:rPr>
              <a:t>Comparación con las plantas carnívoras:</a:t>
            </a:r>
          </a:p>
          <a:p>
            <a:r>
              <a:rPr lang="es-ES" sz="2400" spc="-1" dirty="0">
                <a:latin typeface="Calibri"/>
                <a:cs typeface="Calibri"/>
              </a:rPr>
              <a:t>“…Allí, con la cola entre las patas y el con el orgullo por el piso, vomité y de mis jugos gástricos nacieron unas plantas con dientes afilados y un hambre voraz, como creí que debía ser. …”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761801" y="328512"/>
            <a:ext cx="4778387" cy="16289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u="sng" spc="-1" dirty="0">
                <a:latin typeface="The Serif Hand Black"/>
              </a:rPr>
              <a:t>SEXTO PÁRRAFO: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761801" y="1691608"/>
            <a:ext cx="11043303" cy="1663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spc="-1" dirty="0">
                <a:latin typeface="Calibri"/>
                <a:cs typeface="Calibri"/>
              </a:rPr>
              <a:t>Heracles </a:t>
            </a:r>
            <a:r>
              <a:rPr lang="en-US" sz="2400" spc="-1" dirty="0" err="1">
                <a:latin typeface="Calibri"/>
                <a:cs typeface="Calibri"/>
              </a:rPr>
              <a:t>el</a:t>
            </a:r>
            <a:r>
              <a:rPr lang="en-US" sz="2400" spc="-1" dirty="0">
                <a:latin typeface="Calibri"/>
                <a:cs typeface="Calibri"/>
              </a:rPr>
              <a:t> </a:t>
            </a:r>
            <a:r>
              <a:rPr lang="en-US" sz="2400" spc="-1" dirty="0" err="1">
                <a:latin typeface="Calibri"/>
                <a:cs typeface="Calibri"/>
              </a:rPr>
              <a:t>salvador</a:t>
            </a:r>
            <a:r>
              <a:rPr lang="en-US" sz="2400" spc="-1" dirty="0">
                <a:latin typeface="Calibri"/>
                <a:cs typeface="Calibri"/>
              </a:rPr>
              <a:t>:</a:t>
            </a:r>
            <a:endParaRPr lang="es-ES" sz="2400" spc="-1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spc="-1" dirty="0">
                <a:latin typeface="Calibri"/>
                <a:cs typeface="Calibri"/>
              </a:rPr>
              <a:t>“…</a:t>
            </a:r>
            <a:r>
              <a:rPr lang="es-ES" sz="2400" spc="-1" dirty="0">
                <a:latin typeface="Calibri"/>
                <a:cs typeface="Calibri"/>
              </a:rPr>
              <a:t>Luego de esto, el “superhumano”, para mi completa sorpresa me libera y devuelve a mi única función: vigilar el paso de los muertos al mundo del dolor, que de cierta forma me tenía a mí, como una más de sus víctimas. </a:t>
            </a:r>
            <a:r>
              <a:rPr lang="en-US" sz="2400" spc="-1" dirty="0">
                <a:latin typeface="Calibri"/>
                <a:cs typeface="Calibri"/>
              </a:rPr>
              <a:t>…”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23DD0-DA5B-9DF1-F8C7-B54E1535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570572"/>
            <a:ext cx="10515240" cy="914096"/>
          </a:xfrm>
        </p:spPr>
        <p:txBody>
          <a:bodyPr/>
          <a:lstStyle/>
          <a:p>
            <a:r>
              <a:rPr lang="es-ES" sz="6600" u="sng" spc="-1" dirty="0">
                <a:latin typeface="The Serif Hand Black"/>
                <a:ea typeface="+mn-ea"/>
                <a:cs typeface="+mn-cs"/>
              </a:rPr>
              <a:t>SEPTIMO PÁRRAFO:</a:t>
            </a:r>
            <a:endParaRPr lang="es-AR" sz="6600" u="sng" spc="-1" dirty="0">
              <a:latin typeface="The Serif Hand Black"/>
              <a:ea typeface="+mn-ea"/>
              <a:cs typeface="+mn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6A7277-4CA0-155B-96A5-BA74C15B27A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38080" y="1719250"/>
            <a:ext cx="10515240" cy="1192121"/>
          </a:xfrm>
        </p:spPr>
        <p:txBody>
          <a:bodyPr/>
          <a:lstStyle/>
          <a:p>
            <a:r>
              <a:rPr lang="es-ES" sz="2400" spc="-1" dirty="0">
                <a:latin typeface="Calibri"/>
                <a:ea typeface="+mn-ea"/>
                <a:cs typeface="Calibri"/>
              </a:rPr>
              <a:t>Resumen de las ideas anteriores: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2400" spc="-1" dirty="0">
                <a:latin typeface="Calibri"/>
                <a:ea typeface="+mn-ea"/>
                <a:cs typeface="Calibri"/>
              </a:rPr>
              <a:t>La relación Hades Cebero no es como la de cualquiera.</a:t>
            </a:r>
          </a:p>
          <a:p>
            <a:r>
              <a:rPr lang="es-AR" sz="2400" spc="-1" dirty="0">
                <a:latin typeface="Calibri"/>
                <a:ea typeface="+mn-ea"/>
                <a:cs typeface="Calibri"/>
              </a:rPr>
              <a:t>Heracles no se interponen los objetivos de Cebero, es la solución.</a:t>
            </a:r>
          </a:p>
        </p:txBody>
      </p:sp>
    </p:spTree>
    <p:extLst>
      <p:ext uri="{BB962C8B-B14F-4D97-AF65-F5344CB8AC3E}">
        <p14:creationId xmlns:p14="http://schemas.microsoft.com/office/powerpoint/2010/main" val="2076482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522BF56-AB80-75D3-2151-386366974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u="sng" kern="1200" spc="-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CONCLUCIÓN: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E31BF0-60DD-CAD2-D585-D78A139D963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 Manipulación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Herramienta u objeto de Hades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No es malo</a:t>
            </a:r>
          </a:p>
          <a:p>
            <a:pPr marL="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751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FB4C14E7-50C7-5EEC-E7E2-539D3F796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257612"/>
              </p:ext>
            </p:extLst>
          </p:nvPr>
        </p:nvGraphicFramePr>
        <p:xfrm>
          <a:off x="643467" y="840256"/>
          <a:ext cx="10905067" cy="5177488"/>
        </p:xfrm>
        <a:graphic>
          <a:graphicData uri="http://schemas.openxmlformats.org/drawingml/2006/table">
            <a:tbl>
              <a:tblPr firstRow="1" firstCol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5476277">
                  <a:extLst>
                    <a:ext uri="{9D8B030D-6E8A-4147-A177-3AD203B41FA5}">
                      <a16:colId xmlns:a16="http://schemas.microsoft.com/office/drawing/2014/main" val="3406170294"/>
                    </a:ext>
                  </a:extLst>
                </a:gridCol>
                <a:gridCol w="5428790">
                  <a:extLst>
                    <a:ext uri="{9D8B030D-6E8A-4147-A177-3AD203B41FA5}">
                      <a16:colId xmlns:a16="http://schemas.microsoft.com/office/drawing/2014/main" val="2490712021"/>
                    </a:ext>
                  </a:extLst>
                </a:gridCol>
              </a:tblGrid>
              <a:tr h="574796">
                <a:tc>
                  <a:txBody>
                    <a:bodyPr/>
                    <a:lstStyle/>
                    <a:p>
                      <a:pPr algn="l"/>
                      <a:r>
                        <a:rPr lang="es-ES" sz="1900" b="0" cap="none" spc="0">
                          <a:solidFill>
                            <a:schemeClr val="bg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Originales</a:t>
                      </a:r>
                      <a:endParaRPr lang="es-ES" sz="1900" b="0" cap="none" spc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900" b="0" cap="none" spc="0">
                          <a:solidFill>
                            <a:schemeClr val="bg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Humanizadas</a:t>
                      </a:r>
                      <a:endParaRPr lang="es-ES" sz="1900" b="0" cap="none" spc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21950"/>
                  </a:ext>
                </a:extLst>
              </a:tr>
              <a:tr h="864356">
                <a:tc>
                  <a:txBody>
                    <a:bodyPr/>
                    <a:lstStyle/>
                    <a:p>
                      <a:pPr algn="l"/>
                      <a:r>
                        <a:rPr lang="es-ES" sz="1900" b="1" cap="none" spc="0">
                          <a:solidFill>
                            <a:schemeClr val="tx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Indomable.</a:t>
                      </a:r>
                      <a:endParaRPr lang="es-ES" sz="1900" b="1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900" b="1" cap="none" spc="0">
                          <a:solidFill>
                            <a:schemeClr val="tx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No, se somete y deja “controlar por Hades”, aparte Heracles lo derrota físicamente.</a:t>
                      </a:r>
                      <a:endParaRPr lang="es-ES" sz="1900" b="1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931312"/>
                  </a:ext>
                </a:extLst>
              </a:tr>
              <a:tr h="574796">
                <a:tc>
                  <a:txBody>
                    <a:bodyPr/>
                    <a:lstStyle/>
                    <a:p>
                      <a:pPr algn="l"/>
                      <a:r>
                        <a:rPr lang="es-ES" sz="1900" b="1" cap="none" spc="0">
                          <a:solidFill>
                            <a:schemeClr val="tx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Inteligente.</a:t>
                      </a:r>
                      <a:endParaRPr lang="es-ES" sz="1900" b="1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900" b="1" cap="none" spc="0">
                          <a:solidFill>
                            <a:schemeClr val="tx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Igual.</a:t>
                      </a:r>
                      <a:endParaRPr lang="es-ES" sz="1900" b="1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070914"/>
                  </a:ext>
                </a:extLst>
              </a:tr>
              <a:tr h="574796">
                <a:tc>
                  <a:txBody>
                    <a:bodyPr/>
                    <a:lstStyle/>
                    <a:p>
                      <a:pPr algn="l"/>
                      <a:r>
                        <a:rPr lang="es-ES" sz="1900" b="1" cap="none" spc="0">
                          <a:solidFill>
                            <a:schemeClr val="tx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Come carne cruda.</a:t>
                      </a:r>
                      <a:endParaRPr lang="es-ES" sz="1900" b="1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900" b="1" cap="none" spc="0">
                          <a:solidFill>
                            <a:schemeClr val="tx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Igual.</a:t>
                      </a:r>
                      <a:endParaRPr lang="es-ES" sz="1900" b="1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717336"/>
                  </a:ext>
                </a:extLst>
              </a:tr>
              <a:tr h="574796">
                <a:tc>
                  <a:txBody>
                    <a:bodyPr/>
                    <a:lstStyle/>
                    <a:p>
                      <a:pPr algn="l"/>
                      <a:r>
                        <a:rPr lang="es-ES" sz="1900" b="1" cap="none" spc="0">
                          <a:solidFill>
                            <a:schemeClr val="tx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Incansable.</a:t>
                      </a:r>
                      <a:endParaRPr lang="es-ES" sz="1900" b="1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900" b="1" cap="none" spc="0">
                          <a:solidFill>
                            <a:schemeClr val="tx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Si, se harta de su vida aburrida y poco placentera.</a:t>
                      </a:r>
                      <a:endParaRPr lang="es-ES" sz="1900" b="1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250546"/>
                  </a:ext>
                </a:extLst>
              </a:tr>
              <a:tr h="574796">
                <a:tc>
                  <a:txBody>
                    <a:bodyPr/>
                    <a:lstStyle/>
                    <a:p>
                      <a:pPr algn="l"/>
                      <a:r>
                        <a:rPr lang="es-ES" sz="1900" b="1" cap="none" spc="0">
                          <a:solidFill>
                            <a:schemeClr val="tx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Mucha fuerza.</a:t>
                      </a:r>
                      <a:endParaRPr lang="es-ES" sz="1900" b="1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900" b="1" cap="none" spc="0">
                          <a:solidFill>
                            <a:schemeClr val="tx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Igual.</a:t>
                      </a:r>
                      <a:endParaRPr lang="es-ES" sz="1900" b="1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041342"/>
                  </a:ext>
                </a:extLst>
              </a:tr>
              <a:tr h="574796">
                <a:tc>
                  <a:txBody>
                    <a:bodyPr/>
                    <a:lstStyle/>
                    <a:p>
                      <a:pPr algn="l"/>
                      <a:r>
                        <a:rPr lang="es-ES" sz="1900" b="1" cap="none" spc="0">
                          <a:solidFill>
                            <a:schemeClr val="tx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Inconsciencia, se lo representa como una bestia.</a:t>
                      </a:r>
                      <a:endParaRPr lang="es-ES" sz="1900" b="1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900" b="1" cap="none" spc="0">
                          <a:solidFill>
                            <a:schemeClr val="tx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Consciente, propio de la humanización.</a:t>
                      </a:r>
                      <a:endParaRPr lang="es-ES" sz="1900" b="1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447798"/>
                  </a:ext>
                </a:extLst>
              </a:tr>
              <a:tr h="864356">
                <a:tc>
                  <a:txBody>
                    <a:bodyPr/>
                    <a:lstStyle/>
                    <a:p>
                      <a:pPr algn="l"/>
                      <a:r>
                        <a:rPr lang="es-ES" sz="1900" b="1" cap="none" spc="0">
                          <a:solidFill>
                            <a:schemeClr val="tx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Se lleva bien con Hades, es el perro perfecto para el señor del inframundo.</a:t>
                      </a:r>
                      <a:endParaRPr lang="es-ES" sz="1900" b="1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900" b="1" cap="none" spc="0">
                          <a:solidFill>
                            <a:schemeClr val="tx1"/>
                          </a:solidFill>
                          <a:effectLst/>
                          <a:latin typeface="Calibri"/>
                          <a:cs typeface="Aptos" panose="020B0004020202020204" pitchFamily="34" charset="0"/>
                        </a:rPr>
                        <a:t>No encaja en ese terrorífico y perturbador lugar.</a:t>
                      </a:r>
                      <a:endParaRPr lang="es-ES" sz="1900" b="1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61628" marR="0" marT="124330" marB="12433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708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877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A6F9782-5453-54B7-43C6-B4100BAE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201" y="1721275"/>
            <a:ext cx="6882279" cy="23534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¿Qué opinan del relato?</a:t>
            </a:r>
          </a:p>
        </p:txBody>
      </p:sp>
    </p:spTree>
    <p:extLst>
      <p:ext uri="{BB962C8B-B14F-4D97-AF65-F5344CB8AC3E}">
        <p14:creationId xmlns:p14="http://schemas.microsoft.com/office/powerpoint/2010/main" val="24290661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659</Words>
  <Application>Microsoft Office PowerPoint</Application>
  <PresentationFormat>Panorámica</PresentationFormat>
  <Paragraphs>57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The Hand Bold</vt:lpstr>
      <vt:lpstr>The Serif Hand Black</vt:lpstr>
      <vt:lpstr>Tema de Office</vt:lpstr>
      <vt:lpstr>Análisis literario de:  "No soy malo, soy una herramienta"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SEPTIMO PÁRRAFO:</vt:lpstr>
      <vt:lpstr>CONCLUCIÓN:</vt:lpstr>
      <vt:lpstr>Presentación de PowerPoint</vt:lpstr>
      <vt:lpstr>¿Qué opinan del relato?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/>
  <cp:lastModifiedBy>Joaquin rodriguez tortora</cp:lastModifiedBy>
  <cp:revision>232</cp:revision>
  <dcterms:created xsi:type="dcterms:W3CDTF">2024-04-27T17:19:14Z</dcterms:created>
  <dcterms:modified xsi:type="dcterms:W3CDTF">2024-05-04T17:26:45Z</dcterms:modified>
</cp:coreProperties>
</file>