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layfair Display"/>
      <p:regular r:id="rId24"/>
      <p:bold r:id="rId25"/>
      <p:italic r:id="rId26"/>
      <p:boldItalic r:id="rId27"/>
    </p:embeddedFont>
    <p:embeddedFont>
      <p:font typeface="Montserrat"/>
      <p:regular r:id="rId28"/>
      <p:bold r:id="rId29"/>
      <p:italic r:id="rId30"/>
      <p:boldItalic r:id="rId31"/>
    </p:embeddedFont>
    <p:embeddedFont>
      <p:font typeface="Oswa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fairDisplay-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italic.fntdata"/><Relationship Id="rId25" Type="http://schemas.openxmlformats.org/officeDocument/2006/relationships/font" Target="fonts/PlayfairDisplay-bold.fntdata"/><Relationship Id="rId28" Type="http://schemas.openxmlformats.org/officeDocument/2006/relationships/font" Target="fonts/Montserrat-regular.fntdata"/><Relationship Id="rId27" Type="http://schemas.openxmlformats.org/officeDocument/2006/relationships/font" Target="fonts/PlayfairDispl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Oswald-bold.fntdata"/><Relationship Id="rId10" Type="http://schemas.openxmlformats.org/officeDocument/2006/relationships/slide" Target="slides/slide5.xml"/><Relationship Id="rId32"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Mas les vale saber quienes somos. Bueno nosotros vamos a dar una clase sobre inversores. Antes de continuar queres esplicarles el concepto de que 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f54e2661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f54e2661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inversor </a:t>
            </a:r>
            <a:r>
              <a:rPr lang="es"/>
              <a:t>permite</a:t>
            </a:r>
            <a:r>
              <a:rPr lang="es"/>
              <a:t> que de una señal continua nosotros tengamos un </a:t>
            </a:r>
            <a:r>
              <a:rPr lang="es"/>
              <a:t>señal</a:t>
            </a:r>
            <a:r>
              <a:rPr lang="es"/>
              <a:t> alterna. Esto permite que con una </a:t>
            </a:r>
            <a:r>
              <a:rPr lang="es"/>
              <a:t>batería</a:t>
            </a:r>
            <a:r>
              <a:rPr lang="es"/>
              <a:t> usemos un dispositivo que consume 220v. Es </a:t>
            </a:r>
            <a:r>
              <a:rPr lang="es"/>
              <a:t>útil</a:t>
            </a:r>
            <a:r>
              <a:rPr lang="es"/>
              <a:t> en campamentos y power banks. Aunque </a:t>
            </a:r>
            <a:r>
              <a:rPr lang="es"/>
              <a:t>parezca</a:t>
            </a:r>
            <a:r>
              <a:rPr lang="es"/>
              <a:t> inutil tiene sus aplicaciones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f54e2661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f54e2661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Por lo general un inversor cuenta de tres etapas. Primero se crea una señal pulsante que puede ser cuadrada o senoidal. Si es cuadrada hay que transformarla, pero de lo contrario se puede pasar directamente a la </a:t>
            </a:r>
            <a:r>
              <a:rPr lang="es"/>
              <a:t>amplificación</a:t>
            </a:r>
            <a:r>
              <a:rPr lang="es"/>
              <a:t>. Un ejemplo son transistores en cascadas y un </a:t>
            </a:r>
            <a:r>
              <a:rPr lang="es"/>
              <a:t>transformador</a:t>
            </a:r>
            <a:r>
              <a:rPr lang="es"/>
              <a:t> (si preguntan que son los transistores en cascada joaco les cuenta).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f54e2661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f54e2661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 de las complicaciones en el diseño de un inversor es como crear la señal. una forma es </a:t>
            </a:r>
            <a:r>
              <a:rPr lang="es"/>
              <a:t>así</a:t>
            </a:r>
            <a:r>
              <a:rPr lang="es"/>
              <a:t>. Primero pulsamos S1 y S4 se crea un pulso positivo o negativo. Luego hacemos lo mismo con los otros dos y vamos a tener otro pulso pero con el signo opuesto.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f54e2661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f54e2661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Aca en el </a:t>
            </a:r>
            <a:r>
              <a:rPr lang="es"/>
              <a:t>multímetro</a:t>
            </a:r>
            <a:r>
              <a:rPr lang="es"/>
              <a:t> pueden ver lo que les digo. </a:t>
            </a:r>
            <a:r>
              <a:rPr lang="es"/>
              <a:t>Olvídense</a:t>
            </a:r>
            <a:r>
              <a:rPr lang="es"/>
              <a:t> del </a:t>
            </a:r>
            <a:r>
              <a:rPr lang="es"/>
              <a:t>transformador</a:t>
            </a:r>
            <a:r>
              <a:rPr lang="es"/>
              <a:t> porque esto no funcionaria porque son señales continuas. Pero se pueden mejorar las cosas para que esto funcione mejor.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f54e26614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f54e26614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Una forma de mojorar la señal de salida es jugar con que tan largos o cortos son las pulsaciones de los votones, esto puede crear una señal maso menos senoidal. Usando esto podemos modificar la forma y frecuencia de la señal.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f54e2661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f54e2661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Ah esto se lo conoce como </a:t>
            </a:r>
            <a:r>
              <a:rPr lang="es"/>
              <a:t>modulación</a:t>
            </a:r>
            <a:r>
              <a:rPr lang="es"/>
              <a:t> por ancho de pulso. Un ejemplo </a:t>
            </a:r>
            <a:r>
              <a:rPr lang="es"/>
              <a:t>típico</a:t>
            </a:r>
            <a:r>
              <a:rPr lang="es"/>
              <a:t> o </a:t>
            </a:r>
            <a:r>
              <a:rPr lang="es"/>
              <a:t>fácil</a:t>
            </a:r>
            <a:r>
              <a:rPr lang="es"/>
              <a:t> de entender son los </a:t>
            </a:r>
            <a:r>
              <a:rPr lang="es"/>
              <a:t>jueguitos</a:t>
            </a:r>
            <a:r>
              <a:rPr lang="es"/>
              <a:t> en el que hay que apretar la pantalla del celu para que un personaje suba o baje.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f54e2661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f54e2661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hagamos un </a:t>
            </a:r>
            <a:r>
              <a:rPr lang="es"/>
              <a:t>paréntesis</a:t>
            </a:r>
            <a:r>
              <a:rPr lang="es"/>
              <a:t> las </a:t>
            </a:r>
            <a:r>
              <a:rPr lang="es"/>
              <a:t>imágenes</a:t>
            </a:r>
            <a:r>
              <a:rPr lang="es"/>
              <a:t> que sacamos para hacer la </a:t>
            </a:r>
            <a:r>
              <a:rPr lang="es"/>
              <a:t>explicación</a:t>
            </a:r>
            <a:r>
              <a:rPr lang="es"/>
              <a:t> </a:t>
            </a:r>
            <a:r>
              <a:rPr lang="es"/>
              <a:t>provienen</a:t>
            </a:r>
            <a:r>
              <a:rPr lang="es"/>
              <a:t> de este canal de youtube y les recomiendo anotarse el nombre, puede ser </a:t>
            </a:r>
            <a:r>
              <a:rPr lang="es"/>
              <a:t>útil</a:t>
            </a:r>
            <a:r>
              <a:rPr lang="es"/>
              <a:t> para estudiar.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f54e2661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f54e2661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También</a:t>
            </a:r>
            <a:r>
              <a:rPr lang="es"/>
              <a:t> les trajimos tres diseños simples de inversores para que vean como funciona en la realidad uno.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f54e2661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f54e2661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rPr>
              <a:t>Este tiene un cd4047 en configuración astable que crea dos señales cuadradas complementarias que van a ser amplificadas por los transistores en cascada, la última parte es el transformador. Los transistores son bjt NPN conectados en emisor común. Creemos que se usa esta configuración y no colector o base común ya que de lo contrario no tendríamos un buen equilibrio entre amplitud y corriente de la señal.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f54e2661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f54e2661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Estos son los componentes principales.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f54e2661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f54e2661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rPr>
              <a:t>Este tampoco tiene demasiado misterio, consiste en el 555 en modo Astable que crea la señal de 50 o 60 Hz. Luego con dos transistores de potencia logramos que uno conduzca en un sentido y el otro en el otro. Estos podrían ser 2N3055 o TIP35. Para aclarar nunca conducen los dos a la vez. Si conduce Q1 la corriente circula por un primario de un transformador, con Q2 por la otra. Después está el transformador que no tiene nada del otro mundo, pero antes hay un filtro con el inductor y el capacitor para hacer la señal un poco más senoidal.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f54e2661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f54e2661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rPr>
              <a:t>Estos son los componentes principales.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f54e2661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f54e2661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rPr>
              <a:t>Este circuito es mucho mejor. ¿Por qué? Bueno usa un Inversor con CI 3524 (PWM controlado), es mejor porque usa modulación por ancho de pulsos entonces la señal de salida es mucho mejor, más parecida a una senoidal. La señal de salida nuevamente es de entre 50 y 60Hz y la salida 11 y 14 son complementarias. Luego vienen los mosfet que conmutan rápidamente la corriente y la amplifican para poder llevarla al transformador. También hay una etapa en la que el circuito se “realimenta” (sence) para saber como va y si hay que hacer una corrección.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f54e26614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f54e26614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rPr>
              <a:t>Estos son los componentes principales.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f54e26614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f54e26614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f54e2661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f54e2661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rPr>
              <a:t>El transformador lo podemos usar en los dos sentidos, no sucede nada raro, únicamente hay que tener cuidado con la corriente que nos pide, suele ser elevada. Puede que sea un poco menos eficiente y que se sobrecaliente, pero sería raro.</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f54e26614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f54e26614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sz="9000"/>
              <a:t>Inversor</a:t>
            </a:r>
            <a:endParaRPr sz="9000"/>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fontScale="70000"/>
          </a:bodyPr>
          <a:lstStyle/>
          <a:p>
            <a:pPr indent="0" lvl="0" marL="0" rtl="0" algn="l">
              <a:spcBef>
                <a:spcPts val="0"/>
              </a:spcBef>
              <a:spcAft>
                <a:spcPts val="0"/>
              </a:spcAft>
              <a:buNone/>
            </a:pPr>
            <a:r>
              <a:rPr lang="es"/>
              <a:t>Joaquin Rodriguez y Facundo Schiaretti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4572000" y="0"/>
            <a:ext cx="4560675" cy="3034925"/>
          </a:xfrm>
          <a:prstGeom prst="rect">
            <a:avLst/>
          </a:prstGeom>
          <a:noFill/>
          <a:ln>
            <a:noFill/>
          </a:ln>
        </p:spPr>
      </p:pic>
      <p:pic>
        <p:nvPicPr>
          <p:cNvPr id="65" name="Google Shape;65;p14"/>
          <p:cNvPicPr preferRelativeResize="0"/>
          <p:nvPr/>
        </p:nvPicPr>
        <p:blipFill>
          <a:blip r:embed="rId4">
            <a:alphaModFix/>
          </a:blip>
          <a:stretch>
            <a:fillRect/>
          </a:stretch>
        </p:blipFill>
        <p:spPr>
          <a:xfrm>
            <a:off x="0" y="2264925"/>
            <a:ext cx="2878575" cy="2878575"/>
          </a:xfrm>
          <a:prstGeom prst="rect">
            <a:avLst/>
          </a:prstGeom>
          <a:noFill/>
          <a:ln>
            <a:noFill/>
          </a:ln>
        </p:spPr>
      </p:pic>
      <p:sp>
        <p:nvSpPr>
          <p:cNvPr id="66" name="Google Shape;66;p14"/>
          <p:cNvSpPr/>
          <p:nvPr/>
        </p:nvSpPr>
        <p:spPr>
          <a:xfrm rot="10800000">
            <a:off x="3515450" y="3132475"/>
            <a:ext cx="3392700" cy="1313400"/>
          </a:xfrm>
          <a:prstGeom prst="bentArrow">
            <a:avLst>
              <a:gd fmla="val 29163" name="adj1"/>
              <a:gd fmla="val 25000" name="adj2"/>
              <a:gd fmla="val 50000" name="adj3"/>
              <a:gd fmla="val 43750" name="adj4"/>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67" name="Google Shape;67;p14"/>
          <p:cNvSpPr txBox="1"/>
          <p:nvPr/>
        </p:nvSpPr>
        <p:spPr>
          <a:xfrm>
            <a:off x="506100" y="1209663"/>
            <a:ext cx="40659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900">
                <a:solidFill>
                  <a:schemeClr val="dk2"/>
                </a:solidFill>
                <a:latin typeface="Playfair Display"/>
                <a:ea typeface="Playfair Display"/>
                <a:cs typeface="Playfair Display"/>
                <a:sym typeface="Playfair Display"/>
              </a:rPr>
              <a:t>12VCC - 220VCA</a:t>
            </a:r>
            <a:endParaRPr sz="3900">
              <a:solidFill>
                <a:schemeClr val="dk2"/>
              </a:solidFill>
              <a:latin typeface="Playfair Display"/>
              <a:ea typeface="Playfair Display"/>
              <a:cs typeface="Playfair Display"/>
              <a:sym typeface="Playfair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2854650" y="445025"/>
            <a:ext cx="3821100" cy="6630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500"/>
              <a:t>Componentes </a:t>
            </a:r>
            <a:r>
              <a:rPr lang="es" sz="3500"/>
              <a:t>clásicos</a:t>
            </a:r>
            <a:r>
              <a:rPr lang="es" sz="3500"/>
              <a:t>:</a:t>
            </a:r>
            <a:endParaRPr sz="3500"/>
          </a:p>
        </p:txBody>
      </p:sp>
      <p:pic>
        <p:nvPicPr>
          <p:cNvPr id="73" name="Google Shape;73;p15"/>
          <p:cNvPicPr preferRelativeResize="0"/>
          <p:nvPr/>
        </p:nvPicPr>
        <p:blipFill>
          <a:blip r:embed="rId3">
            <a:alphaModFix/>
          </a:blip>
          <a:stretch>
            <a:fillRect/>
          </a:stretch>
        </p:blipFill>
        <p:spPr>
          <a:xfrm>
            <a:off x="0" y="0"/>
            <a:ext cx="2854639" cy="5143500"/>
          </a:xfrm>
          <a:prstGeom prst="rect">
            <a:avLst/>
          </a:prstGeom>
          <a:noFill/>
          <a:ln>
            <a:noFill/>
          </a:ln>
        </p:spPr>
      </p:pic>
      <p:pic>
        <p:nvPicPr>
          <p:cNvPr id="74" name="Google Shape;74;p15"/>
          <p:cNvPicPr preferRelativeResize="0"/>
          <p:nvPr/>
        </p:nvPicPr>
        <p:blipFill>
          <a:blip r:embed="rId4">
            <a:alphaModFix/>
          </a:blip>
          <a:stretch>
            <a:fillRect/>
          </a:stretch>
        </p:blipFill>
        <p:spPr>
          <a:xfrm>
            <a:off x="5458125" y="1457625"/>
            <a:ext cx="3685875" cy="3685875"/>
          </a:xfrm>
          <a:prstGeom prst="rect">
            <a:avLst/>
          </a:prstGeom>
          <a:noFill/>
          <a:ln>
            <a:noFill/>
          </a:ln>
        </p:spPr>
      </p:pic>
      <p:pic>
        <p:nvPicPr>
          <p:cNvPr id="75" name="Google Shape;75;p15"/>
          <p:cNvPicPr preferRelativeResize="0"/>
          <p:nvPr/>
        </p:nvPicPr>
        <p:blipFill>
          <a:blip r:embed="rId5">
            <a:alphaModFix/>
          </a:blip>
          <a:stretch>
            <a:fillRect/>
          </a:stretch>
        </p:blipFill>
        <p:spPr>
          <a:xfrm>
            <a:off x="3212239" y="2571750"/>
            <a:ext cx="2143125" cy="214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616600" y="144100"/>
            <a:ext cx="3910800" cy="649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 sz="3500"/>
              <a:t>¿Como crear la señal?</a:t>
            </a:r>
            <a:r>
              <a:rPr lang="es" sz="3500"/>
              <a:t>:</a:t>
            </a:r>
            <a:endParaRPr sz="3500"/>
          </a:p>
        </p:txBody>
      </p:sp>
      <p:pic>
        <p:nvPicPr>
          <p:cNvPr id="81" name="Google Shape;81;p16"/>
          <p:cNvPicPr preferRelativeResize="0"/>
          <p:nvPr/>
        </p:nvPicPr>
        <p:blipFill>
          <a:blip r:embed="rId3">
            <a:alphaModFix/>
          </a:blip>
          <a:stretch>
            <a:fillRect/>
          </a:stretch>
        </p:blipFill>
        <p:spPr>
          <a:xfrm>
            <a:off x="399750" y="971256"/>
            <a:ext cx="8344500" cy="4172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7"/>
          <p:cNvPicPr preferRelativeResize="0"/>
          <p:nvPr/>
        </p:nvPicPr>
        <p:blipFill>
          <a:blip r:embed="rId3">
            <a:alphaModFix/>
          </a:blip>
          <a:stretch>
            <a:fillRect/>
          </a:stretch>
        </p:blipFill>
        <p:spPr>
          <a:xfrm>
            <a:off x="0" y="11552"/>
            <a:ext cx="9144000" cy="51319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8"/>
          <p:cNvPicPr preferRelativeResize="0"/>
          <p:nvPr/>
        </p:nvPicPr>
        <p:blipFill>
          <a:blip r:embed="rId3">
            <a:alphaModFix/>
          </a:blip>
          <a:stretch>
            <a:fillRect/>
          </a:stretch>
        </p:blipFill>
        <p:spPr>
          <a:xfrm>
            <a:off x="0" y="0"/>
            <a:ext cx="9144001" cy="490617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2488050" y="171425"/>
            <a:ext cx="4167900" cy="5727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Modulación</a:t>
            </a:r>
            <a:r>
              <a:rPr lang="es"/>
              <a:t> por ancho de pulso:</a:t>
            </a:r>
            <a:endParaRPr/>
          </a:p>
        </p:txBody>
      </p:sp>
      <p:pic>
        <p:nvPicPr>
          <p:cNvPr id="97" name="Google Shape;97;p19"/>
          <p:cNvPicPr preferRelativeResize="0"/>
          <p:nvPr/>
        </p:nvPicPr>
        <p:blipFill>
          <a:blip r:embed="rId3">
            <a:alphaModFix/>
          </a:blip>
          <a:stretch>
            <a:fillRect/>
          </a:stretch>
        </p:blipFill>
        <p:spPr>
          <a:xfrm>
            <a:off x="899050" y="947625"/>
            <a:ext cx="7345900" cy="4127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01" name="Shape 101"/>
        <p:cNvGrpSpPr/>
        <p:nvPr/>
      </p:nvGrpSpPr>
      <p:grpSpPr>
        <a:xfrm>
          <a:off x="0" y="0"/>
          <a:ext cx="0" cy="0"/>
          <a:chOff x="0" y="0"/>
          <a:chExt cx="0" cy="0"/>
        </a:xfrm>
      </p:grpSpPr>
      <p:pic>
        <p:nvPicPr>
          <p:cNvPr id="102" name="Google Shape;102;p20"/>
          <p:cNvPicPr preferRelativeResize="0"/>
          <p:nvPr/>
        </p:nvPicPr>
        <p:blipFill>
          <a:blip r:embed="rId3">
            <a:alphaModFix/>
          </a:blip>
          <a:stretch>
            <a:fillRect/>
          </a:stretch>
        </p:blipFill>
        <p:spPr>
          <a:xfrm>
            <a:off x="0" y="1145662"/>
            <a:ext cx="2852175" cy="2852175"/>
          </a:xfrm>
          <a:prstGeom prst="rect">
            <a:avLst/>
          </a:prstGeom>
          <a:noFill/>
          <a:ln>
            <a:noFill/>
          </a:ln>
        </p:spPr>
      </p:pic>
      <p:sp>
        <p:nvSpPr>
          <p:cNvPr id="103" name="Google Shape;103;p20"/>
          <p:cNvSpPr txBox="1"/>
          <p:nvPr>
            <p:ph type="title"/>
          </p:nvPr>
        </p:nvSpPr>
        <p:spPr>
          <a:xfrm>
            <a:off x="2852175" y="2000700"/>
            <a:ext cx="6231300" cy="1142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6000">
                <a:solidFill>
                  <a:schemeClr val="lt1"/>
                </a:solidFill>
                <a:highlight>
                  <a:srgbClr val="1C4587"/>
                </a:highlight>
              </a:rPr>
              <a:t>Mentalidad </a:t>
            </a:r>
            <a:r>
              <a:rPr lang="es" sz="6000">
                <a:solidFill>
                  <a:schemeClr val="lt1"/>
                </a:solidFill>
                <a:highlight>
                  <a:srgbClr val="1C4587"/>
                </a:highlight>
              </a:rPr>
              <a:t>ingeniería</a:t>
            </a:r>
            <a:endParaRPr sz="6000">
              <a:solidFill>
                <a:schemeClr val="lt1"/>
              </a:solidFill>
              <a:highlight>
                <a:srgbClr val="1C4587"/>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1097400" y="1740900"/>
            <a:ext cx="6949200" cy="16617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b="1" lang="es" sz="4800" u="sng"/>
              <a:t>Ejemplos </a:t>
            </a:r>
            <a:r>
              <a:rPr b="1" lang="es" sz="4800" u="sng"/>
              <a:t>prácticos</a:t>
            </a:r>
            <a:r>
              <a:rPr b="1" lang="es" sz="4800" u="sng"/>
              <a:t> reales, circuitos </a:t>
            </a:r>
            <a:r>
              <a:rPr b="1" lang="es" sz="4800" u="sng"/>
              <a:t>esquemáticos</a:t>
            </a:r>
            <a:r>
              <a:rPr b="1" lang="es" sz="4800" u="sng"/>
              <a:t>:</a:t>
            </a:r>
            <a:endParaRPr b="1" sz="4800" u="sng"/>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2"/>
          <p:cNvPicPr preferRelativeResize="0"/>
          <p:nvPr/>
        </p:nvPicPr>
        <p:blipFill>
          <a:blip r:embed="rId3">
            <a:alphaModFix/>
          </a:blip>
          <a:stretch>
            <a:fillRect/>
          </a:stretch>
        </p:blipFill>
        <p:spPr>
          <a:xfrm>
            <a:off x="573591" y="4"/>
            <a:ext cx="7996828"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3"/>
          <p:cNvPicPr preferRelativeResize="0"/>
          <p:nvPr/>
        </p:nvPicPr>
        <p:blipFill>
          <a:blip r:embed="rId3">
            <a:alphaModFix/>
          </a:blip>
          <a:stretch>
            <a:fillRect/>
          </a:stretch>
        </p:blipFill>
        <p:spPr>
          <a:xfrm>
            <a:off x="0" y="0"/>
            <a:ext cx="2162366" cy="2571750"/>
          </a:xfrm>
          <a:prstGeom prst="rect">
            <a:avLst/>
          </a:prstGeom>
          <a:noFill/>
          <a:ln>
            <a:noFill/>
          </a:ln>
        </p:spPr>
      </p:pic>
      <p:pic>
        <p:nvPicPr>
          <p:cNvPr id="119" name="Google Shape;119;p23"/>
          <p:cNvPicPr preferRelativeResize="0"/>
          <p:nvPr/>
        </p:nvPicPr>
        <p:blipFill rotWithShape="1">
          <a:blip r:embed="rId4">
            <a:alphaModFix/>
          </a:blip>
          <a:srcRect b="14806" l="19218" r="0" t="0"/>
          <a:stretch/>
        </p:blipFill>
        <p:spPr>
          <a:xfrm>
            <a:off x="1436325" y="2844600"/>
            <a:ext cx="2821750" cy="2298900"/>
          </a:xfrm>
          <a:prstGeom prst="rect">
            <a:avLst/>
          </a:prstGeom>
          <a:noFill/>
          <a:ln>
            <a:noFill/>
          </a:ln>
        </p:spPr>
      </p:pic>
      <p:pic>
        <p:nvPicPr>
          <p:cNvPr id="120" name="Google Shape;120;p23"/>
          <p:cNvPicPr preferRelativeResize="0"/>
          <p:nvPr/>
        </p:nvPicPr>
        <p:blipFill>
          <a:blip r:embed="rId5">
            <a:alphaModFix/>
          </a:blip>
          <a:stretch>
            <a:fillRect/>
          </a:stretch>
        </p:blipFill>
        <p:spPr>
          <a:xfrm>
            <a:off x="5491425" y="2407600"/>
            <a:ext cx="3652575" cy="2735900"/>
          </a:xfrm>
          <a:prstGeom prst="rect">
            <a:avLst/>
          </a:prstGeom>
          <a:noFill/>
          <a:ln>
            <a:noFill/>
          </a:ln>
        </p:spPr>
      </p:pic>
      <p:pic>
        <p:nvPicPr>
          <p:cNvPr id="121" name="Google Shape;121;p23"/>
          <p:cNvPicPr preferRelativeResize="0"/>
          <p:nvPr/>
        </p:nvPicPr>
        <p:blipFill>
          <a:blip r:embed="rId6">
            <a:alphaModFix/>
          </a:blip>
          <a:stretch>
            <a:fillRect/>
          </a:stretch>
        </p:blipFill>
        <p:spPr>
          <a:xfrm>
            <a:off x="4007177" y="0"/>
            <a:ext cx="2503350" cy="2503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4"/>
          <p:cNvPicPr preferRelativeResize="0"/>
          <p:nvPr/>
        </p:nvPicPr>
        <p:blipFill>
          <a:blip r:embed="rId3">
            <a:alphaModFix/>
          </a:blip>
          <a:stretch>
            <a:fillRect/>
          </a:stretch>
        </p:blipFill>
        <p:spPr>
          <a:xfrm>
            <a:off x="335750" y="0"/>
            <a:ext cx="8472488"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5"/>
          <p:cNvPicPr preferRelativeResize="0"/>
          <p:nvPr/>
        </p:nvPicPr>
        <p:blipFill>
          <a:blip r:embed="rId3">
            <a:alphaModFix/>
          </a:blip>
          <a:stretch>
            <a:fillRect/>
          </a:stretch>
        </p:blipFill>
        <p:spPr>
          <a:xfrm>
            <a:off x="0" y="0"/>
            <a:ext cx="3803429" cy="5143500"/>
          </a:xfrm>
          <a:prstGeom prst="rect">
            <a:avLst/>
          </a:prstGeom>
          <a:noFill/>
          <a:ln>
            <a:noFill/>
          </a:ln>
        </p:spPr>
      </p:pic>
      <p:pic>
        <p:nvPicPr>
          <p:cNvPr id="132" name="Google Shape;132;p25"/>
          <p:cNvPicPr preferRelativeResize="0"/>
          <p:nvPr/>
        </p:nvPicPr>
        <p:blipFill>
          <a:blip r:embed="rId4">
            <a:alphaModFix/>
          </a:blip>
          <a:stretch>
            <a:fillRect/>
          </a:stretch>
        </p:blipFill>
        <p:spPr>
          <a:xfrm>
            <a:off x="5837461" y="0"/>
            <a:ext cx="3306536"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6"/>
          <p:cNvPicPr preferRelativeResize="0"/>
          <p:nvPr/>
        </p:nvPicPr>
        <p:blipFill rotWithShape="1">
          <a:blip r:embed="rId3">
            <a:alphaModFix/>
          </a:blip>
          <a:srcRect b="31063" l="0" r="0" t="0"/>
          <a:stretch/>
        </p:blipFill>
        <p:spPr>
          <a:xfrm>
            <a:off x="0" y="0"/>
            <a:ext cx="7486124" cy="5143500"/>
          </a:xfrm>
          <a:prstGeom prst="rect">
            <a:avLst/>
          </a:prstGeom>
          <a:noFill/>
          <a:ln>
            <a:noFill/>
          </a:ln>
        </p:spPr>
      </p:pic>
      <p:pic>
        <p:nvPicPr>
          <p:cNvPr id="138" name="Google Shape;138;p26"/>
          <p:cNvPicPr preferRelativeResize="0"/>
          <p:nvPr/>
        </p:nvPicPr>
        <p:blipFill rotWithShape="1">
          <a:blip r:embed="rId3">
            <a:alphaModFix/>
          </a:blip>
          <a:srcRect b="0" l="0" r="0" t="69347"/>
          <a:stretch/>
        </p:blipFill>
        <p:spPr>
          <a:xfrm rot="-5400000">
            <a:off x="5786562" y="1786063"/>
            <a:ext cx="5143500" cy="15713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7"/>
          <p:cNvPicPr preferRelativeResize="0"/>
          <p:nvPr/>
        </p:nvPicPr>
        <p:blipFill>
          <a:blip r:embed="rId3">
            <a:alphaModFix/>
          </a:blip>
          <a:stretch>
            <a:fillRect/>
          </a:stretch>
        </p:blipFill>
        <p:spPr>
          <a:xfrm>
            <a:off x="0" y="0"/>
            <a:ext cx="5878273" cy="5143500"/>
          </a:xfrm>
          <a:prstGeom prst="rect">
            <a:avLst/>
          </a:prstGeom>
          <a:noFill/>
          <a:ln>
            <a:noFill/>
          </a:ln>
        </p:spPr>
      </p:pic>
      <p:pic>
        <p:nvPicPr>
          <p:cNvPr id="144" name="Google Shape;144;p27"/>
          <p:cNvPicPr preferRelativeResize="0"/>
          <p:nvPr/>
        </p:nvPicPr>
        <p:blipFill>
          <a:blip r:embed="rId4">
            <a:alphaModFix/>
          </a:blip>
          <a:stretch>
            <a:fillRect/>
          </a:stretch>
        </p:blipFill>
        <p:spPr>
          <a:xfrm>
            <a:off x="5232450" y="0"/>
            <a:ext cx="3911550" cy="4035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48" name="Shape 148"/>
        <p:cNvGrpSpPr/>
        <p:nvPr/>
      </p:nvGrpSpPr>
      <p:grpSpPr>
        <a:xfrm>
          <a:off x="0" y="0"/>
          <a:ext cx="0" cy="0"/>
          <a:chOff x="0" y="0"/>
          <a:chExt cx="0" cy="0"/>
        </a:xfrm>
      </p:grpSpPr>
      <p:sp>
        <p:nvSpPr>
          <p:cNvPr id="149" name="Google Shape;149;p28"/>
          <p:cNvSpPr txBox="1"/>
          <p:nvPr>
            <p:ph type="title"/>
          </p:nvPr>
        </p:nvSpPr>
        <p:spPr>
          <a:xfrm>
            <a:off x="1097400" y="2122050"/>
            <a:ext cx="6949200" cy="8994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sz="4800" u="sng"/>
              <a:t>¡¡¡Aclaraciones generales!!!</a:t>
            </a:r>
            <a:endParaRPr b="1" sz="4800" u="sng"/>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pic>
        <p:nvPicPr>
          <p:cNvPr id="154" name="Google Shape;154;p29"/>
          <p:cNvPicPr preferRelativeResize="0"/>
          <p:nvPr/>
        </p:nvPicPr>
        <p:blipFill>
          <a:blip r:embed="rId3">
            <a:alphaModFix/>
          </a:blip>
          <a:stretch>
            <a:fillRect/>
          </a:stretch>
        </p:blipFill>
        <p:spPr>
          <a:xfrm>
            <a:off x="0" y="0"/>
            <a:ext cx="5194232" cy="5143500"/>
          </a:xfrm>
          <a:prstGeom prst="rect">
            <a:avLst/>
          </a:prstGeom>
          <a:noFill/>
          <a:ln>
            <a:noFill/>
          </a:ln>
        </p:spPr>
      </p:pic>
      <p:pic>
        <p:nvPicPr>
          <p:cNvPr id="155" name="Google Shape;155;p29"/>
          <p:cNvPicPr preferRelativeResize="0"/>
          <p:nvPr/>
        </p:nvPicPr>
        <p:blipFill>
          <a:blip r:embed="rId4">
            <a:alphaModFix/>
          </a:blip>
          <a:stretch>
            <a:fillRect/>
          </a:stretch>
        </p:blipFill>
        <p:spPr>
          <a:xfrm>
            <a:off x="4828869" y="941038"/>
            <a:ext cx="4315125" cy="3261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59" name="Shape 159"/>
        <p:cNvGrpSpPr/>
        <p:nvPr/>
      </p:nvGrpSpPr>
      <p:grpSpPr>
        <a:xfrm>
          <a:off x="0" y="0"/>
          <a:ext cx="0" cy="0"/>
          <a:chOff x="0" y="0"/>
          <a:chExt cx="0" cy="0"/>
        </a:xfrm>
      </p:grpSpPr>
      <p:sp>
        <p:nvSpPr>
          <p:cNvPr id="160" name="Google Shape;160;p30"/>
          <p:cNvSpPr txBox="1"/>
          <p:nvPr>
            <p:ph type="title"/>
          </p:nvPr>
        </p:nvSpPr>
        <p:spPr>
          <a:xfrm>
            <a:off x="1097400" y="2122050"/>
            <a:ext cx="6949200" cy="8994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sz="4800" u="sng"/>
              <a:t>¡¡¡Gracias por escuchar!!!</a:t>
            </a:r>
            <a:endParaRPr b="1" sz="4800" u="sng"/>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